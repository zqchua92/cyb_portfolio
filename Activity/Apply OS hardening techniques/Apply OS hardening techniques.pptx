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6" r:id="rId2"/>
    <p:sldMasterId id="2147483708" r:id="rId3"/>
  </p:sldMasterIdLst>
  <p:sldIdLst>
    <p:sldId id="256" r:id="rId4"/>
    <p:sldId id="261" r:id="rId5"/>
    <p:sldId id="258" r:id="rId6"/>
    <p:sldId id="259"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164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C81D1448-F56A-427E-B4D3-154671AD8545}" type="datetimeFigureOut">
              <a:rPr lang="en-SG" smtClean="0"/>
              <a:t>13/4/2026</a:t>
            </a:fld>
            <a:endParaRPr lang="en-SG"/>
          </a:p>
        </p:txBody>
      </p:sp>
      <p:sp>
        <p:nvSpPr>
          <p:cNvPr id="8" name="Slide Number Placeholder 7"/>
          <p:cNvSpPr>
            <a:spLocks noGrp="1"/>
          </p:cNvSpPr>
          <p:nvPr>
            <p:ph type="sldNum" sz="quarter" idx="11"/>
          </p:nvPr>
        </p:nvSpPr>
        <p:spPr/>
        <p:txBody>
          <a:bodyPr/>
          <a:lstStyle/>
          <a:p>
            <a:fld id="{C5804EC2-4BFC-4480-AE2A-23FA0465B8FA}" type="slidenum">
              <a:rPr lang="en-SG" smtClean="0"/>
              <a:t>‹#›</a:t>
            </a:fld>
            <a:endParaRPr lang="en-SG"/>
          </a:p>
        </p:txBody>
      </p:sp>
      <p:sp>
        <p:nvSpPr>
          <p:cNvPr id="9" name="Footer Placeholder 8"/>
          <p:cNvSpPr>
            <a:spLocks noGrp="1"/>
          </p:cNvSpPr>
          <p:nvPr>
            <p:ph type="ftr" sz="quarter" idx="12"/>
          </p:nvPr>
        </p:nvSpPr>
        <p:spPr/>
        <p:txBody>
          <a:bodyPr/>
          <a:lstStyle/>
          <a:p>
            <a:endParaRPr lang="en-S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C81D1448-F56A-427E-B4D3-154671AD8545}" type="datetimeFigureOut">
              <a:rPr lang="en-SG" smtClean="0"/>
              <a:t>13/4/2026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1D1448-F56A-427E-B4D3-154671AD8545}" type="datetimeFigureOut">
              <a:rPr lang="en-SG" smtClean="0"/>
              <a:t>13/4/2026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13/4/2026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C81D1448-F56A-427E-B4D3-154671AD8545}" type="datetimeFigureOut">
              <a:rPr lang="en-SG" smtClean="0"/>
              <a:t>13/4/2026</a:t>
            </a:fld>
            <a:endParaRPr lang="en-SG"/>
          </a:p>
        </p:txBody>
      </p:sp>
      <p:sp>
        <p:nvSpPr>
          <p:cNvPr id="17" name="Footer Placeholder 16"/>
          <p:cNvSpPr>
            <a:spLocks noGrp="1"/>
          </p:cNvSpPr>
          <p:nvPr>
            <p:ph type="ftr" sz="quarter" idx="11"/>
          </p:nvPr>
        </p:nvSpPr>
        <p:spPr/>
        <p:txBody>
          <a:bodyPr/>
          <a:lstStyle/>
          <a:p>
            <a:endParaRPr lang="en-SG"/>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C5804EC2-4BFC-4480-AE2A-23FA0465B8FA}" type="slidenum">
              <a:rPr lang="en-SG" smtClean="0"/>
              <a:t>‹#›</a:t>
            </a:fld>
            <a:endParaRPr lang="en-SG"/>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a:xfrm>
            <a:off x="800100" y="6172200"/>
            <a:ext cx="4000500" cy="457200"/>
          </a:xfrm>
        </p:spPr>
        <p:txBody>
          <a:bodyPr/>
          <a:lstStyle/>
          <a:p>
            <a:endParaRPr lang="en-SG"/>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C5804EC2-4BFC-4480-AE2A-23FA0465B8FA}" type="slidenum">
              <a:rPr lang="en-SG" smtClean="0"/>
              <a:t>‹#›</a:t>
            </a:fld>
            <a:endParaRPr lang="en-SG"/>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C81D1448-F56A-427E-B4D3-154671AD8545}" type="datetimeFigureOut">
              <a:rPr lang="en-SG" smtClean="0"/>
              <a:t>13/4/2026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81D1448-F56A-427E-B4D3-154671AD8545}" type="datetimeFigureOut">
              <a:rPr lang="en-SG" smtClean="0"/>
              <a:t>13/4/2026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13/4/2026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a:xfrm>
            <a:off x="914400" y="6172200"/>
            <a:ext cx="3886200" cy="457200"/>
          </a:xfrm>
        </p:spPr>
        <p:txBody>
          <a:bodyPr/>
          <a:lstStyle/>
          <a:p>
            <a:endParaRPr lang="en-SG"/>
          </a:p>
        </p:txBody>
      </p:sp>
      <p:sp>
        <p:nvSpPr>
          <p:cNvPr id="7" name="Slide Number Placeholder 6"/>
          <p:cNvSpPr>
            <a:spLocks noGrp="1"/>
          </p:cNvSpPr>
          <p:nvPr>
            <p:ph type="sldNum" sz="quarter" idx="12"/>
          </p:nvPr>
        </p:nvSpPr>
        <p:spPr>
          <a:xfrm>
            <a:off x="146304" y="6208776"/>
            <a:ext cx="457200" cy="457200"/>
          </a:xfrm>
        </p:spPr>
        <p:txBody>
          <a:bodyPr/>
          <a:lstStyle/>
          <a:p>
            <a:fld id="{C5804EC2-4BFC-4480-AE2A-23FA0465B8FA}" type="slidenum">
              <a:rPr lang="en-SG" smtClean="0"/>
              <a:t>‹#›</a:t>
            </a:fld>
            <a:endParaRPr lang="en-SG"/>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C81D1448-F56A-427E-B4D3-154671AD8545}" type="datetimeFigureOut">
              <a:rPr lang="en-SG" smtClean="0"/>
              <a:t>13/4/2026</a:t>
            </a:fld>
            <a:endParaRPr lang="en-SG"/>
          </a:p>
        </p:txBody>
      </p:sp>
      <p:sp>
        <p:nvSpPr>
          <p:cNvPr id="19" name="Footer Placeholder 18"/>
          <p:cNvSpPr>
            <a:spLocks noGrp="1"/>
          </p:cNvSpPr>
          <p:nvPr>
            <p:ph type="ftr" sz="quarter" idx="11"/>
          </p:nvPr>
        </p:nvSpPr>
        <p:spPr/>
        <p:txBody>
          <a:bodyPr/>
          <a:lstStyle/>
          <a:p>
            <a:endParaRPr lang="en-SG"/>
          </a:p>
        </p:txBody>
      </p:sp>
      <p:sp>
        <p:nvSpPr>
          <p:cNvPr id="27" name="Slide Number Placeholder 26"/>
          <p:cNvSpPr>
            <a:spLocks noGrp="1"/>
          </p:cNvSpPr>
          <p:nvPr>
            <p:ph type="sldNum" sz="quarter" idx="12"/>
          </p:nvPr>
        </p:nvSpPr>
        <p:spPr/>
        <p:txBody>
          <a:bodyPr/>
          <a:lstStyle/>
          <a:p>
            <a:fld id="{C5804EC2-4BFC-4480-AE2A-23FA0465B8FA}" type="slidenum">
              <a:rPr lang="en-SG" smtClean="0"/>
              <a:t>‹#›</a:t>
            </a:fld>
            <a:endParaRPr lang="en-SG"/>
          </a:p>
        </p:txBody>
      </p:sp>
    </p:spTree>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C81D1448-F56A-427E-B4D3-154671AD8545}" type="datetimeFigureOut">
              <a:rPr lang="en-SG" smtClean="0"/>
              <a:t>13/4/2026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81D1448-F56A-427E-B4D3-154671AD8545}" type="datetimeFigureOut">
              <a:rPr lang="en-SG" smtClean="0"/>
              <a:t>13/4/2026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13/4/2026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a:xfrm>
            <a:off x="8077200" y="6356350"/>
            <a:ext cx="609600" cy="365125"/>
          </a:xfrm>
        </p:spPr>
        <p:txBody>
          <a:bodyPr/>
          <a:lstStyle/>
          <a:p>
            <a:fld id="{C5804EC2-4BFC-4480-AE2A-23FA0465B8FA}" type="slidenum">
              <a:rPr lang="en-SG" smtClean="0"/>
              <a:t>‹#›</a:t>
            </a:fld>
            <a:endParaRPr lang="en-SG"/>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C81D1448-F56A-427E-B4D3-154671AD8545}" type="datetimeFigureOut">
              <a:rPr lang="en-SG" smtClean="0"/>
              <a:t>13/4/2026</a:t>
            </a:fld>
            <a:endParaRPr lang="en-SG"/>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SG"/>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C5804EC2-4BFC-4480-AE2A-23FA0465B8FA}" type="slidenum">
              <a:rPr lang="en-SG" smtClean="0"/>
              <a:t>‹#›</a:t>
            </a:fld>
            <a:endParaRPr lang="en-SG"/>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C81D1448-F56A-427E-B4D3-154671AD8545}" type="datetimeFigureOut">
              <a:rPr lang="en-SG" smtClean="0"/>
              <a:t>13/4/2026</a:t>
            </a:fld>
            <a:endParaRPr lang="en-SG"/>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SG"/>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C5804EC2-4BFC-4480-AE2A-23FA0465B8FA}" type="slidenum">
              <a:rPr lang="en-SG" smtClean="0"/>
              <a:t>‹#›</a:t>
            </a:fld>
            <a:endParaRPr lang="en-SG"/>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81D1448-F56A-427E-B4D3-154671AD8545}" type="datetimeFigureOut">
              <a:rPr lang="en-SG" smtClean="0"/>
              <a:t>13/4/2026</a:t>
            </a:fld>
            <a:endParaRPr lang="en-SG"/>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SG"/>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C5804EC2-4BFC-4480-AE2A-23FA0465B8FA}" type="slidenum">
              <a:rPr lang="en-SG" smtClean="0"/>
              <a:t>‹#›</a:t>
            </a:fld>
            <a:endParaRPr lang="en-SG"/>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29257"/>
            <a:ext cx="7772400" cy="1470025"/>
          </a:xfrm>
        </p:spPr>
        <p:txBody>
          <a:bodyPr/>
          <a:lstStyle/>
          <a:p>
            <a:r>
              <a:rPr lang="en-SG" dirty="0" smtClean="0"/>
              <a:t>Scenario</a:t>
            </a:r>
            <a:endParaRPr lang="en-SG" dirty="0"/>
          </a:p>
        </p:txBody>
      </p:sp>
      <p:sp>
        <p:nvSpPr>
          <p:cNvPr id="3" name="Subtitle 2"/>
          <p:cNvSpPr>
            <a:spLocks noGrp="1"/>
          </p:cNvSpPr>
          <p:nvPr>
            <p:ph type="subTitle" idx="1"/>
          </p:nvPr>
        </p:nvSpPr>
        <p:spPr>
          <a:xfrm>
            <a:off x="683568" y="1196752"/>
            <a:ext cx="7776864" cy="3865984"/>
          </a:xfrm>
        </p:spPr>
        <p:txBody>
          <a:bodyPr>
            <a:noAutofit/>
          </a:bodyPr>
          <a:lstStyle/>
          <a:p>
            <a:pPr algn="l"/>
            <a:r>
              <a:rPr lang="en-GB" sz="1200" dirty="0">
                <a:solidFill>
                  <a:schemeClr val="tx1"/>
                </a:solidFill>
              </a:rPr>
              <a:t>You are a cybersecurity analyst for yummyrecipesforme.com, a website that sells recipes and cookbooks. A former employee has decided to lure users to a fake website with malware. </a:t>
            </a:r>
            <a:endParaRPr lang="en-GB" sz="1200" dirty="0" smtClean="0">
              <a:solidFill>
                <a:schemeClr val="tx1"/>
              </a:solidFill>
            </a:endParaRPr>
          </a:p>
          <a:p>
            <a:pPr algn="l"/>
            <a:endParaRPr lang="en-GB" sz="1200" dirty="0">
              <a:solidFill>
                <a:schemeClr val="tx1"/>
              </a:solidFill>
            </a:endParaRPr>
          </a:p>
          <a:p>
            <a:pPr algn="l"/>
            <a:r>
              <a:rPr lang="en-GB" sz="1200" dirty="0">
                <a:solidFill>
                  <a:schemeClr val="tx1"/>
                </a:solidFill>
              </a:rPr>
              <a:t>The former employee/ hacker executed a brute force attack to gain access to the web host. They repeatedly entered several known default passwords for the administrative account until they correctly guessed the right one. After they obtained the login credentials, they were able to access the admin panel and change the website’s source code. They embedded a </a:t>
            </a:r>
            <a:r>
              <a:rPr lang="en-GB" sz="1200" dirty="0" err="1">
                <a:solidFill>
                  <a:schemeClr val="tx1"/>
                </a:solidFill>
              </a:rPr>
              <a:t>javascript</a:t>
            </a:r>
            <a:r>
              <a:rPr lang="en-GB" sz="1200" dirty="0">
                <a:solidFill>
                  <a:schemeClr val="tx1"/>
                </a:solidFill>
              </a:rPr>
              <a:t> function in the source code that prompted visitors to download and run a file upon visiting the website. After embedding the malware, the hacker changed the password to the administrative account. When customers download the file, they are redirected to a fake version of the website that contains the malware. </a:t>
            </a:r>
            <a:endParaRPr lang="en-GB" sz="1200" dirty="0" smtClean="0">
              <a:solidFill>
                <a:schemeClr val="tx1"/>
              </a:solidFill>
            </a:endParaRPr>
          </a:p>
          <a:p>
            <a:pPr algn="l"/>
            <a:endParaRPr lang="en-GB" sz="1200" dirty="0">
              <a:solidFill>
                <a:schemeClr val="tx1"/>
              </a:solidFill>
            </a:endParaRPr>
          </a:p>
          <a:p>
            <a:pPr algn="l"/>
            <a:r>
              <a:rPr lang="en-GB" sz="1200" dirty="0">
                <a:solidFill>
                  <a:schemeClr val="tx1"/>
                </a:solidFill>
              </a:rPr>
              <a:t>Several hours after the attack, multiple customers emailed </a:t>
            </a:r>
            <a:r>
              <a:rPr lang="en-GB" sz="1200" dirty="0" err="1">
                <a:solidFill>
                  <a:schemeClr val="tx1"/>
                </a:solidFill>
              </a:rPr>
              <a:t>yummyrecipesforme’s</a:t>
            </a:r>
            <a:r>
              <a:rPr lang="en-GB" sz="1200" dirty="0">
                <a:solidFill>
                  <a:schemeClr val="tx1"/>
                </a:solidFill>
              </a:rPr>
              <a:t> helpdesk. They complained that the company’s website had prompted them to download a file to access free recipes. The customers claimed that, after running the file, the address of the website changed and their personal computers began running more slowly. </a:t>
            </a:r>
            <a:endParaRPr lang="en-GB" sz="1200" dirty="0" smtClean="0">
              <a:solidFill>
                <a:schemeClr val="tx1"/>
              </a:solidFill>
            </a:endParaRPr>
          </a:p>
          <a:p>
            <a:pPr algn="l"/>
            <a:endParaRPr lang="en-GB" sz="1200" dirty="0">
              <a:solidFill>
                <a:schemeClr val="tx1"/>
              </a:solidFill>
            </a:endParaRPr>
          </a:p>
          <a:p>
            <a:pPr algn="l"/>
            <a:r>
              <a:rPr lang="en-GB" sz="1200" dirty="0">
                <a:solidFill>
                  <a:schemeClr val="tx1"/>
                </a:solidFill>
              </a:rPr>
              <a:t>In response to this incident, the website owner tries to log in to the admin panel but is unable to, so they reach out to the website hosting provider. You and other cybersecurity analysts are tasked with investigating this security event</a:t>
            </a:r>
            <a:r>
              <a:rPr lang="en-GB" sz="1200" dirty="0" smtClean="0">
                <a:solidFill>
                  <a:schemeClr val="tx1"/>
                </a:solidFill>
              </a:rPr>
              <a:t>.</a:t>
            </a:r>
          </a:p>
          <a:p>
            <a:pPr algn="l"/>
            <a:endParaRPr lang="en-GB" sz="1200" dirty="0">
              <a:solidFill>
                <a:schemeClr val="tx1"/>
              </a:solidFill>
            </a:endParaRPr>
          </a:p>
          <a:p>
            <a:pPr algn="l"/>
            <a:r>
              <a:rPr lang="en-GB" sz="1200" dirty="0">
                <a:solidFill>
                  <a:schemeClr val="tx1"/>
                </a:solidFill>
              </a:rPr>
              <a:t>To address the incident, you create a sandbox environment to observe the suspicious website </a:t>
            </a:r>
            <a:r>
              <a:rPr lang="en-GB" sz="1200" dirty="0" err="1">
                <a:solidFill>
                  <a:schemeClr val="tx1"/>
                </a:solidFill>
              </a:rPr>
              <a:t>behavior</a:t>
            </a:r>
            <a:r>
              <a:rPr lang="en-GB" sz="1200" dirty="0">
                <a:solidFill>
                  <a:schemeClr val="tx1"/>
                </a:solidFill>
              </a:rPr>
              <a:t>. You run the network protocol </a:t>
            </a:r>
            <a:r>
              <a:rPr lang="en-GB" sz="1200" dirty="0" err="1">
                <a:solidFill>
                  <a:schemeClr val="tx1"/>
                </a:solidFill>
              </a:rPr>
              <a:t>analyzer</a:t>
            </a:r>
            <a:r>
              <a:rPr lang="en-GB" sz="1200" dirty="0">
                <a:solidFill>
                  <a:schemeClr val="tx1"/>
                </a:solidFill>
              </a:rPr>
              <a:t> </a:t>
            </a:r>
            <a:r>
              <a:rPr lang="en-GB" sz="1200" dirty="0" err="1">
                <a:solidFill>
                  <a:schemeClr val="tx1"/>
                </a:solidFill>
              </a:rPr>
              <a:t>tcpdump</a:t>
            </a:r>
            <a:r>
              <a:rPr lang="en-GB" sz="1200" dirty="0">
                <a:solidFill>
                  <a:schemeClr val="tx1"/>
                </a:solidFill>
              </a:rPr>
              <a:t>, then type in the URL for the website, yummyrecipesforme.com. As soon as the website loads, you are prompted to download an executable file to update your browser. You accept the download and allow the file to run. You then observe that your browser redirects you to a different URL, greatrecipesforme.com, which contains the malware. </a:t>
            </a:r>
          </a:p>
        </p:txBody>
      </p:sp>
    </p:spTree>
    <p:extLst>
      <p:ext uri="{BB962C8B-B14F-4D97-AF65-F5344CB8AC3E}">
        <p14:creationId xmlns:p14="http://schemas.microsoft.com/office/powerpoint/2010/main" val="19191923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8340" y="188640"/>
            <a:ext cx="8784976" cy="6832640"/>
          </a:xfrm>
          <a:prstGeom prst="rect">
            <a:avLst/>
          </a:prstGeom>
          <a:noFill/>
        </p:spPr>
        <p:txBody>
          <a:bodyPr wrap="square" rtlCol="0">
            <a:spAutoFit/>
          </a:bodyPr>
          <a:lstStyle/>
          <a:p>
            <a:r>
              <a:rPr lang="en-GB" dirty="0"/>
              <a:t>The logs show the following process:</a:t>
            </a:r>
          </a:p>
          <a:p>
            <a:pPr marL="800100" lvl="1" indent="-342900">
              <a:buFont typeface="+mj-lt"/>
              <a:buAutoNum type="arabicPeriod"/>
            </a:pPr>
            <a:r>
              <a:rPr lang="en-GB" dirty="0"/>
              <a:t>The browser initiates a DNS request: It requests the IP address of the yummyrecipesforme.com URL from the DNS server.</a:t>
            </a:r>
          </a:p>
          <a:p>
            <a:pPr marL="800100" lvl="1" indent="-342900">
              <a:buFont typeface="+mj-lt"/>
              <a:buAutoNum type="arabicPeriod"/>
            </a:pPr>
            <a:r>
              <a:rPr lang="en-GB" dirty="0"/>
              <a:t>The DNS replies with the correct IP address. </a:t>
            </a:r>
          </a:p>
          <a:p>
            <a:pPr marL="800100" lvl="1" indent="-342900">
              <a:buFont typeface="+mj-lt"/>
              <a:buAutoNum type="arabicPeriod"/>
            </a:pPr>
            <a:r>
              <a:rPr lang="en-GB" dirty="0"/>
              <a:t>The browser initiates an HTTP request: It requests the yummyrecipesforme.com webpage using the IP address sent by the DNS server.</a:t>
            </a:r>
          </a:p>
          <a:p>
            <a:pPr marL="800100" lvl="1" indent="-342900">
              <a:buFont typeface="+mj-lt"/>
              <a:buAutoNum type="arabicPeriod"/>
            </a:pPr>
            <a:r>
              <a:rPr lang="en-GB" dirty="0"/>
              <a:t>The browser initiates the download of the malware.</a:t>
            </a:r>
          </a:p>
          <a:p>
            <a:pPr marL="800100" lvl="1" indent="-342900">
              <a:buFont typeface="+mj-lt"/>
              <a:buAutoNum type="arabicPeriod"/>
            </a:pPr>
            <a:r>
              <a:rPr lang="en-GB" dirty="0"/>
              <a:t>The browser initiates a DNS request for greatrecipesforme.com.</a:t>
            </a:r>
          </a:p>
          <a:p>
            <a:pPr marL="800100" lvl="1" indent="-342900">
              <a:buFont typeface="+mj-lt"/>
              <a:buAutoNum type="arabicPeriod"/>
            </a:pPr>
            <a:r>
              <a:rPr lang="en-GB" dirty="0"/>
              <a:t>The DNS server responds with the IP address for greatrecipesforme.com.</a:t>
            </a:r>
          </a:p>
          <a:p>
            <a:pPr marL="800100" lvl="1" indent="-342900">
              <a:buFont typeface="+mj-lt"/>
              <a:buAutoNum type="arabicPeriod"/>
            </a:pPr>
            <a:r>
              <a:rPr lang="en-GB" dirty="0"/>
              <a:t>The browser initiates an HTTP request to the IP address for greatrecipesforme.com</a:t>
            </a:r>
            <a:r>
              <a:rPr lang="en-GB" dirty="0" smtClean="0"/>
              <a:t>.</a:t>
            </a:r>
          </a:p>
          <a:p>
            <a:pPr marL="800100" lvl="1" indent="-342900">
              <a:buFont typeface="+mj-lt"/>
              <a:buAutoNum type="arabicPeriod"/>
            </a:pPr>
            <a:endParaRPr lang="en-GB" sz="1400" dirty="0"/>
          </a:p>
          <a:p>
            <a:pPr marL="800100" lvl="1" indent="-342900">
              <a:buFont typeface="+mj-lt"/>
              <a:buAutoNum type="arabicPeriod"/>
            </a:pPr>
            <a:endParaRPr lang="en-GB" sz="1400" dirty="0" smtClean="0"/>
          </a:p>
          <a:p>
            <a:r>
              <a:rPr lang="en-GB" dirty="0"/>
              <a:t>A senior analyst confirms that the website was compromised. The analyst checks the source code for the website. They notice that </a:t>
            </a:r>
            <a:r>
              <a:rPr lang="en-GB" dirty="0" err="1"/>
              <a:t>javascript</a:t>
            </a:r>
            <a:r>
              <a:rPr lang="en-GB" dirty="0"/>
              <a:t> code had been added to prompt website visitors to download an executable file. Analysis of the downloaded file found a script that redirects the visitors’ browsers from yummyrecipesforme.com to greatrecipesforme.com. </a:t>
            </a:r>
            <a:endParaRPr lang="en-GB" dirty="0" smtClean="0"/>
          </a:p>
          <a:p>
            <a:endParaRPr lang="en-GB" dirty="0"/>
          </a:p>
          <a:p>
            <a:r>
              <a:rPr lang="en-GB" dirty="0"/>
              <a:t>The cybersecurity team reports that the web server was impacted by a brute force attack. The disgruntled hacker was able to guess the password easily because the admin password was still set to the default password. Additionally, there were no controls in place to prevent a brute force attack. </a:t>
            </a:r>
            <a:endParaRPr lang="en-GB" dirty="0" smtClean="0"/>
          </a:p>
          <a:p>
            <a:endParaRPr lang="en-GB" dirty="0"/>
          </a:p>
          <a:p>
            <a:r>
              <a:rPr lang="en-GB" dirty="0"/>
              <a:t>Your job is to document the incident in detail, including identifying the network protocols used to establish the connection between the user and the website.  You should also recommend a security action to take to prevent brute force attacks in the future.</a:t>
            </a:r>
          </a:p>
          <a:p>
            <a:pPr marL="800100" lvl="1" indent="-342900">
              <a:buFont typeface="+mj-lt"/>
              <a:buAutoNum type="arabicPeriod"/>
            </a:pPr>
            <a:endParaRPr lang="en-GB" sz="1400" dirty="0"/>
          </a:p>
        </p:txBody>
      </p:sp>
    </p:spTree>
    <p:extLst>
      <p:ext uri="{BB962C8B-B14F-4D97-AF65-F5344CB8AC3E}">
        <p14:creationId xmlns:p14="http://schemas.microsoft.com/office/powerpoint/2010/main" val="2748604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3528" y="265286"/>
            <a:ext cx="8568952" cy="5970865"/>
          </a:xfrm>
          <a:prstGeom prst="rect">
            <a:avLst/>
          </a:prstGeom>
          <a:noFill/>
        </p:spPr>
        <p:txBody>
          <a:bodyPr wrap="square" rtlCol="0">
            <a:spAutoFit/>
          </a:bodyPr>
          <a:lstStyle/>
          <a:p>
            <a:r>
              <a:rPr lang="en-GB" sz="1400" b="1" dirty="0"/>
              <a:t>Identify the network protocol involved in the incident</a:t>
            </a:r>
          </a:p>
          <a:p>
            <a:r>
              <a:rPr lang="en-GB" sz="1400" dirty="0"/>
              <a:t>As one of the cybersecurity analysts in this scenario, you are tasked with writing an incident report for this security event. Using the </a:t>
            </a:r>
            <a:r>
              <a:rPr lang="en-GB" sz="1400" dirty="0" err="1"/>
              <a:t>tcpdump</a:t>
            </a:r>
            <a:r>
              <a:rPr lang="en-GB" sz="1400" dirty="0"/>
              <a:t> log file, determine which network protocol is identified in the packet </a:t>
            </a:r>
            <a:r>
              <a:rPr lang="en-GB" sz="1400" dirty="0" smtClean="0"/>
              <a:t>captured </a:t>
            </a:r>
            <a:r>
              <a:rPr lang="en-GB" sz="1400" dirty="0"/>
              <a:t>during the investigation. </a:t>
            </a:r>
            <a:r>
              <a:rPr lang="en-GB" sz="1400" dirty="0" smtClean="0"/>
              <a:t>Then </a:t>
            </a:r>
            <a:r>
              <a:rPr lang="en-GB" sz="1400" dirty="0"/>
              <a:t>review the </a:t>
            </a:r>
            <a:r>
              <a:rPr lang="en-GB" sz="1400" dirty="0" err="1"/>
              <a:t>tcpdump</a:t>
            </a:r>
            <a:r>
              <a:rPr lang="en-GB" sz="1400" dirty="0"/>
              <a:t> traffic log and record which protocol you identified in the first section of the security incident report template. </a:t>
            </a:r>
            <a:endParaRPr lang="en-GB" sz="900" dirty="0" smtClean="0"/>
          </a:p>
          <a:p>
            <a:endParaRPr lang="en-GB" sz="1200" dirty="0"/>
          </a:p>
          <a:p>
            <a:r>
              <a:rPr lang="en-SG" sz="1400" b="1" dirty="0"/>
              <a:t>Document the incident</a:t>
            </a:r>
          </a:p>
          <a:p>
            <a:r>
              <a:rPr lang="en-GB" sz="1400" dirty="0"/>
              <a:t>Summarize the incident in the second section of the report. Provide as many details and facts as possible in your documentation. When writing the documentation, be sure to:</a:t>
            </a:r>
          </a:p>
          <a:p>
            <a:pPr marL="285750" indent="-285750">
              <a:buFont typeface="Arial" panose="020B0604020202020204" pitchFamily="34" charset="0"/>
              <a:buChar char="•"/>
            </a:pPr>
            <a:r>
              <a:rPr lang="en-GB" sz="1400" dirty="0"/>
              <a:t>Avoid using strong emotional language (good, terrible, awful, etc.).</a:t>
            </a:r>
          </a:p>
          <a:p>
            <a:pPr marL="285750" indent="-285750">
              <a:buFont typeface="Arial" panose="020B0604020202020204" pitchFamily="34" charset="0"/>
              <a:buChar char="•"/>
            </a:pPr>
            <a:r>
              <a:rPr lang="en-GB" sz="1400" dirty="0"/>
              <a:t>Include as many facts about the issue as you can, including where the incident occurred, how it happened, whether anyone witnessed it, how it was discovered, etc.</a:t>
            </a:r>
          </a:p>
          <a:p>
            <a:pPr marL="285750" indent="-285750">
              <a:buFont typeface="Arial" panose="020B0604020202020204" pitchFamily="34" charset="0"/>
              <a:buChar char="•"/>
            </a:pPr>
            <a:r>
              <a:rPr lang="en-GB" sz="1400" dirty="0"/>
              <a:t>Indicate your sources for information and evidence.</a:t>
            </a:r>
          </a:p>
          <a:p>
            <a:r>
              <a:rPr lang="en-GB" sz="1400" dirty="0"/>
              <a:t>Writing accurate and detailed documentation for cybersecurity incidents can serve as a reference point for other cybersecurity analysts. Additionally, quality documentation can be used to educate other employees about cybersecurity measures taken within the company when incidents occur and can help businesses comply with various security audits</a:t>
            </a:r>
            <a:r>
              <a:rPr lang="en-GB" sz="1400" dirty="0" smtClean="0"/>
              <a:t>.</a:t>
            </a:r>
          </a:p>
          <a:p>
            <a:endParaRPr lang="en-GB" sz="1400" dirty="0"/>
          </a:p>
          <a:p>
            <a:r>
              <a:rPr lang="en-GB" sz="1400" b="1" dirty="0"/>
              <a:t>Recommend one remediation for brute force attacks</a:t>
            </a:r>
          </a:p>
          <a:p>
            <a:r>
              <a:rPr lang="en-GB" sz="1400" dirty="0"/>
              <a:t>Some of the common security methods used to prevent brute force attacks include:</a:t>
            </a:r>
          </a:p>
          <a:p>
            <a:pPr marL="285750" indent="-285750">
              <a:buFont typeface="Arial" panose="020B0604020202020204" pitchFamily="34" charset="0"/>
              <a:buChar char="•"/>
            </a:pPr>
            <a:r>
              <a:rPr lang="en-GB" sz="1400" dirty="0"/>
              <a:t>Requiring strong passwords</a:t>
            </a:r>
          </a:p>
          <a:p>
            <a:pPr marL="285750" indent="-285750">
              <a:buFont typeface="Arial" panose="020B0604020202020204" pitchFamily="34" charset="0"/>
              <a:buChar char="•"/>
            </a:pPr>
            <a:r>
              <a:rPr lang="en-GB" sz="1400" dirty="0"/>
              <a:t>Enforcing two-factor authentication (2FA)</a:t>
            </a:r>
          </a:p>
          <a:p>
            <a:pPr marL="285750" indent="-285750">
              <a:buFont typeface="Arial" panose="020B0604020202020204" pitchFamily="34" charset="0"/>
              <a:buChar char="•"/>
            </a:pPr>
            <a:r>
              <a:rPr lang="en-GB" sz="1400" dirty="0"/>
              <a:t>Monitoring login attempts</a:t>
            </a:r>
          </a:p>
          <a:p>
            <a:pPr marL="285750" indent="-285750">
              <a:buFont typeface="Arial" panose="020B0604020202020204" pitchFamily="34" charset="0"/>
              <a:buChar char="•"/>
            </a:pPr>
            <a:r>
              <a:rPr lang="en-GB" sz="1400" dirty="0"/>
              <a:t>Requiring more frequent password changes</a:t>
            </a:r>
          </a:p>
          <a:p>
            <a:pPr marL="285750" indent="-285750">
              <a:buFont typeface="Arial" panose="020B0604020202020204" pitchFamily="34" charset="0"/>
              <a:buChar char="•"/>
            </a:pPr>
            <a:r>
              <a:rPr lang="en-GB" sz="1400" dirty="0"/>
              <a:t>Disallowing previous passwords from being used</a:t>
            </a:r>
          </a:p>
          <a:p>
            <a:pPr marL="285750" indent="-285750">
              <a:buFont typeface="Arial" panose="020B0604020202020204" pitchFamily="34" charset="0"/>
              <a:buChar char="•"/>
            </a:pPr>
            <a:r>
              <a:rPr lang="en-GB" sz="1400" dirty="0"/>
              <a:t>Limiting the number of login attempts</a:t>
            </a:r>
          </a:p>
          <a:p>
            <a:r>
              <a:rPr lang="en-GB" sz="1400" dirty="0"/>
              <a:t>Select one security measure, and explain why it is effective in section three of the security incident report template.</a:t>
            </a:r>
          </a:p>
          <a:p>
            <a:endParaRPr lang="en-GB" sz="1600" dirty="0"/>
          </a:p>
          <a:p>
            <a:endParaRPr lang="en-GB" dirty="0"/>
          </a:p>
        </p:txBody>
      </p:sp>
    </p:spTree>
    <p:extLst>
      <p:ext uri="{BB962C8B-B14F-4D97-AF65-F5344CB8AC3E}">
        <p14:creationId xmlns:p14="http://schemas.microsoft.com/office/powerpoint/2010/main" val="39314002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722344"/>
          </a:xfrm>
        </p:spPr>
        <p:txBody>
          <a:bodyPr>
            <a:noAutofit/>
          </a:bodyPr>
          <a:lstStyle/>
          <a:p>
            <a:r>
              <a:rPr lang="en-SG" sz="2800" b="1" dirty="0"/>
              <a:t>Security incident report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53254849"/>
              </p:ext>
            </p:extLst>
          </p:nvPr>
        </p:nvGraphicFramePr>
        <p:xfrm>
          <a:off x="323528" y="1401768"/>
          <a:ext cx="8568952" cy="1399350"/>
        </p:xfrm>
        <a:graphic>
          <a:graphicData uri="http://schemas.openxmlformats.org/drawingml/2006/table">
            <a:tbl>
              <a:tblPr>
                <a:tableStyleId>{5C22544A-7EE6-4342-B048-85BDC9FD1C3A}</a:tableStyleId>
              </a:tblPr>
              <a:tblGrid>
                <a:gridCol w="8568952"/>
              </a:tblGrid>
              <a:tr h="279400">
                <a:tc>
                  <a:txBody>
                    <a:bodyPr/>
                    <a:lstStyle/>
                    <a:p>
                      <a:pPr>
                        <a:lnSpc>
                          <a:spcPct val="115000"/>
                        </a:lnSpc>
                        <a:spcAft>
                          <a:spcPts val="0"/>
                        </a:spcAft>
                      </a:pPr>
                      <a:r>
                        <a:rPr lang="en-GB" sz="1400" b="1" dirty="0" smtClean="0">
                          <a:effectLst/>
                        </a:rPr>
                        <a:t>Section 1: Identify the network protocol involved in the incident</a:t>
                      </a:r>
                      <a:endParaRPr lang="en-GB" sz="1400" b="1" dirty="0" smtClean="0">
                        <a:effectLst/>
                      </a:endParaRPr>
                    </a:p>
                  </a:txBody>
                  <a:tcPr marL="63500" marR="63500" marT="63500" marB="63500"/>
                </a:tc>
              </a:tr>
              <a:tr h="0">
                <a:tc>
                  <a:txBody>
                    <a:bodyPr/>
                    <a:lstStyle/>
                    <a:p>
                      <a:r>
                        <a:rPr lang="en-GB" sz="1200" dirty="0" smtClean="0">
                          <a:solidFill>
                            <a:schemeClr val="accent1"/>
                          </a:solidFill>
                          <a:effectLst/>
                        </a:rPr>
                        <a:t>The protocol involved in the incident is the Hypertext transfer protocol (HTTP). Since the issue was with accessing the web server for yummyrecipesforme.com, we know that requests to web servers for web pages involve http traffic. Also, when we ran</a:t>
                      </a:r>
                      <a:r>
                        <a:rPr lang="en-GB" sz="1200" baseline="0" dirty="0" smtClean="0">
                          <a:solidFill>
                            <a:schemeClr val="accent1"/>
                          </a:solidFill>
                          <a:effectLst/>
                        </a:rPr>
                        <a:t> </a:t>
                      </a:r>
                      <a:r>
                        <a:rPr lang="en-GB" sz="1200" dirty="0" err="1" smtClean="0">
                          <a:solidFill>
                            <a:schemeClr val="accent1"/>
                          </a:solidFill>
                          <a:effectLst/>
                        </a:rPr>
                        <a:t>tcpdump</a:t>
                      </a:r>
                      <a:r>
                        <a:rPr lang="en-GB" sz="1200" dirty="0" smtClean="0">
                          <a:solidFill>
                            <a:schemeClr val="accent1"/>
                          </a:solidFill>
                          <a:effectLst/>
                        </a:rPr>
                        <a:t> and accessed the yummyrecipesforme.com website the corresponding </a:t>
                      </a:r>
                      <a:r>
                        <a:rPr lang="en-GB" sz="1200" dirty="0" err="1" smtClean="0">
                          <a:solidFill>
                            <a:schemeClr val="accent1"/>
                          </a:solidFill>
                          <a:effectLst/>
                        </a:rPr>
                        <a:t>tcpdump</a:t>
                      </a:r>
                      <a:r>
                        <a:rPr lang="en-GB" sz="1200" dirty="0" smtClean="0">
                          <a:solidFill>
                            <a:schemeClr val="accent1"/>
                          </a:solidFill>
                          <a:effectLst/>
                        </a:rPr>
                        <a:t> log file showed the usage of the http</a:t>
                      </a:r>
                      <a:r>
                        <a:rPr lang="en-GB" sz="1200" baseline="0" dirty="0" smtClean="0">
                          <a:solidFill>
                            <a:schemeClr val="accent1"/>
                          </a:solidFill>
                          <a:effectLst/>
                        </a:rPr>
                        <a:t> </a:t>
                      </a:r>
                      <a:r>
                        <a:rPr lang="en-GB" sz="1200" dirty="0" smtClean="0">
                          <a:solidFill>
                            <a:schemeClr val="accent1"/>
                          </a:solidFill>
                          <a:effectLst/>
                        </a:rPr>
                        <a:t>protocol when contacting the web server. The malicious file is observed being transported to the users’ computers using the HTTP protocol at the application layer.</a:t>
                      </a:r>
                      <a:r>
                        <a:rPr lang="en-SG" sz="1200" dirty="0">
                          <a:solidFill>
                            <a:schemeClr val="accent1"/>
                          </a:solidFill>
                          <a:effectLst/>
                        </a:rPr>
                        <a:t> </a:t>
                      </a:r>
                      <a:endParaRPr lang="en-SG" sz="1200" dirty="0">
                        <a:solidFill>
                          <a:schemeClr val="accent1"/>
                        </a:solidFill>
                        <a:effectLst/>
                        <a:latin typeface="Arial"/>
                        <a:ea typeface="Arial"/>
                      </a:endParaRPr>
                    </a:p>
                  </a:txBody>
                  <a:tcPr marL="63500" marR="63500" marT="63500" marB="63500"/>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499455836"/>
              </p:ext>
            </p:extLst>
          </p:nvPr>
        </p:nvGraphicFramePr>
        <p:xfrm>
          <a:off x="323528" y="2999998"/>
          <a:ext cx="8568952" cy="3467437"/>
        </p:xfrm>
        <a:graphic>
          <a:graphicData uri="http://schemas.openxmlformats.org/drawingml/2006/table">
            <a:tbl>
              <a:tblPr>
                <a:tableStyleId>{5C22544A-7EE6-4342-B048-85BDC9FD1C3A}</a:tableStyleId>
              </a:tblPr>
              <a:tblGrid>
                <a:gridCol w="8568952"/>
              </a:tblGrid>
              <a:tr h="345499">
                <a:tc>
                  <a:txBody>
                    <a:bodyPr/>
                    <a:lstStyle/>
                    <a:p>
                      <a:pPr>
                        <a:lnSpc>
                          <a:spcPct val="115000"/>
                        </a:lnSpc>
                        <a:spcAft>
                          <a:spcPts val="0"/>
                        </a:spcAft>
                      </a:pPr>
                      <a:r>
                        <a:rPr lang="en-SG" sz="1400" b="1" dirty="0" smtClean="0">
                          <a:effectLst/>
                        </a:rPr>
                        <a:t>Section 2: Document the incident</a:t>
                      </a:r>
                      <a:endParaRPr lang="en-SG" sz="1200" b="1" dirty="0">
                        <a:effectLst/>
                        <a:latin typeface="Arial"/>
                        <a:ea typeface="Arial"/>
                      </a:endParaRPr>
                    </a:p>
                  </a:txBody>
                  <a:tcPr marL="63500" marR="63500" marT="63500" marB="63500"/>
                </a:tc>
              </a:tr>
              <a:tr h="3110884">
                <a:tc>
                  <a:txBody>
                    <a:bodyPr/>
                    <a:lstStyle/>
                    <a:p>
                      <a:pPr>
                        <a:lnSpc>
                          <a:spcPct val="115000"/>
                        </a:lnSpc>
                        <a:spcAft>
                          <a:spcPts val="0"/>
                        </a:spcAft>
                      </a:pPr>
                      <a:r>
                        <a:rPr lang="en-GB" sz="1200" dirty="0" smtClean="0">
                          <a:solidFill>
                            <a:schemeClr val="accent1"/>
                          </a:solidFill>
                          <a:effectLst/>
                          <a:latin typeface="+mn-lt"/>
                          <a:ea typeface="Arial"/>
                        </a:rPr>
                        <a:t>Several customers contacted the website’s helpdesk stating that when they visited the website, they were prompted to download and run a file that contained access to new recipes. Their personal computers have been operating slowly ever since. The website owner tried logging into the web server but noticed they were locked out of their account.</a:t>
                      </a:r>
                    </a:p>
                    <a:p>
                      <a:pPr>
                        <a:lnSpc>
                          <a:spcPct val="115000"/>
                        </a:lnSpc>
                        <a:spcAft>
                          <a:spcPts val="0"/>
                        </a:spcAft>
                      </a:pPr>
                      <a:endParaRPr lang="en-GB" sz="1200" dirty="0" smtClean="0">
                        <a:solidFill>
                          <a:schemeClr val="accent1"/>
                        </a:solidFill>
                        <a:effectLst/>
                        <a:latin typeface="+mn-lt"/>
                        <a:ea typeface="Arial"/>
                      </a:endParaRPr>
                    </a:p>
                    <a:p>
                      <a:pPr>
                        <a:lnSpc>
                          <a:spcPct val="115000"/>
                        </a:lnSpc>
                        <a:spcAft>
                          <a:spcPts val="0"/>
                        </a:spcAft>
                      </a:pPr>
                      <a:r>
                        <a:rPr lang="en-GB" sz="1200" dirty="0" smtClean="0">
                          <a:solidFill>
                            <a:schemeClr val="accent1"/>
                          </a:solidFill>
                          <a:effectLst/>
                          <a:latin typeface="+mn-lt"/>
                          <a:ea typeface="Arial"/>
                        </a:rPr>
                        <a:t>The cybersecurity analyst used a sandbox environment to open the website without impacting the company network. Then, the analyst ran </a:t>
                      </a:r>
                      <a:r>
                        <a:rPr lang="en-GB" sz="1200" dirty="0" err="1" smtClean="0">
                          <a:solidFill>
                            <a:schemeClr val="accent1"/>
                          </a:solidFill>
                          <a:effectLst/>
                          <a:latin typeface="+mn-lt"/>
                          <a:ea typeface="Arial"/>
                        </a:rPr>
                        <a:t>tcpdump</a:t>
                      </a:r>
                      <a:r>
                        <a:rPr lang="en-GB" sz="1200" dirty="0" smtClean="0">
                          <a:solidFill>
                            <a:schemeClr val="accent1"/>
                          </a:solidFill>
                          <a:effectLst/>
                          <a:latin typeface="+mn-lt"/>
                          <a:ea typeface="Arial"/>
                        </a:rPr>
                        <a:t> to capture the network traffic packets produced by interacting with the website. The analyst was prompted to download a file claiming it would provide access to free recipes, accepted the download and ran it. The browser then redirected the analyst to a fake website (greatrecipesforme.com).</a:t>
                      </a:r>
                    </a:p>
                    <a:p>
                      <a:pPr>
                        <a:lnSpc>
                          <a:spcPct val="115000"/>
                        </a:lnSpc>
                        <a:spcAft>
                          <a:spcPts val="0"/>
                        </a:spcAft>
                      </a:pPr>
                      <a:endParaRPr lang="en-GB" sz="1200" dirty="0" smtClean="0">
                        <a:solidFill>
                          <a:schemeClr val="accent1"/>
                        </a:solidFill>
                        <a:effectLst/>
                        <a:latin typeface="+mn-lt"/>
                        <a:ea typeface="Arial"/>
                      </a:endParaRPr>
                    </a:p>
                    <a:p>
                      <a:pPr>
                        <a:lnSpc>
                          <a:spcPct val="115000"/>
                        </a:lnSpc>
                        <a:spcAft>
                          <a:spcPts val="0"/>
                        </a:spcAft>
                      </a:pPr>
                      <a:r>
                        <a:rPr lang="en-GB" sz="1200" dirty="0" smtClean="0">
                          <a:solidFill>
                            <a:schemeClr val="accent1"/>
                          </a:solidFill>
                          <a:effectLst/>
                          <a:latin typeface="+mn-lt"/>
                          <a:ea typeface="Arial"/>
                        </a:rPr>
                        <a:t>The cybersecurity analyst inspected the </a:t>
                      </a:r>
                      <a:r>
                        <a:rPr lang="en-GB" sz="1200" dirty="0" err="1" smtClean="0">
                          <a:solidFill>
                            <a:schemeClr val="accent1"/>
                          </a:solidFill>
                          <a:effectLst/>
                          <a:latin typeface="+mn-lt"/>
                          <a:ea typeface="Arial"/>
                        </a:rPr>
                        <a:t>tcpdump</a:t>
                      </a:r>
                      <a:r>
                        <a:rPr lang="en-GB" sz="1200" dirty="0" smtClean="0">
                          <a:solidFill>
                            <a:schemeClr val="accent1"/>
                          </a:solidFill>
                          <a:effectLst/>
                          <a:latin typeface="+mn-lt"/>
                          <a:ea typeface="Arial"/>
                        </a:rPr>
                        <a:t> log and observed that the browser initially requested the IP address for the yummyrecipesforme.com website. Once the connection with the website was established over the HTTP protocol, the analyst recalled downloading and executing the file. The logs showed a sudden change in network traffic as the browser requested a new IP address for the greatrecipesforme.com URL. The network traffic was then rerouted to the new IP address for the greatrecipesforme.com website.</a:t>
                      </a:r>
                    </a:p>
                  </a:txBody>
                  <a:tcPr marL="63500" marR="63500" marT="63500" marB="63500"/>
                </a:tc>
              </a:tr>
            </a:tbl>
          </a:graphicData>
        </a:graphic>
      </p:graphicFrame>
    </p:spTree>
    <p:extLst>
      <p:ext uri="{BB962C8B-B14F-4D97-AF65-F5344CB8AC3E}">
        <p14:creationId xmlns:p14="http://schemas.microsoft.com/office/powerpoint/2010/main" val="42172148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722344"/>
          </a:xfrm>
        </p:spPr>
        <p:txBody>
          <a:bodyPr>
            <a:noAutofit/>
          </a:bodyPr>
          <a:lstStyle/>
          <a:p>
            <a:r>
              <a:rPr lang="en-SG" sz="2800" b="1" dirty="0"/>
              <a:t>Security incident report</a:t>
            </a:r>
          </a:p>
        </p:txBody>
      </p:sp>
      <p:graphicFrame>
        <p:nvGraphicFramePr>
          <p:cNvPr id="6" name="Table 5"/>
          <p:cNvGraphicFramePr>
            <a:graphicFrameLocks noGrp="1"/>
          </p:cNvGraphicFramePr>
          <p:nvPr>
            <p:extLst>
              <p:ext uri="{D42A27DB-BD31-4B8C-83A1-F6EECF244321}">
                <p14:modId xmlns:p14="http://schemas.microsoft.com/office/powerpoint/2010/main" val="937633842"/>
              </p:ext>
            </p:extLst>
          </p:nvPr>
        </p:nvGraphicFramePr>
        <p:xfrm>
          <a:off x="323528" y="1412777"/>
          <a:ext cx="8568952" cy="1623014"/>
        </p:xfrm>
        <a:graphic>
          <a:graphicData uri="http://schemas.openxmlformats.org/drawingml/2006/table">
            <a:tbl>
              <a:tblPr>
                <a:tableStyleId>{5C22544A-7EE6-4342-B048-85BDC9FD1C3A}</a:tableStyleId>
              </a:tblPr>
              <a:tblGrid>
                <a:gridCol w="8568952"/>
              </a:tblGrid>
              <a:tr h="317714">
                <a:tc>
                  <a:txBody>
                    <a:bodyPr/>
                    <a:lstStyle/>
                    <a:p>
                      <a:pPr>
                        <a:lnSpc>
                          <a:spcPct val="115000"/>
                        </a:lnSpc>
                        <a:spcAft>
                          <a:spcPts val="0"/>
                        </a:spcAft>
                      </a:pPr>
                      <a:r>
                        <a:rPr lang="en-SG" sz="1400" b="1" dirty="0" smtClean="0">
                          <a:effectLst/>
                        </a:rPr>
                        <a:t>Section 2: Document the incident (cont’d)</a:t>
                      </a:r>
                      <a:endParaRPr lang="en-SG" sz="1200" b="1" dirty="0">
                        <a:effectLst/>
                        <a:latin typeface="Arial"/>
                        <a:ea typeface="Arial"/>
                      </a:endParaRPr>
                    </a:p>
                  </a:txBody>
                  <a:tcPr marL="63500" marR="63500" marT="63500" marB="63500"/>
                </a:tc>
              </a:tr>
              <a:tr h="1266461">
                <a:tc>
                  <a:txBody>
                    <a:bodyPr/>
                    <a:lstStyle/>
                    <a:p>
                      <a:pPr>
                        <a:lnSpc>
                          <a:spcPct val="115000"/>
                        </a:lnSpc>
                        <a:spcAft>
                          <a:spcPts val="0"/>
                        </a:spcAft>
                      </a:pPr>
                      <a:r>
                        <a:rPr lang="en-GB" sz="1200" dirty="0" smtClean="0">
                          <a:solidFill>
                            <a:srgbClr val="0070C0"/>
                          </a:solidFill>
                          <a:effectLst/>
                          <a:latin typeface="+mn-lt"/>
                          <a:ea typeface="Arial"/>
                        </a:rPr>
                        <a:t>The senior cybersecurity professional </a:t>
                      </a:r>
                      <a:r>
                        <a:rPr lang="en-GB" sz="1200" dirty="0" err="1" smtClean="0">
                          <a:solidFill>
                            <a:srgbClr val="0070C0"/>
                          </a:solidFill>
                          <a:effectLst/>
                          <a:latin typeface="+mn-lt"/>
                          <a:ea typeface="Arial"/>
                        </a:rPr>
                        <a:t>analyzed</a:t>
                      </a:r>
                      <a:r>
                        <a:rPr lang="en-GB" sz="1200" dirty="0" smtClean="0">
                          <a:solidFill>
                            <a:srgbClr val="0070C0"/>
                          </a:solidFill>
                          <a:effectLst/>
                          <a:latin typeface="+mn-lt"/>
                          <a:ea typeface="Arial"/>
                        </a:rPr>
                        <a:t> the source code for the websites and the downloaded file. The analyst discovered that an attacker had manipulated the website to add code that prompted the users to download a malicious file disguised as a browser update. Since the website owner stated that they had been locked out of their administrator account, the team believes the attacker used a brute force attack to access the account and change the admin password. The execution of the malicious file compromised the end users’ computers.</a:t>
                      </a:r>
                      <a:endParaRPr lang="en-SG" sz="1200" dirty="0">
                        <a:solidFill>
                          <a:srgbClr val="0070C0"/>
                        </a:solidFill>
                        <a:effectLst/>
                        <a:latin typeface="+mn-lt"/>
                        <a:ea typeface="Arial"/>
                      </a:endParaRPr>
                    </a:p>
                  </a:txBody>
                  <a:tcPr marL="63500" marR="63500" marT="63500" marB="63500"/>
                </a:tc>
              </a:tr>
            </a:tbl>
          </a:graphicData>
        </a:graphic>
      </p:graphicFrame>
      <p:sp>
        <p:nvSpPr>
          <p:cNvPr id="7" name="TextBox 6"/>
          <p:cNvSpPr txBox="1"/>
          <p:nvPr/>
        </p:nvSpPr>
        <p:spPr>
          <a:xfrm>
            <a:off x="315528" y="3068960"/>
            <a:ext cx="8568952" cy="2123658"/>
          </a:xfrm>
          <a:prstGeom prst="rect">
            <a:avLst/>
          </a:prstGeom>
          <a:noFill/>
        </p:spPr>
        <p:txBody>
          <a:bodyPr wrap="square" rtlCol="0">
            <a:spAutoFit/>
          </a:bodyPr>
          <a:lstStyle/>
          <a:p>
            <a:r>
              <a:rPr lang="en-GB" sz="1100" i="1" dirty="0"/>
              <a:t>Note that it is a common practice for report writing to refer to all people involved in the third person (e.g., “the cybersecurity analyst” or “they”), even when you are the cybersecurity analyst describing actions you performed</a:t>
            </a:r>
            <a:r>
              <a:rPr lang="en-GB" sz="1100" i="1" dirty="0" smtClean="0"/>
              <a:t>.</a:t>
            </a:r>
          </a:p>
          <a:p>
            <a:endParaRPr lang="en-GB" sz="1100" i="1" dirty="0"/>
          </a:p>
          <a:p>
            <a:r>
              <a:rPr lang="en-GB" sz="1100" dirty="0"/>
              <a:t>1. The first paragraph summarizes the events and problems identified when the incident was first reported. This information can be found at the beginning of the scenario.</a:t>
            </a:r>
          </a:p>
          <a:p>
            <a:r>
              <a:rPr lang="en-GB" sz="1100" dirty="0"/>
              <a:t>2. The second paragraph describes the testing activities involved in investigating this event. This information is also provided in the scenario section. You should have summarized these activities in your own words.</a:t>
            </a:r>
          </a:p>
          <a:p>
            <a:r>
              <a:rPr lang="en-GB" sz="1100" dirty="0"/>
              <a:t>3. The third paragraph describes the analysis work. This information is available in the scenario and the log file. The article “How to read the </a:t>
            </a:r>
            <a:r>
              <a:rPr lang="en-GB" sz="1100" dirty="0" err="1"/>
              <a:t>tcpdump</a:t>
            </a:r>
            <a:r>
              <a:rPr lang="en-GB" sz="1100" dirty="0"/>
              <a:t> traffic log” is available in Step 2 of the activity to help you interpret the log file.</a:t>
            </a:r>
          </a:p>
          <a:p>
            <a:r>
              <a:rPr lang="en-GB" sz="1100" dirty="0"/>
              <a:t>4. The final paragraph adds what the senior cybersecurity analyst and the incident management team concluded about the root cause of the attack.</a:t>
            </a:r>
          </a:p>
          <a:p>
            <a:endParaRPr lang="en-SG" sz="1100" i="1" dirty="0"/>
          </a:p>
        </p:txBody>
      </p:sp>
    </p:spTree>
    <p:extLst>
      <p:ext uri="{BB962C8B-B14F-4D97-AF65-F5344CB8AC3E}">
        <p14:creationId xmlns:p14="http://schemas.microsoft.com/office/powerpoint/2010/main" val="33518462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722344"/>
          </a:xfrm>
        </p:spPr>
        <p:txBody>
          <a:bodyPr>
            <a:noAutofit/>
          </a:bodyPr>
          <a:lstStyle/>
          <a:p>
            <a:r>
              <a:rPr lang="en-SG" sz="2800" b="1" dirty="0"/>
              <a:t>Security incident report</a:t>
            </a:r>
          </a:p>
        </p:txBody>
      </p:sp>
      <p:graphicFrame>
        <p:nvGraphicFramePr>
          <p:cNvPr id="5" name="Table 4"/>
          <p:cNvGraphicFramePr>
            <a:graphicFrameLocks noGrp="1"/>
          </p:cNvGraphicFramePr>
          <p:nvPr>
            <p:extLst>
              <p:ext uri="{D42A27DB-BD31-4B8C-83A1-F6EECF244321}">
                <p14:modId xmlns:p14="http://schemas.microsoft.com/office/powerpoint/2010/main" val="146400044"/>
              </p:ext>
            </p:extLst>
          </p:nvPr>
        </p:nvGraphicFramePr>
        <p:xfrm>
          <a:off x="323528" y="1412776"/>
          <a:ext cx="8568952" cy="2405238"/>
        </p:xfrm>
        <a:graphic>
          <a:graphicData uri="http://schemas.openxmlformats.org/drawingml/2006/table">
            <a:tbl>
              <a:tblPr>
                <a:tableStyleId>{5C22544A-7EE6-4342-B048-85BDC9FD1C3A}</a:tableStyleId>
              </a:tblPr>
              <a:tblGrid>
                <a:gridCol w="8568952"/>
              </a:tblGrid>
              <a:tr h="282435">
                <a:tc>
                  <a:txBody>
                    <a:bodyPr/>
                    <a:lstStyle/>
                    <a:p>
                      <a:pPr>
                        <a:lnSpc>
                          <a:spcPct val="115000"/>
                        </a:lnSpc>
                        <a:spcAft>
                          <a:spcPts val="0"/>
                        </a:spcAft>
                      </a:pPr>
                      <a:r>
                        <a:rPr lang="en-GB" sz="1400" b="1" dirty="0" smtClean="0">
                          <a:effectLst/>
                        </a:rPr>
                        <a:t>Section 3: Recommend one remediation for brute force attacks</a:t>
                      </a:r>
                      <a:endParaRPr lang="en-SG" sz="1200" b="1" dirty="0">
                        <a:effectLst/>
                        <a:latin typeface="Arial"/>
                        <a:ea typeface="Arial"/>
                      </a:endParaRPr>
                    </a:p>
                  </a:txBody>
                  <a:tcPr marL="63500" marR="63500" marT="63500" marB="63500"/>
                </a:tc>
              </a:tr>
              <a:tr h="2032874">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GB" sz="1200" b="0" i="0" u="none" strike="noStrike" kern="1200" cap="none" spc="0" normalizeH="0" baseline="0" noProof="0" dirty="0" smtClean="0">
                          <a:ln>
                            <a:noFill/>
                          </a:ln>
                          <a:solidFill>
                            <a:srgbClr val="0070C0"/>
                          </a:solidFill>
                          <a:effectLst/>
                          <a:uLnTx/>
                          <a:uFillTx/>
                          <a:latin typeface="+mn-lt"/>
                          <a:ea typeface="Arial"/>
                          <a:cs typeface="+mn-cs"/>
                        </a:rPr>
                        <a:t>One security measure the team plans to implement to protect against brute force attacks is to disallow previous passwords from being used. Since the vulnerability that lead to this attack was the attacker’s ability to use a default password to log in, it’s important that we prevent any old passwords such as default passwords from being used to reset the password. Another supportive measure is to require more frequent password updates, so in case any unauthorized person becomes aware of the password, they are less likely to be able to use that password if the password is updated sooner than later. Finally, another helpful solution is to implement two-factor authentication (2FA). 2FA requires authentication via a password and also by confirming a one-time passcode (OTP) sent to either their email or phone. Once the user confirms their identity through their login credentials and the OTP, they will gain access to the system. Any malicious actor that attempts a brute force attack will not likely gain access to the system because it requires additional authentication</a:t>
                      </a:r>
                      <a:endParaRPr kumimoji="0" lang="en-SG" sz="1200" b="0" i="0" u="none" strike="noStrike" kern="1200" cap="none" spc="0" normalizeH="0" baseline="0" noProof="0" dirty="0">
                        <a:ln>
                          <a:noFill/>
                        </a:ln>
                        <a:solidFill>
                          <a:srgbClr val="0070C0"/>
                        </a:solidFill>
                        <a:effectLst/>
                        <a:uLnTx/>
                        <a:uFillTx/>
                        <a:latin typeface="+mn-lt"/>
                        <a:ea typeface="Arial"/>
                        <a:cs typeface="+mn-cs"/>
                      </a:endParaRPr>
                    </a:p>
                  </a:txBody>
                  <a:tcPr marL="63500" marR="63500" marT="63500" marB="63500"/>
                </a:tc>
              </a:tr>
            </a:tbl>
          </a:graphicData>
        </a:graphic>
      </p:graphicFrame>
      <p:sp>
        <p:nvSpPr>
          <p:cNvPr id="8" name="TextBox 7"/>
          <p:cNvSpPr txBox="1"/>
          <p:nvPr/>
        </p:nvSpPr>
        <p:spPr>
          <a:xfrm>
            <a:off x="315528" y="3969638"/>
            <a:ext cx="8568952" cy="261610"/>
          </a:xfrm>
          <a:prstGeom prst="rect">
            <a:avLst/>
          </a:prstGeom>
          <a:noFill/>
        </p:spPr>
        <p:txBody>
          <a:bodyPr wrap="square" rtlCol="0">
            <a:spAutoFit/>
          </a:bodyPr>
          <a:lstStyle/>
          <a:p>
            <a:r>
              <a:rPr lang="en-GB" sz="1100" dirty="0" smtClean="0"/>
              <a:t>Explained </a:t>
            </a:r>
            <a:r>
              <a:rPr lang="en-GB" sz="1100" dirty="0"/>
              <a:t>the remediation method and how it works in your own </a:t>
            </a:r>
            <a:r>
              <a:rPr lang="en-GB" sz="1100" dirty="0" smtClean="0"/>
              <a:t>words.</a:t>
            </a:r>
            <a:endParaRPr lang="en-SG" sz="1100" i="1" dirty="0"/>
          </a:p>
        </p:txBody>
      </p:sp>
    </p:spTree>
    <p:extLst>
      <p:ext uri="{BB962C8B-B14F-4D97-AF65-F5344CB8AC3E}">
        <p14:creationId xmlns:p14="http://schemas.microsoft.com/office/powerpoint/2010/main" val="266155536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_rels/theme3.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610</TotalTime>
  <Words>1143</Words>
  <Application>Microsoft Office PowerPoint</Application>
  <PresentationFormat>On-screen Show (4:3)</PresentationFormat>
  <Paragraphs>66</Paragraphs>
  <Slides>6</Slides>
  <Notes>0</Notes>
  <HiddenSlides>0</HiddenSlides>
  <MMClips>0</MMClips>
  <ScaleCrop>false</ScaleCrop>
  <HeadingPairs>
    <vt:vector size="4" baseType="variant">
      <vt:variant>
        <vt:lpstr>Theme</vt:lpstr>
      </vt:variant>
      <vt:variant>
        <vt:i4>3</vt:i4>
      </vt:variant>
      <vt:variant>
        <vt:lpstr>Slide Titles</vt:lpstr>
      </vt:variant>
      <vt:variant>
        <vt:i4>6</vt:i4>
      </vt:variant>
    </vt:vector>
  </HeadingPairs>
  <TitlesOfParts>
    <vt:vector size="9" baseType="lpstr">
      <vt:lpstr>Executive</vt:lpstr>
      <vt:lpstr>Equity</vt:lpstr>
      <vt:lpstr>Flow</vt:lpstr>
      <vt:lpstr>Scenario</vt:lpstr>
      <vt:lpstr>PowerPoint Presentation</vt:lpstr>
      <vt:lpstr>PowerPoint Presentation</vt:lpstr>
      <vt:lpstr>Security incident report</vt:lpstr>
      <vt:lpstr>Security incident report</vt:lpstr>
      <vt:lpstr>Security incident report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dc:title>
  <dc:creator>ZhiQian Chua</dc:creator>
  <cp:lastModifiedBy>ZhiQian Chua</cp:lastModifiedBy>
  <cp:revision>25</cp:revision>
  <dcterms:created xsi:type="dcterms:W3CDTF">2026-04-11T03:58:54Z</dcterms:created>
  <dcterms:modified xsi:type="dcterms:W3CDTF">2026-04-13T10:07:24Z</dcterms:modified>
</cp:coreProperties>
</file>