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96" r:id="rId2"/>
  </p:sldMasterIdLst>
  <p:sldIdLst>
    <p:sldId id="256" r:id="rId3"/>
    <p:sldId id="261" r:id="rId4"/>
    <p:sldId id="263" r:id="rId5"/>
    <p:sldId id="262" r:id="rId6"/>
    <p:sldId id="264" r:id="rId7"/>
    <p:sldId id="265" r:id="rId8"/>
    <p:sldId id="266" r:id="rId9"/>
    <p:sldId id="267"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10" d="100"/>
          <a:sy n="110" d="100"/>
        </p:scale>
        <p:origin x="-164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presProps" Target="presProps.xml"/><Relationship Id="rId5" Type="http://schemas.openxmlformats.org/officeDocument/2006/relationships/slide" Target="slides/slide3.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609601"/>
            <a:ext cx="7772400" cy="42672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4953000"/>
            <a:ext cx="6400800" cy="12192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C81D1448-F56A-427E-B4D3-154671AD8545}" type="datetimeFigureOut">
              <a:rPr lang="en-SG" smtClean="0"/>
              <a:t>23/5/2026</a:t>
            </a:fld>
            <a:endParaRPr lang="en-SG"/>
          </a:p>
        </p:txBody>
      </p:sp>
      <p:sp>
        <p:nvSpPr>
          <p:cNvPr id="8" name="Slide Number Placeholder 7"/>
          <p:cNvSpPr>
            <a:spLocks noGrp="1"/>
          </p:cNvSpPr>
          <p:nvPr>
            <p:ph type="sldNum" sz="quarter" idx="11"/>
          </p:nvPr>
        </p:nvSpPr>
        <p:spPr/>
        <p:txBody>
          <a:bodyPr/>
          <a:lstStyle/>
          <a:p>
            <a:fld id="{C5804EC2-4BFC-4480-AE2A-23FA0465B8FA}" type="slidenum">
              <a:rPr lang="en-SG" smtClean="0"/>
              <a:t>‹#›</a:t>
            </a:fld>
            <a:endParaRPr lang="en-SG"/>
          </a:p>
        </p:txBody>
      </p:sp>
      <p:sp>
        <p:nvSpPr>
          <p:cNvPr id="9" name="Footer Placeholder 8"/>
          <p:cNvSpPr>
            <a:spLocks noGrp="1"/>
          </p:cNvSpPr>
          <p:nvPr>
            <p:ph type="ftr" sz="quarter" idx="12"/>
          </p:nvPr>
        </p:nvSpPr>
        <p:spPr/>
        <p:txBody>
          <a:bodyPr/>
          <a:lstStyle/>
          <a:p>
            <a:endParaRPr lang="en-SG"/>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371600"/>
            <a:ext cx="7772400" cy="2505075"/>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4068763"/>
            <a:ext cx="7772400" cy="1131887"/>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7" name="Oval 6"/>
          <p:cNvSpPr/>
          <p:nvPr/>
        </p:nvSpPr>
        <p:spPr>
          <a:xfrm>
            <a:off x="4495800"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3924300"/>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C81D1448-F56A-427E-B4D3-154671AD8545}" type="datetimeFigureOut">
              <a:rPr lang="en-SG" smtClean="0"/>
              <a:t>23/5/2026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3"/>
          </p:nvPr>
        </p:nvSpPr>
        <p:spPr>
          <a:xfrm>
            <a:off x="365760" y="1600200"/>
            <a:ext cx="4041648" cy="45262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600200"/>
            <a:ext cx="4040188"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0" y="1600200"/>
            <a:ext cx="4041775" cy="6096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23/5/2026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3"/>
          </p:nvPr>
        </p:nvSpPr>
        <p:spPr>
          <a:xfrm>
            <a:off x="457200" y="2212848"/>
            <a:ext cx="4041648" cy="391363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2212848"/>
            <a:ext cx="4041648" cy="3913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81D1448-F56A-427E-B4D3-154671AD8545}" type="datetimeFigureOut">
              <a:rPr lang="en-SG" smtClean="0"/>
              <a:t>23/5/2026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23/5/2026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7" y="266700"/>
            <a:ext cx="3008313" cy="2095500"/>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7" y="273050"/>
            <a:ext cx="4995863"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7" y="2438400"/>
            <a:ext cx="3008313" cy="3687763"/>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23/5/2026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228600"/>
            <a:ext cx="5711824" cy="895350"/>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1143000"/>
            <a:ext cx="6054724" cy="4541044"/>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5810250"/>
            <a:ext cx="5711824" cy="5334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23/5/2026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81D1448-F56A-427E-B4D3-154671AD8545}" type="datetimeFigureOut">
              <a:rPr lang="en-SG" smtClean="0"/>
              <a:t>23/5/2026</a:t>
            </a:fld>
            <a:endParaRPr lang="en-SG"/>
          </a:p>
        </p:txBody>
      </p:sp>
      <p:sp>
        <p:nvSpPr>
          <p:cNvPr id="17" name="Footer Placeholder 16"/>
          <p:cNvSpPr>
            <a:spLocks noGrp="1"/>
          </p:cNvSpPr>
          <p:nvPr>
            <p:ph type="ftr" sz="quarter" idx="11"/>
          </p:nvPr>
        </p:nvSpPr>
        <p:spPr/>
        <p:txBody>
          <a:bodyPr/>
          <a:lstStyle/>
          <a:p>
            <a:endParaRPr lang="en-SG"/>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C5804EC2-4BFC-4480-AE2A-23FA0465B8FA}" type="slidenum">
              <a:rPr lang="en-SG" smtClean="0"/>
              <a:t>‹#›</a:t>
            </a:fld>
            <a:endParaRPr lang="en-SG"/>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a:xfrm>
            <a:off x="800100" y="6172200"/>
            <a:ext cx="4000500" cy="457200"/>
          </a:xfrm>
        </p:spPr>
        <p:txBody>
          <a:bodyPr/>
          <a:lstStyle/>
          <a:p>
            <a:endParaRPr lang="en-SG"/>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81D1448-F56A-427E-B4D3-154671AD8545}" type="datetimeFigureOut">
              <a:rPr lang="en-SG" smtClean="0"/>
              <a:t>23/5/2026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C81D1448-F56A-427E-B4D3-154671AD8545}" type="datetimeFigureOut">
              <a:rPr lang="en-SG" smtClean="0"/>
              <a:t>23/5/2026</a:t>
            </a:fld>
            <a:endParaRPr lang="en-SG"/>
          </a:p>
        </p:txBody>
      </p:sp>
      <p:sp>
        <p:nvSpPr>
          <p:cNvPr id="8" name="Footer Placeholder 7"/>
          <p:cNvSpPr>
            <a:spLocks noGrp="1"/>
          </p:cNvSpPr>
          <p:nvPr>
            <p:ph type="ftr" sz="quarter" idx="11"/>
          </p:nvPr>
        </p:nvSpPr>
        <p:spPr/>
        <p:txBody>
          <a:bodyPr/>
          <a:lstStyle/>
          <a:p>
            <a:endParaRPr lang="en-SG"/>
          </a:p>
        </p:txBody>
      </p:sp>
      <p:sp>
        <p:nvSpPr>
          <p:cNvPr id="9" name="Slide Number Placeholder 8"/>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81D1448-F56A-427E-B4D3-154671AD8545}" type="datetimeFigureOut">
              <a:rPr lang="en-SG" smtClean="0"/>
              <a:t>23/5/2026</a:t>
            </a:fld>
            <a:endParaRPr lang="en-SG"/>
          </a:p>
        </p:txBody>
      </p:sp>
      <p:sp>
        <p:nvSpPr>
          <p:cNvPr id="4" name="Footer Placeholder 3"/>
          <p:cNvSpPr>
            <a:spLocks noGrp="1"/>
          </p:cNvSpPr>
          <p:nvPr>
            <p:ph type="ftr" sz="quarter" idx="11"/>
          </p:nvPr>
        </p:nvSpPr>
        <p:spPr/>
        <p:txBody>
          <a:bodyPr/>
          <a:lstStyle/>
          <a:p>
            <a:endParaRPr lang="en-SG"/>
          </a:p>
        </p:txBody>
      </p:sp>
      <p:sp>
        <p:nvSpPr>
          <p:cNvPr id="5" name="Slide Number Placeholder 4"/>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1D1448-F56A-427E-B4D3-154671AD8545}" type="datetimeFigureOut">
              <a:rPr lang="en-SG" smtClean="0"/>
              <a:t>23/5/2026</a:t>
            </a:fld>
            <a:endParaRPr lang="en-SG"/>
          </a:p>
        </p:txBody>
      </p:sp>
      <p:sp>
        <p:nvSpPr>
          <p:cNvPr id="3" name="Footer Placeholder 2"/>
          <p:cNvSpPr>
            <a:spLocks noGrp="1"/>
          </p:cNvSpPr>
          <p:nvPr>
            <p:ph type="ftr" sz="quarter" idx="11"/>
          </p:nvPr>
        </p:nvSpPr>
        <p:spPr/>
        <p:txBody>
          <a:bodyPr/>
          <a:lstStyle/>
          <a:p>
            <a:endParaRPr lang="en-SG"/>
          </a:p>
        </p:txBody>
      </p:sp>
      <p:sp>
        <p:nvSpPr>
          <p:cNvPr id="4" name="Slide Number Placeholder 3"/>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23/5/2026</a:t>
            </a:fld>
            <a:endParaRPr lang="en-SG"/>
          </a:p>
        </p:txBody>
      </p:sp>
      <p:sp>
        <p:nvSpPr>
          <p:cNvPr id="6" name="Footer Placeholder 5"/>
          <p:cNvSpPr>
            <a:spLocks noGrp="1"/>
          </p:cNvSpPr>
          <p:nvPr>
            <p:ph type="ftr" sz="quarter" idx="11"/>
          </p:nvPr>
        </p:nvSpPr>
        <p:spPr/>
        <p:txBody>
          <a:bodyPr/>
          <a:lstStyle/>
          <a:p>
            <a:endParaRPr lang="en-SG"/>
          </a:p>
        </p:txBody>
      </p:sp>
      <p:sp>
        <p:nvSpPr>
          <p:cNvPr id="7" name="Slide Number Placeholder 6"/>
          <p:cNvSpPr>
            <a:spLocks noGrp="1"/>
          </p:cNvSpPr>
          <p:nvPr>
            <p:ph type="sldNum" sz="quarter" idx="12"/>
          </p:nvPr>
        </p:nvSpPr>
        <p:spPr/>
        <p:txBody>
          <a:bodyPr/>
          <a:lstStyle/>
          <a:p>
            <a:fld id="{C5804EC2-4BFC-4480-AE2A-23FA0465B8FA}" type="slidenum">
              <a:rPr lang="en-SG" smtClean="0"/>
              <a:t>‹#›</a:t>
            </a:fld>
            <a:endParaRPr lang="en-SG"/>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C81D1448-F56A-427E-B4D3-154671AD8545}" type="datetimeFigureOut">
              <a:rPr lang="en-SG" smtClean="0"/>
              <a:t>23/5/2026</a:t>
            </a:fld>
            <a:endParaRPr lang="en-SG"/>
          </a:p>
        </p:txBody>
      </p:sp>
      <p:sp>
        <p:nvSpPr>
          <p:cNvPr id="6" name="Footer Placeholder 5"/>
          <p:cNvSpPr>
            <a:spLocks noGrp="1"/>
          </p:cNvSpPr>
          <p:nvPr>
            <p:ph type="ftr" sz="quarter" idx="11"/>
          </p:nvPr>
        </p:nvSpPr>
        <p:spPr>
          <a:xfrm>
            <a:off x="914400" y="6172200"/>
            <a:ext cx="3886200" cy="457200"/>
          </a:xfrm>
        </p:spPr>
        <p:txBody>
          <a:bodyPr/>
          <a:lstStyle/>
          <a:p>
            <a:endParaRPr lang="en-SG"/>
          </a:p>
        </p:txBody>
      </p:sp>
      <p:sp>
        <p:nvSpPr>
          <p:cNvPr id="7" name="Slide Number Placeholder 6"/>
          <p:cNvSpPr>
            <a:spLocks noGrp="1"/>
          </p:cNvSpPr>
          <p:nvPr>
            <p:ph type="sldNum" sz="quarter" idx="12"/>
          </p:nvPr>
        </p:nvSpPr>
        <p:spPr>
          <a:xfrm>
            <a:off x="146304" y="6208776"/>
            <a:ext cx="457200" cy="457200"/>
          </a:xfrm>
        </p:spPr>
        <p:txBody>
          <a:bodyPr/>
          <a:lstStyle/>
          <a:p>
            <a:fld id="{C5804EC2-4BFC-4480-AE2A-23FA0465B8FA}" type="slidenum">
              <a:rPr lang="en-SG" smtClean="0"/>
              <a:t>‹#›</a:t>
            </a:fld>
            <a:endParaRPr lang="en-SG"/>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81D1448-F56A-427E-B4D3-154671AD8545}" type="datetimeFigureOut">
              <a:rPr lang="en-SG" smtClean="0"/>
              <a:t>23/5/2026</a:t>
            </a:fld>
            <a:endParaRPr lang="en-SG"/>
          </a:p>
        </p:txBody>
      </p:sp>
      <p:sp>
        <p:nvSpPr>
          <p:cNvPr id="5" name="Footer Placeholder 4"/>
          <p:cNvSpPr>
            <a:spLocks noGrp="1"/>
          </p:cNvSpPr>
          <p:nvPr>
            <p:ph type="ftr" sz="quarter" idx="11"/>
          </p:nvPr>
        </p:nvSpPr>
        <p:spPr/>
        <p:txBody>
          <a:bodyPr/>
          <a:lstStyle/>
          <a:p>
            <a:endParaRPr lang="en-SG"/>
          </a:p>
        </p:txBody>
      </p:sp>
      <p:sp>
        <p:nvSpPr>
          <p:cNvPr id="6" name="Slide Number Placeholder 5"/>
          <p:cNvSpPr>
            <a:spLocks noGrp="1"/>
          </p:cNvSpPr>
          <p:nvPr>
            <p:ph type="sldNum" sz="quarter" idx="12"/>
          </p:nvPr>
        </p:nvSpPr>
        <p:spPr/>
        <p:txBody>
          <a:bodyPr/>
          <a:lstStyle/>
          <a:p>
            <a:fld id="{C5804EC2-4BFC-4480-AE2A-23FA0465B8FA}" type="slidenum">
              <a:rPr lang="en-SG" smtClean="0"/>
              <a:t>‹#›</a:t>
            </a:fld>
            <a:endParaRPr lang="en-SG"/>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6002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7" y="6356350"/>
            <a:ext cx="2085975" cy="365125"/>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C81D1448-F56A-427E-B4D3-154671AD8545}" type="datetimeFigureOut">
              <a:rPr lang="en-SG" smtClean="0"/>
              <a:t>23/5/2026</a:t>
            </a:fld>
            <a:endParaRPr lang="en-SG"/>
          </a:p>
        </p:txBody>
      </p:sp>
      <p:sp>
        <p:nvSpPr>
          <p:cNvPr id="5" name="Footer Placeholder 4"/>
          <p:cNvSpPr>
            <a:spLocks noGrp="1"/>
          </p:cNvSpPr>
          <p:nvPr>
            <p:ph type="ftr" sz="quarter" idx="3"/>
          </p:nvPr>
        </p:nvSpPr>
        <p:spPr>
          <a:xfrm>
            <a:off x="659165" y="6356350"/>
            <a:ext cx="2847975" cy="365125"/>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endParaRPr lang="en-SG"/>
          </a:p>
        </p:txBody>
      </p:sp>
      <p:sp>
        <p:nvSpPr>
          <p:cNvPr id="6" name="Slide Number Placeholder 5"/>
          <p:cNvSpPr>
            <a:spLocks noGrp="1"/>
          </p:cNvSpPr>
          <p:nvPr>
            <p:ph type="sldNum" sz="quarter" idx="4"/>
          </p:nvPr>
        </p:nvSpPr>
        <p:spPr>
          <a:xfrm>
            <a:off x="8543278" y="6356350"/>
            <a:ext cx="561975" cy="365125"/>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fld id="{C5804EC2-4BFC-4480-AE2A-23FA0465B8FA}" type="slidenum">
              <a:rPr lang="en-SG" smtClean="0"/>
              <a:t>‹#›</a:t>
            </a:fld>
            <a:endParaRPr lang="en-SG"/>
          </a:p>
        </p:txBody>
      </p:sp>
      <p:sp>
        <p:nvSpPr>
          <p:cNvPr id="7" name="Oval 6"/>
          <p:cNvSpPr/>
          <p:nvPr/>
        </p:nvSpPr>
        <p:spPr>
          <a:xfrm>
            <a:off x="8457760"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6499384"/>
            <a:ext cx="84772" cy="84772"/>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81D1448-F56A-427E-B4D3-154671AD8545}" type="datetimeFigureOut">
              <a:rPr lang="en-SG" smtClean="0"/>
              <a:t>23/5/2026</a:t>
            </a:fld>
            <a:endParaRPr lang="en-SG"/>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SG"/>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C5804EC2-4BFC-4480-AE2A-23FA0465B8FA}" type="slidenum">
              <a:rPr lang="en-SG" smtClean="0"/>
              <a:t>‹#›</a:t>
            </a:fld>
            <a:endParaRPr lang="en-SG"/>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404664"/>
            <a:ext cx="7772400" cy="1470025"/>
          </a:xfrm>
        </p:spPr>
        <p:txBody>
          <a:bodyPr/>
          <a:lstStyle/>
          <a:p>
            <a:r>
              <a:rPr lang="en-SG" dirty="0" smtClean="0"/>
              <a:t>Scenario</a:t>
            </a:r>
            <a:endParaRPr lang="en-SG" dirty="0"/>
          </a:p>
        </p:txBody>
      </p:sp>
      <p:sp>
        <p:nvSpPr>
          <p:cNvPr id="3" name="Subtitle 2"/>
          <p:cNvSpPr>
            <a:spLocks noGrp="1"/>
          </p:cNvSpPr>
          <p:nvPr>
            <p:ph type="subTitle" idx="1"/>
          </p:nvPr>
        </p:nvSpPr>
        <p:spPr>
          <a:xfrm>
            <a:off x="683568" y="2011288"/>
            <a:ext cx="7776864" cy="3865984"/>
          </a:xfrm>
        </p:spPr>
        <p:txBody>
          <a:bodyPr>
            <a:noAutofit/>
          </a:bodyPr>
          <a:lstStyle/>
          <a:p>
            <a:pPr algn="l"/>
            <a:r>
              <a:rPr lang="en-GB" sz="1600" dirty="0"/>
              <a:t>You’re part of the growing security team at a company for sneaker enthusiasts and collectors. The business is preparing to launch a mobile app that makes it easy for their customers to buy and sell shoes. </a:t>
            </a:r>
            <a:endParaRPr lang="en-GB" sz="1600" dirty="0" smtClean="0"/>
          </a:p>
          <a:p>
            <a:pPr algn="l"/>
            <a:endParaRPr lang="en-GB" sz="1600" dirty="0"/>
          </a:p>
          <a:p>
            <a:pPr algn="l"/>
            <a:r>
              <a:rPr lang="en-GB" sz="1600" dirty="0"/>
              <a:t>You are performing a threat model of the application using the PASTA framework. You will go through each of the seven stages of the framework to identify security requirements for the new sneaker company app.</a:t>
            </a:r>
          </a:p>
        </p:txBody>
      </p:sp>
    </p:spTree>
    <p:extLst>
      <p:ext uri="{BB962C8B-B14F-4D97-AF65-F5344CB8AC3E}">
        <p14:creationId xmlns:p14="http://schemas.microsoft.com/office/powerpoint/2010/main" val="191919235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768504458"/>
              </p:ext>
            </p:extLst>
          </p:nvPr>
        </p:nvGraphicFramePr>
        <p:xfrm>
          <a:off x="287524" y="2924944"/>
          <a:ext cx="8568952" cy="3009638"/>
        </p:xfrm>
        <a:graphic>
          <a:graphicData uri="http://schemas.openxmlformats.org/drawingml/2006/table">
            <a:tbl>
              <a:tblPr>
                <a:tableStyleId>{5C22544A-7EE6-4342-B048-85BDC9FD1C3A}</a:tableStyleId>
              </a:tblPr>
              <a:tblGrid>
                <a:gridCol w="3060340"/>
                <a:gridCol w="5508612"/>
              </a:tblGrid>
              <a:tr h="576064">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1457548">
                <a:tc>
                  <a:txBody>
                    <a:bodyPr/>
                    <a:lstStyle/>
                    <a:p>
                      <a:pPr>
                        <a:lnSpc>
                          <a:spcPct val="115000"/>
                        </a:lnSpc>
                        <a:spcAft>
                          <a:spcPts val="0"/>
                        </a:spcAft>
                      </a:pPr>
                      <a:r>
                        <a:rPr lang="en-SG" sz="1200" b="1" dirty="0" smtClean="0">
                          <a:effectLst/>
                          <a:latin typeface="Google Sans"/>
                          <a:ea typeface="Google Sans"/>
                          <a:cs typeface="Google Sans"/>
                        </a:rPr>
                        <a:t>I. Define </a:t>
                      </a:r>
                      <a:r>
                        <a:rPr lang="en-SG" sz="1200" b="1" dirty="0">
                          <a:effectLst/>
                          <a:latin typeface="Google Sans"/>
                          <a:ea typeface="Google Sans"/>
                          <a:cs typeface="Google Sans"/>
                        </a:rPr>
                        <a:t>business and security </a:t>
                      </a:r>
                      <a:r>
                        <a:rPr lang="en-SG" sz="1200" b="1" dirty="0" smtClean="0">
                          <a:effectLst/>
                          <a:latin typeface="Google Sans"/>
                          <a:ea typeface="Google Sans"/>
                          <a:cs typeface="Google Sans"/>
                        </a:rPr>
                        <a:t>objectives</a:t>
                      </a:r>
                    </a:p>
                    <a:p>
                      <a:pPr>
                        <a:lnSpc>
                          <a:spcPct val="115000"/>
                        </a:lnSpc>
                        <a:spcAft>
                          <a:spcPts val="0"/>
                        </a:spcAft>
                      </a:pPr>
                      <a:endParaRPr lang="en-SG" sz="1200" b="1" dirty="0" smtClean="0">
                        <a:effectLst/>
                        <a:latin typeface="Google Sans"/>
                        <a:ea typeface="Google Sans"/>
                        <a:cs typeface="Google Sans"/>
                      </a:endParaRPr>
                    </a:p>
                    <a:p>
                      <a:pPr>
                        <a:lnSpc>
                          <a:spcPct val="115000"/>
                        </a:lnSpc>
                        <a:spcAft>
                          <a:spcPts val="0"/>
                        </a:spcAft>
                      </a:pPr>
                      <a:r>
                        <a:rPr kumimoji="0" lang="en-GB" sz="1200" b="0" i="1" kern="1200" dirty="0" smtClean="0">
                          <a:solidFill>
                            <a:schemeClr val="dk1"/>
                          </a:solidFill>
                          <a:effectLst/>
                          <a:latin typeface="+mn-lt"/>
                          <a:ea typeface="+mn-ea"/>
                          <a:cs typeface="+mn-cs"/>
                        </a:rPr>
                        <a:t>The main goal of Stage I of the PASTA framework is to understand why the application was developed and what it is expected to do</a:t>
                      </a:r>
                      <a:r>
                        <a:rPr kumimoji="0" lang="en-GB" sz="1200" b="0" i="1" kern="1200" dirty="0" smtClean="0">
                          <a:solidFill>
                            <a:schemeClr val="dk1"/>
                          </a:solidFill>
                          <a:effectLst/>
                          <a:latin typeface="+mn-lt"/>
                          <a:ea typeface="+mn-ea"/>
                          <a:cs typeface="+mn-cs"/>
                        </a:rPr>
                        <a:t>. For example, how does the app make the business money? Understanding the answer to these questions helps guide the detailed work that will follow.</a:t>
                      </a:r>
                    </a:p>
                    <a:p>
                      <a:pPr>
                        <a:lnSpc>
                          <a:spcPct val="115000"/>
                        </a:lnSpc>
                        <a:spcAft>
                          <a:spcPts val="0"/>
                        </a:spcAft>
                      </a:pPr>
                      <a:r>
                        <a:rPr lang="en-SG" sz="1200" b="0" i="1" dirty="0" smtClean="0">
                          <a:effectLst/>
                          <a:latin typeface="Google Sans"/>
                          <a:ea typeface="Google Sans"/>
                          <a:cs typeface="Google Sans"/>
                        </a:rPr>
                        <a:t/>
                      </a:r>
                      <a:br>
                        <a:rPr lang="en-SG" sz="1200" b="0" i="1" dirty="0" smtClean="0">
                          <a:effectLst/>
                          <a:latin typeface="Google Sans"/>
                          <a:ea typeface="Google Sans"/>
                          <a:cs typeface="Google Sans"/>
                        </a:rPr>
                      </a:br>
                      <a:r>
                        <a:rPr lang="en-SG" sz="1200" b="0" i="1" dirty="0" smtClean="0">
                          <a:effectLst/>
                          <a:latin typeface="+mn-lt"/>
                          <a:ea typeface="Google Sans"/>
                          <a:cs typeface="Google Sans"/>
                        </a:rPr>
                        <a:t>(</a:t>
                      </a:r>
                      <a:r>
                        <a:rPr lang="en-GB" sz="1200" b="0" i="1" dirty="0" smtClean="0">
                          <a:effectLst/>
                          <a:latin typeface="+mn-lt"/>
                          <a:ea typeface="Google Sans"/>
                          <a:cs typeface="Google Sans"/>
                        </a:rPr>
                        <a:t>typically requires gathering input from many individuals at a business)</a:t>
                      </a:r>
                      <a:endParaRPr lang="en-SG" sz="1100" b="0" i="1" dirty="0">
                        <a:effectLst/>
                        <a:latin typeface="+mn-lt"/>
                        <a:ea typeface="Arial"/>
                      </a:endParaRPr>
                    </a:p>
                  </a:txBody>
                  <a:tcPr marL="63500" marR="63500" marT="63500" marB="63500"/>
                </a:tc>
                <a:tc>
                  <a:txBody>
                    <a:bodyPr/>
                    <a:lstStyle/>
                    <a:p>
                      <a:pPr>
                        <a:lnSpc>
                          <a:spcPct val="115000"/>
                        </a:lnSpc>
                        <a:spcAft>
                          <a:spcPts val="0"/>
                        </a:spcAft>
                      </a:pPr>
                      <a:r>
                        <a:rPr lang="en-SG" sz="1100" dirty="0">
                          <a:effectLst/>
                          <a:latin typeface="Google Sans"/>
                          <a:ea typeface="Google Sans"/>
                          <a:cs typeface="Google Sans"/>
                        </a:rPr>
                        <a:t>Make 2-3 notes of specific business requirements that will be </a:t>
                      </a:r>
                      <a:r>
                        <a:rPr lang="en-SG" sz="1100" dirty="0" err="1">
                          <a:effectLst/>
                          <a:latin typeface="Google Sans"/>
                          <a:ea typeface="Google Sans"/>
                          <a:cs typeface="Google Sans"/>
                        </a:rPr>
                        <a:t>analyzed</a:t>
                      </a:r>
                      <a:r>
                        <a:rPr lang="en-SG" sz="1100" dirty="0" smtClean="0">
                          <a:effectLst/>
                          <a:latin typeface="Google Sans"/>
                          <a:ea typeface="Google Sans"/>
                          <a:cs typeface="Google Sans"/>
                        </a:rPr>
                        <a:t>.</a:t>
                      </a:r>
                    </a:p>
                    <a:p>
                      <a:pPr>
                        <a:lnSpc>
                          <a:spcPct val="115000"/>
                        </a:lnSpc>
                        <a:spcAft>
                          <a:spcPts val="0"/>
                        </a:spcAft>
                      </a:pPr>
                      <a:r>
                        <a:rPr lang="en-GB" sz="1100" dirty="0" smtClean="0">
                          <a:effectLst/>
                          <a:latin typeface="Google Sans"/>
                          <a:ea typeface="Arial"/>
                        </a:rPr>
                        <a:t>●</a:t>
                      </a:r>
                      <a:r>
                        <a:rPr lang="en-GB" sz="1100" baseline="0" dirty="0" smtClean="0">
                          <a:effectLst/>
                          <a:latin typeface="Google Sans"/>
                          <a:ea typeface="Arial"/>
                        </a:rPr>
                        <a:t> </a:t>
                      </a:r>
                      <a:r>
                        <a:rPr lang="en-GB" sz="1100" dirty="0" smtClean="0">
                          <a:effectLst/>
                          <a:latin typeface="Google Sans"/>
                          <a:ea typeface="Arial"/>
                        </a:rPr>
                        <a:t>Will the app process transactions?</a:t>
                      </a:r>
                    </a:p>
                    <a:p>
                      <a:pPr>
                        <a:lnSpc>
                          <a:spcPct val="115000"/>
                        </a:lnSpc>
                        <a:spcAft>
                          <a:spcPts val="0"/>
                        </a:spcAft>
                      </a:pPr>
                      <a:r>
                        <a:rPr lang="en-GB" sz="1100" dirty="0" smtClean="0">
                          <a:effectLst/>
                          <a:latin typeface="Google Sans"/>
                          <a:ea typeface="Arial"/>
                        </a:rPr>
                        <a:t>●</a:t>
                      </a:r>
                      <a:r>
                        <a:rPr lang="en-GB" sz="1100" baseline="0" dirty="0" smtClean="0">
                          <a:effectLst/>
                          <a:latin typeface="Google Sans"/>
                          <a:ea typeface="Arial"/>
                        </a:rPr>
                        <a:t> </a:t>
                      </a:r>
                      <a:r>
                        <a:rPr lang="en-GB" sz="1100" dirty="0" smtClean="0">
                          <a:effectLst/>
                          <a:latin typeface="Google Sans"/>
                          <a:ea typeface="Arial"/>
                        </a:rPr>
                        <a:t>Does it do a lot of back-end processing?</a:t>
                      </a:r>
                    </a:p>
                    <a:p>
                      <a:pPr>
                        <a:lnSpc>
                          <a:spcPct val="115000"/>
                        </a:lnSpc>
                        <a:spcAft>
                          <a:spcPts val="0"/>
                        </a:spcAft>
                      </a:pPr>
                      <a:r>
                        <a:rPr lang="en-GB" sz="1100" dirty="0" smtClean="0">
                          <a:effectLst/>
                          <a:latin typeface="Google Sans"/>
                          <a:ea typeface="Arial"/>
                        </a:rPr>
                        <a:t>●</a:t>
                      </a:r>
                      <a:r>
                        <a:rPr lang="en-GB" sz="1100" baseline="0" dirty="0" smtClean="0">
                          <a:effectLst/>
                          <a:latin typeface="Google Sans"/>
                          <a:ea typeface="Arial"/>
                        </a:rPr>
                        <a:t> </a:t>
                      </a:r>
                      <a:r>
                        <a:rPr lang="en-GB" sz="1100" dirty="0" smtClean="0">
                          <a:effectLst/>
                          <a:latin typeface="Google Sans"/>
                          <a:ea typeface="Arial"/>
                        </a:rPr>
                        <a:t>Are there industry regulations that need to be considered?</a:t>
                      </a:r>
                    </a:p>
                    <a:p>
                      <a:pPr>
                        <a:lnSpc>
                          <a:spcPct val="115000"/>
                        </a:lnSpc>
                        <a:spcAft>
                          <a:spcPts val="0"/>
                        </a:spcAft>
                      </a:pPr>
                      <a:endParaRPr lang="en-SG" sz="1100" dirty="0">
                        <a:effectLst/>
                        <a:latin typeface="Arial"/>
                        <a:ea typeface="Arial"/>
                      </a:endParaRPr>
                    </a:p>
                    <a:p>
                      <a:pPr marL="0" lvl="0" indent="0">
                        <a:lnSpc>
                          <a:spcPct val="115000"/>
                        </a:lnSpc>
                        <a:spcAft>
                          <a:spcPts val="0"/>
                        </a:spcAft>
                        <a:buFont typeface="Arial"/>
                        <a:buNone/>
                      </a:pPr>
                      <a:r>
                        <a:rPr lang="en-GB" sz="1100" i="1" u="none" strike="noStrike" dirty="0" smtClean="0">
                          <a:solidFill>
                            <a:srgbClr val="0070C0"/>
                          </a:solidFill>
                          <a:effectLst/>
                          <a:latin typeface="Google Sans"/>
                          <a:ea typeface="Google Sans"/>
                          <a:cs typeface="Google Sans"/>
                        </a:rPr>
                        <a:t>A shopping application like this will need to process payments. Based on this description, we know certain technologies are required to keep information private and secure.</a:t>
                      </a:r>
                      <a:endParaRPr lang="en-SG" sz="1100" i="1" u="none" strike="noStrike" dirty="0" smtClean="0">
                        <a:solidFill>
                          <a:srgbClr val="0070C0"/>
                        </a:solidFill>
                        <a:effectLst/>
                        <a:latin typeface="Google Sans"/>
                        <a:ea typeface="Google Sans"/>
                        <a:cs typeface="Google Sans"/>
                      </a:endParaRPr>
                    </a:p>
                    <a:p>
                      <a:pPr marL="342900" lvl="0" indent="-342900">
                        <a:lnSpc>
                          <a:spcPct val="115000"/>
                        </a:lnSpc>
                        <a:spcAft>
                          <a:spcPts val="0"/>
                        </a:spcAft>
                        <a:buFont typeface="Arial"/>
                        <a:buChar char="●"/>
                      </a:pPr>
                      <a:r>
                        <a:rPr lang="en-SG" sz="1100" i="1" u="none" strike="noStrike" dirty="0" smtClean="0">
                          <a:solidFill>
                            <a:srgbClr val="0070C0"/>
                          </a:solidFill>
                          <a:effectLst/>
                          <a:latin typeface="Google Sans"/>
                          <a:ea typeface="Google Sans"/>
                          <a:cs typeface="Google Sans"/>
                        </a:rPr>
                        <a:t>Users </a:t>
                      </a:r>
                      <a:r>
                        <a:rPr lang="en-SG" sz="1100" i="1" u="none" strike="noStrike" dirty="0">
                          <a:solidFill>
                            <a:srgbClr val="0070C0"/>
                          </a:solidFill>
                          <a:effectLst/>
                          <a:latin typeface="Google Sans"/>
                          <a:ea typeface="Google Sans"/>
                          <a:cs typeface="Google Sans"/>
                        </a:rPr>
                        <a:t>can create member profiles internally or by connecting external accounts.</a:t>
                      </a:r>
                      <a:endParaRPr lang="en-SG" sz="1100" u="none" strike="noStrike" dirty="0">
                        <a:solidFill>
                          <a:srgbClr val="0070C0"/>
                        </a:solidFill>
                        <a:effectLst/>
                        <a:latin typeface="Arial"/>
                        <a:ea typeface="Arial"/>
                      </a:endParaRPr>
                    </a:p>
                    <a:p>
                      <a:pPr marL="342900" lvl="0" indent="-342900">
                        <a:lnSpc>
                          <a:spcPct val="115000"/>
                        </a:lnSpc>
                        <a:spcAft>
                          <a:spcPts val="0"/>
                        </a:spcAft>
                        <a:buFont typeface="Arial"/>
                        <a:buChar char="●"/>
                      </a:pPr>
                      <a:r>
                        <a:rPr lang="en-SG" sz="1100" i="1" u="none" strike="noStrike" dirty="0">
                          <a:solidFill>
                            <a:srgbClr val="0070C0"/>
                          </a:solidFill>
                          <a:effectLst/>
                          <a:latin typeface="Google Sans"/>
                          <a:ea typeface="Google Sans"/>
                          <a:cs typeface="Google Sans"/>
                        </a:rPr>
                        <a:t>The app must process financial transactions.</a:t>
                      </a:r>
                      <a:endParaRPr lang="en-SG" sz="1100" u="none" strike="noStrike" dirty="0">
                        <a:solidFill>
                          <a:srgbClr val="0070C0"/>
                        </a:solidFill>
                        <a:effectLst/>
                        <a:latin typeface="Arial"/>
                        <a:ea typeface="Arial"/>
                      </a:endParaRPr>
                    </a:p>
                    <a:p>
                      <a:pPr marL="342900" lvl="0" indent="-342900">
                        <a:lnSpc>
                          <a:spcPct val="115000"/>
                        </a:lnSpc>
                        <a:spcAft>
                          <a:spcPts val="0"/>
                        </a:spcAft>
                        <a:buFont typeface="Arial"/>
                        <a:buChar char="●"/>
                      </a:pPr>
                      <a:r>
                        <a:rPr lang="en-SG" sz="1100" i="1" u="none" strike="noStrike" dirty="0">
                          <a:solidFill>
                            <a:srgbClr val="0070C0"/>
                          </a:solidFill>
                          <a:effectLst/>
                          <a:latin typeface="Google Sans"/>
                          <a:ea typeface="Google Sans"/>
                          <a:cs typeface="Google Sans"/>
                        </a:rPr>
                        <a:t>The app should be in compliance with PCI-DSS.</a:t>
                      </a:r>
                      <a:endParaRPr lang="en-SG" sz="1100" u="none" strike="noStrike" dirty="0">
                        <a:solidFill>
                          <a:srgbClr val="0070C0"/>
                        </a:solidFill>
                        <a:effectLst/>
                        <a:latin typeface="Arial"/>
                        <a:ea typeface="Arial"/>
                      </a:endParaRP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TextBox 1"/>
          <p:cNvSpPr txBox="1"/>
          <p:nvPr/>
        </p:nvSpPr>
        <p:spPr>
          <a:xfrm>
            <a:off x="323528" y="976749"/>
            <a:ext cx="8424936" cy="1815882"/>
          </a:xfrm>
          <a:prstGeom prst="rect">
            <a:avLst/>
          </a:prstGeom>
          <a:noFill/>
        </p:spPr>
        <p:txBody>
          <a:bodyPr wrap="square" rtlCol="0">
            <a:spAutoFit/>
          </a:bodyPr>
          <a:lstStyle/>
          <a:p>
            <a:r>
              <a:rPr lang="en-GB" sz="1400" b="1" dirty="0"/>
              <a:t>Description:</a:t>
            </a:r>
            <a:r>
              <a:rPr lang="en-GB" sz="1400" dirty="0"/>
              <a:t> Our application should seamlessly connect sellers and shoppers. It should be easy for users to sign-up, log in, and manage their accounts. Data privacy is a big concern for us. We want users to feel confident that we’re being responsible with their information</a:t>
            </a:r>
            <a:r>
              <a:rPr lang="en-GB" sz="1400" dirty="0" smtClean="0"/>
              <a:t>.</a:t>
            </a:r>
          </a:p>
          <a:p>
            <a:endParaRPr lang="en-GB" sz="1400" dirty="0"/>
          </a:p>
          <a:p>
            <a:r>
              <a:rPr lang="en-GB" sz="1400" dirty="0"/>
              <a:t>Buyers should be able to directly message sellers with questions. They should also have the ability to rate sellers to encourage good service. Sales should be clear and quick to process. Users should have several payment options for a smooth checkout process. Proper payment handling is really important because we want to avoid legal issues.</a:t>
            </a:r>
          </a:p>
          <a:p>
            <a:endParaRPr lang="en-SG" sz="1400" dirty="0"/>
          </a:p>
        </p:txBody>
      </p:sp>
    </p:spTree>
    <p:extLst>
      <p:ext uri="{BB962C8B-B14F-4D97-AF65-F5344CB8AC3E}">
        <p14:creationId xmlns:p14="http://schemas.microsoft.com/office/powerpoint/2010/main" val="29784805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1317843010"/>
              </p:ext>
            </p:extLst>
          </p:nvPr>
        </p:nvGraphicFramePr>
        <p:xfrm>
          <a:off x="287524" y="4581128"/>
          <a:ext cx="8568952" cy="2117471"/>
        </p:xfrm>
        <a:graphic>
          <a:graphicData uri="http://schemas.openxmlformats.org/drawingml/2006/table">
            <a:tbl>
              <a:tblPr>
                <a:tableStyleId>{5C22544A-7EE6-4342-B048-85BDC9FD1C3A}</a:tableStyleId>
              </a:tblPr>
              <a:tblGrid>
                <a:gridCol w="1044116"/>
                <a:gridCol w="7524836"/>
              </a:tblGrid>
              <a:tr h="306961">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1493239">
                <a:tc>
                  <a:txBody>
                    <a:bodyPr/>
                    <a:lstStyle/>
                    <a:p>
                      <a:pPr>
                        <a:lnSpc>
                          <a:spcPct val="115000"/>
                        </a:lnSpc>
                        <a:spcAft>
                          <a:spcPts val="0"/>
                        </a:spcAft>
                      </a:pPr>
                      <a:r>
                        <a:rPr lang="en-SG" sz="1200" b="1" dirty="0" smtClean="0">
                          <a:effectLst/>
                          <a:latin typeface="Google Sans"/>
                          <a:ea typeface="Google Sans"/>
                          <a:cs typeface="Google Sans"/>
                        </a:rPr>
                        <a:t>II. </a:t>
                      </a:r>
                      <a:r>
                        <a:rPr lang="en-SG" sz="1200" b="1" dirty="0" smtClean="0">
                          <a:effectLst/>
                          <a:latin typeface="Google Sans"/>
                          <a:ea typeface="Google Sans"/>
                          <a:cs typeface="Google Sans"/>
                        </a:rPr>
                        <a:t>Define the technical scope</a:t>
                      </a:r>
                    </a:p>
                  </a:txBody>
                  <a:tcPr marL="63500" marR="63500" marT="63500" marB="63500"/>
                </a:tc>
                <a:tc>
                  <a:txBody>
                    <a:bodyPr/>
                    <a:lstStyle/>
                    <a:p>
                      <a:r>
                        <a:rPr kumimoji="0" lang="en-SG" sz="1100" kern="1200" dirty="0" smtClean="0">
                          <a:solidFill>
                            <a:schemeClr val="dk1"/>
                          </a:solidFill>
                          <a:effectLst/>
                          <a:latin typeface="Google Sans"/>
                          <a:ea typeface="+mn-ea"/>
                          <a:cs typeface="+mn-cs"/>
                        </a:rPr>
                        <a:t>Understand the attack surface</a:t>
                      </a:r>
                      <a:r>
                        <a:rPr kumimoji="0" lang="en-SG" sz="1100" kern="1200" baseline="0" dirty="0" smtClean="0">
                          <a:solidFill>
                            <a:schemeClr val="dk1"/>
                          </a:solidFill>
                          <a:effectLst/>
                          <a:latin typeface="Google Sans"/>
                          <a:ea typeface="+mn-ea"/>
                          <a:cs typeface="+mn-cs"/>
                        </a:rPr>
                        <a:t>      </a:t>
                      </a:r>
                      <a:r>
                        <a:rPr kumimoji="0" lang="en-SG" sz="1100" kern="1200" dirty="0" smtClean="0">
                          <a:solidFill>
                            <a:schemeClr val="dk1"/>
                          </a:solidFill>
                          <a:effectLst/>
                          <a:latin typeface="Google Sans"/>
                          <a:ea typeface="+mn-ea"/>
                          <a:cs typeface="+mn-cs"/>
                        </a:rPr>
                        <a:t>List </a:t>
                      </a:r>
                      <a:r>
                        <a:rPr kumimoji="0" lang="en-SG" sz="1100" kern="1200" dirty="0" smtClean="0">
                          <a:solidFill>
                            <a:schemeClr val="dk1"/>
                          </a:solidFill>
                          <a:effectLst/>
                          <a:latin typeface="Google Sans"/>
                          <a:ea typeface="+mn-ea"/>
                          <a:cs typeface="+mn-cs"/>
                        </a:rPr>
                        <a:t>of</a:t>
                      </a:r>
                      <a:r>
                        <a:rPr kumimoji="0" lang="en-SG" sz="1100" b="1" kern="1200" dirty="0" smtClean="0">
                          <a:solidFill>
                            <a:schemeClr val="dk1"/>
                          </a:solidFill>
                          <a:effectLst/>
                          <a:latin typeface="Google Sans"/>
                          <a:ea typeface="+mn-ea"/>
                          <a:cs typeface="+mn-cs"/>
                        </a:rPr>
                        <a:t> </a:t>
                      </a:r>
                      <a:r>
                        <a:rPr kumimoji="0" lang="en-SG" sz="1100" kern="1200" dirty="0" smtClean="0">
                          <a:solidFill>
                            <a:schemeClr val="dk1"/>
                          </a:solidFill>
                          <a:effectLst/>
                          <a:latin typeface="Google Sans"/>
                          <a:ea typeface="+mn-ea"/>
                          <a:cs typeface="+mn-cs"/>
                        </a:rPr>
                        <a:t>technologies used by the application:</a:t>
                      </a:r>
                    </a:p>
                    <a:p>
                      <a:pPr lvl="0"/>
                      <a:r>
                        <a:rPr kumimoji="0" lang="en-SG" sz="1100" i="1" u="none" strike="noStrike" kern="1200" dirty="0" smtClean="0">
                          <a:solidFill>
                            <a:schemeClr val="dk1"/>
                          </a:solidFill>
                          <a:effectLst/>
                          <a:latin typeface="Google Sans"/>
                          <a:ea typeface="+mn-ea"/>
                          <a:cs typeface="+mn-cs"/>
                        </a:rPr>
                        <a:t>API,</a:t>
                      </a:r>
                      <a:r>
                        <a:rPr kumimoji="0" lang="en-SG" sz="1100" i="1" u="none" strike="noStrike" kern="1200" baseline="0" dirty="0" smtClean="0">
                          <a:solidFill>
                            <a:schemeClr val="dk1"/>
                          </a:solidFill>
                          <a:effectLst/>
                          <a:latin typeface="Google Sans"/>
                          <a:ea typeface="+mn-ea"/>
                          <a:cs typeface="+mn-cs"/>
                        </a:rPr>
                        <a:t> </a:t>
                      </a:r>
                      <a:r>
                        <a:rPr kumimoji="0" lang="en-SG" sz="1100" i="1" u="none" strike="noStrike" kern="1200" dirty="0" smtClean="0">
                          <a:solidFill>
                            <a:schemeClr val="dk1"/>
                          </a:solidFill>
                          <a:effectLst/>
                          <a:latin typeface="Google Sans"/>
                          <a:ea typeface="+mn-ea"/>
                          <a:cs typeface="+mn-cs"/>
                        </a:rPr>
                        <a:t>PKI, AES, SHA-256, </a:t>
                      </a:r>
                      <a:r>
                        <a:rPr kumimoji="0" lang="en-SG" sz="1100" i="1" u="none" strike="noStrike" kern="1200" dirty="0" smtClean="0">
                          <a:solidFill>
                            <a:schemeClr val="dk1"/>
                          </a:solidFill>
                          <a:effectLst/>
                          <a:latin typeface="Google Sans"/>
                          <a:ea typeface="+mn-ea"/>
                          <a:cs typeface="+mn-cs"/>
                        </a:rPr>
                        <a:t>SQL       </a:t>
                      </a:r>
                      <a:r>
                        <a:rPr kumimoji="0" lang="en-SG" sz="1100" i="0" u="none" strike="noStrike" kern="1200" dirty="0" smtClean="0">
                          <a:solidFill>
                            <a:schemeClr val="dk1"/>
                          </a:solidFill>
                          <a:effectLst/>
                          <a:latin typeface="Google Sans"/>
                          <a:ea typeface="+mn-ea"/>
                          <a:cs typeface="+mn-cs"/>
                        </a:rPr>
                        <a:t>Understand their dependencies</a:t>
                      </a:r>
                      <a:endParaRPr kumimoji="0" lang="en-SG" sz="1100" i="0" u="none" strike="noStrike" kern="1200" dirty="0" smtClean="0">
                        <a:solidFill>
                          <a:schemeClr val="dk1"/>
                        </a:solidFill>
                        <a:effectLst/>
                        <a:latin typeface="Google Sans"/>
                        <a:ea typeface="+mn-ea"/>
                        <a:cs typeface="+mn-cs"/>
                      </a:endParaRPr>
                    </a:p>
                    <a:p>
                      <a:r>
                        <a:rPr kumimoji="0" lang="en-SG" sz="1100" i="1" kern="1200" dirty="0" smtClean="0">
                          <a:solidFill>
                            <a:schemeClr val="dk1"/>
                          </a:solidFill>
                          <a:effectLst/>
                          <a:latin typeface="Google Sans"/>
                          <a:ea typeface="+mn-ea"/>
                          <a:cs typeface="+mn-cs"/>
                        </a:rPr>
                        <a:t> </a:t>
                      </a:r>
                      <a:endParaRPr kumimoji="0" lang="en-SG" sz="1100" kern="1200" dirty="0" smtClean="0">
                        <a:solidFill>
                          <a:schemeClr val="dk1"/>
                        </a:solidFill>
                        <a:effectLst/>
                        <a:latin typeface="Google Sans"/>
                        <a:ea typeface="+mn-ea"/>
                        <a:cs typeface="+mn-cs"/>
                      </a:endParaRPr>
                    </a:p>
                    <a:p>
                      <a:r>
                        <a:rPr kumimoji="0" lang="en-SG" sz="1100" kern="1200" dirty="0" smtClean="0">
                          <a:solidFill>
                            <a:schemeClr val="dk1"/>
                          </a:solidFill>
                          <a:effectLst/>
                          <a:latin typeface="Google Sans"/>
                          <a:ea typeface="+mn-ea"/>
                          <a:cs typeface="+mn-cs"/>
                        </a:rPr>
                        <a:t>Write </a:t>
                      </a:r>
                      <a:r>
                        <a:rPr kumimoji="0" lang="en-SG" sz="1100" b="1" kern="1200" dirty="0" smtClean="0">
                          <a:solidFill>
                            <a:schemeClr val="dk1"/>
                          </a:solidFill>
                          <a:effectLst/>
                          <a:latin typeface="Google Sans"/>
                          <a:ea typeface="+mn-ea"/>
                          <a:cs typeface="+mn-cs"/>
                        </a:rPr>
                        <a:t>2-3 sentences</a:t>
                      </a:r>
                      <a:r>
                        <a:rPr kumimoji="0" lang="en-SG" sz="1100" kern="1200" dirty="0" smtClean="0">
                          <a:solidFill>
                            <a:schemeClr val="dk1"/>
                          </a:solidFill>
                          <a:effectLst/>
                          <a:latin typeface="Google Sans"/>
                          <a:ea typeface="+mn-ea"/>
                          <a:cs typeface="+mn-cs"/>
                        </a:rPr>
                        <a:t> (40-60 words) that describe why you choose to prioritize that technology over the others.</a:t>
                      </a:r>
                      <a:endParaRPr lang="en-SG" sz="1100" dirty="0" smtClean="0">
                        <a:effectLst/>
                        <a:latin typeface="Google Sans"/>
                        <a:ea typeface="Arial"/>
                      </a:endParaRPr>
                    </a:p>
                    <a:p>
                      <a:pPr>
                        <a:lnSpc>
                          <a:spcPct val="115000"/>
                        </a:lnSpc>
                        <a:spcAft>
                          <a:spcPts val="0"/>
                        </a:spcAft>
                      </a:pPr>
                      <a:endParaRPr lang="en-SG" sz="1100" dirty="0">
                        <a:effectLst/>
                        <a:latin typeface="Arial"/>
                        <a:ea typeface="Arial"/>
                      </a:endParaRPr>
                    </a:p>
                    <a:p>
                      <a:pPr marL="0" lvl="0" indent="0">
                        <a:lnSpc>
                          <a:spcPct val="115000"/>
                        </a:lnSpc>
                        <a:spcAft>
                          <a:spcPts val="0"/>
                        </a:spcAft>
                        <a:buFont typeface="Arial"/>
                        <a:buNone/>
                      </a:pPr>
                      <a:r>
                        <a:rPr kumimoji="0" lang="en-SG" sz="1100" i="1" kern="1200" dirty="0" smtClean="0">
                          <a:solidFill>
                            <a:srgbClr val="0070C0"/>
                          </a:solidFill>
                          <a:effectLst/>
                          <a:latin typeface="Google Sans"/>
                          <a:ea typeface="+mn-ea"/>
                          <a:cs typeface="+mn-cs"/>
                        </a:rPr>
                        <a:t>APIs facilitate the exchange of data between customers, partners, and employees, so they should be prioritized. They handle a lot of sensitive data while they connect various users and systems together. However, details such as which APIs are being used should be considered before prioritizing one technology over another. So, they can be more prone to security vulnerabilities because there’s a larger attack surface.</a:t>
                      </a:r>
                      <a:endParaRPr lang="en-SG" sz="1100" u="none" strike="noStrike" dirty="0">
                        <a:solidFill>
                          <a:srgbClr val="0070C0"/>
                        </a:solidFill>
                        <a:effectLst/>
                        <a:latin typeface="Google Sans"/>
                        <a:ea typeface="Arial"/>
                      </a:endParaRP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 name="TextBox 1"/>
          <p:cNvSpPr txBox="1"/>
          <p:nvPr/>
        </p:nvSpPr>
        <p:spPr>
          <a:xfrm>
            <a:off x="323528" y="692696"/>
            <a:ext cx="8424936" cy="3893374"/>
          </a:xfrm>
          <a:prstGeom prst="rect">
            <a:avLst/>
          </a:prstGeom>
          <a:noFill/>
        </p:spPr>
        <p:txBody>
          <a:bodyPr wrap="square" rtlCol="0">
            <a:spAutoFit/>
          </a:bodyPr>
          <a:lstStyle/>
          <a:p>
            <a:r>
              <a:rPr lang="en-GB" sz="1300" dirty="0"/>
              <a:t>In Stage II, the technological scope of the project is defined. Normally, the application development team is involved in this stage because they have the most knowledge about the code base and application logic. Your responsibility as a security professional would be to evaluate the application's architecture for security risks</a:t>
            </a:r>
            <a:r>
              <a:rPr lang="en-GB" sz="1300" dirty="0" smtClean="0"/>
              <a:t>.</a:t>
            </a:r>
          </a:p>
          <a:p>
            <a:endParaRPr lang="en-GB" sz="1300" dirty="0"/>
          </a:p>
          <a:p>
            <a:r>
              <a:rPr lang="en-GB" sz="1300" dirty="0"/>
              <a:t>For example, the app will be exchanging and storing a lot of user data. These are some of the technologies that it uses</a:t>
            </a:r>
            <a:r>
              <a:rPr lang="en-GB" sz="1300" dirty="0" smtClean="0"/>
              <a:t>:</a:t>
            </a:r>
          </a:p>
          <a:p>
            <a:endParaRPr lang="en-GB" sz="1300" dirty="0"/>
          </a:p>
          <a:p>
            <a:r>
              <a:rPr lang="en-GB" sz="1300" b="1" dirty="0"/>
              <a:t>Application programming interface (API):</a:t>
            </a:r>
            <a:r>
              <a:rPr lang="en-GB" sz="1300" dirty="0"/>
              <a:t> An API is a set of rules that define how software components interact with each other. In application development, third-party APIs are commonly used to add functionality without having to program it from scratch</a:t>
            </a:r>
            <a:r>
              <a:rPr lang="en-GB" sz="1300" dirty="0" smtClean="0"/>
              <a:t>.</a:t>
            </a:r>
          </a:p>
          <a:p>
            <a:endParaRPr lang="en-GB" sz="1300" dirty="0"/>
          </a:p>
          <a:p>
            <a:r>
              <a:rPr lang="en-GB" sz="1300" b="1" dirty="0"/>
              <a:t>Public key infrastructure (PKI):</a:t>
            </a:r>
            <a:r>
              <a:rPr lang="en-GB" sz="1300" dirty="0"/>
              <a:t> PKI is an encryption framework that secures the exchange of online information. The mobile app uses a combination of symmetric and asymmetric encryption algorithms: AES and RSA. AES encryption is used to encrypt sensitive data, such as credit card information. RSA encryption is used to exchange keys between the app and a user's device</a:t>
            </a:r>
            <a:r>
              <a:rPr lang="en-GB" sz="1300" dirty="0" smtClean="0"/>
              <a:t>.</a:t>
            </a:r>
          </a:p>
          <a:p>
            <a:endParaRPr lang="en-GB" sz="1300" dirty="0"/>
          </a:p>
          <a:p>
            <a:r>
              <a:rPr lang="en-GB" sz="1300" b="1" dirty="0"/>
              <a:t>SHA-256:</a:t>
            </a:r>
            <a:r>
              <a:rPr lang="en-GB" sz="1300" dirty="0"/>
              <a:t> SHA-256 is a commonly used hash function that takes an input of any length and produces a digest of 256 bits. The sneaker app will use SHA-256 to protect sensitive user data, like passwords and credit card numbers</a:t>
            </a:r>
            <a:r>
              <a:rPr lang="en-GB" sz="1300" dirty="0" smtClean="0"/>
              <a:t>.</a:t>
            </a:r>
          </a:p>
          <a:p>
            <a:endParaRPr lang="en-GB" sz="1300" dirty="0"/>
          </a:p>
          <a:p>
            <a:r>
              <a:rPr lang="en-GB" sz="1300" b="1" dirty="0"/>
              <a:t>Structured query language (SQL):</a:t>
            </a:r>
            <a:r>
              <a:rPr lang="en-GB" sz="1300" dirty="0"/>
              <a:t> SQL is a programming language used to create, interact with, and request information from a database. For example, the mobile app uses SQL to store information about the sneakers that are for sale, as well as the sellers who are selling them. It also  uses SQL to access that data during a purchase.</a:t>
            </a:r>
          </a:p>
        </p:txBody>
      </p:sp>
      <p:cxnSp>
        <p:nvCxnSpPr>
          <p:cNvPr id="8" name="Straight Arrow Connector 7"/>
          <p:cNvCxnSpPr/>
          <p:nvPr/>
        </p:nvCxnSpPr>
        <p:spPr>
          <a:xfrm>
            <a:off x="3275856" y="5085184"/>
            <a:ext cx="14401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3347864" y="5250260"/>
            <a:ext cx="144016"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51991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851538741"/>
              </p:ext>
            </p:extLst>
          </p:nvPr>
        </p:nvGraphicFramePr>
        <p:xfrm>
          <a:off x="287524" y="4420161"/>
          <a:ext cx="8568952" cy="2214055"/>
        </p:xfrm>
        <a:graphic>
          <a:graphicData uri="http://schemas.openxmlformats.org/drawingml/2006/table">
            <a:tbl>
              <a:tblPr>
                <a:tableStyleId>{5C22544A-7EE6-4342-B048-85BDC9FD1C3A}</a:tableStyleId>
              </a:tblPr>
              <a:tblGrid>
                <a:gridCol w="1980220"/>
                <a:gridCol w="6588732"/>
              </a:tblGrid>
              <a:tr h="314609">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1862582">
                <a:tc>
                  <a:txBody>
                    <a:bodyPr/>
                    <a:lstStyle/>
                    <a:p>
                      <a:pPr>
                        <a:lnSpc>
                          <a:spcPct val="115000"/>
                        </a:lnSpc>
                        <a:spcAft>
                          <a:spcPts val="0"/>
                        </a:spcAft>
                      </a:pPr>
                      <a:r>
                        <a:rPr lang="en-SG" sz="1200" b="1" dirty="0" smtClean="0">
                          <a:effectLst/>
                          <a:latin typeface="Google Sans"/>
                          <a:ea typeface="Google Sans"/>
                          <a:cs typeface="Google Sans"/>
                        </a:rPr>
                        <a:t>III. </a:t>
                      </a:r>
                      <a:r>
                        <a:rPr lang="en-SG" sz="1200" b="1" dirty="0" smtClean="0">
                          <a:effectLst/>
                          <a:latin typeface="Google Sans"/>
                          <a:ea typeface="Google Sans"/>
                          <a:cs typeface="Google Sans"/>
                        </a:rPr>
                        <a:t>Decompose </a:t>
                      </a:r>
                      <a:r>
                        <a:rPr lang="en-SG" sz="1200" b="1" dirty="0" smtClean="0">
                          <a:effectLst/>
                          <a:latin typeface="Google Sans"/>
                          <a:ea typeface="Google Sans"/>
                          <a:cs typeface="Google Sans"/>
                        </a:rPr>
                        <a:t>application</a:t>
                      </a:r>
                    </a:p>
                    <a:p>
                      <a:pPr>
                        <a:lnSpc>
                          <a:spcPct val="115000"/>
                        </a:lnSpc>
                        <a:spcAft>
                          <a:spcPts val="0"/>
                        </a:spcAft>
                      </a:pPr>
                      <a:endParaRPr lang="en-SG" sz="1200" b="1" dirty="0" smtClean="0">
                        <a:effectLst/>
                        <a:latin typeface="Google Sans"/>
                        <a:ea typeface="Google Sans"/>
                        <a:cs typeface="Google Sans"/>
                      </a:endParaRPr>
                    </a:p>
                    <a:p>
                      <a:pPr>
                        <a:lnSpc>
                          <a:spcPct val="115000"/>
                        </a:lnSpc>
                        <a:spcAft>
                          <a:spcPts val="0"/>
                        </a:spcAft>
                      </a:pPr>
                      <a:r>
                        <a:rPr lang="en-GB" sz="1200" b="0" i="1" dirty="0" smtClean="0">
                          <a:effectLst/>
                          <a:latin typeface="+mn-lt"/>
                          <a:ea typeface="Google Sans"/>
                          <a:cs typeface="Google Sans"/>
                        </a:rPr>
                        <a:t>The objective is to </a:t>
                      </a:r>
                      <a:r>
                        <a:rPr lang="en-GB" sz="1200" b="0" i="1" dirty="0" err="1" smtClean="0">
                          <a:effectLst/>
                          <a:latin typeface="+mn-lt"/>
                          <a:ea typeface="Google Sans"/>
                          <a:cs typeface="Google Sans"/>
                        </a:rPr>
                        <a:t>analyze</a:t>
                      </a:r>
                      <a:r>
                        <a:rPr lang="en-GB" sz="1200" b="0" i="1" dirty="0" smtClean="0">
                          <a:effectLst/>
                          <a:latin typeface="+mn-lt"/>
                          <a:ea typeface="Google Sans"/>
                          <a:cs typeface="Google Sans"/>
                        </a:rPr>
                        <a:t> how the application is handling information. Here, each process is broken down.</a:t>
                      </a:r>
                      <a:endParaRPr lang="en-SG" sz="1200" b="0" dirty="0" smtClean="0">
                        <a:effectLst/>
                        <a:latin typeface="+mn-lt"/>
                        <a:ea typeface="Google Sans"/>
                        <a:cs typeface="Google Sans"/>
                      </a:endParaRPr>
                    </a:p>
                  </a:txBody>
                  <a:tcPr marL="63500" marR="63500" marT="63500" marB="63500"/>
                </a:tc>
                <a:tc>
                  <a:txBody>
                    <a:bodyPr/>
                    <a:lstStyle/>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The sample data flow diagram shows how a typical search request passes through multiple layers.</a:t>
                      </a:r>
                    </a:p>
                    <a:p>
                      <a:pPr marL="0" lvl="0" indent="0">
                        <a:lnSpc>
                          <a:spcPct val="115000"/>
                        </a:lnSpc>
                        <a:spcAft>
                          <a:spcPts val="0"/>
                        </a:spcAft>
                        <a:buFont typeface="Arial"/>
                        <a:buNone/>
                      </a:pPr>
                      <a:endParaRPr kumimoji="0" lang="en-GB" sz="1100" i="1" kern="1200" dirty="0" smtClean="0">
                        <a:solidFill>
                          <a:srgbClr val="0070C0"/>
                        </a:solidFill>
                        <a:effectLst/>
                        <a:latin typeface="Google Sans"/>
                        <a:ea typeface="+mn-ea"/>
                        <a:cs typeface="+mn-cs"/>
                      </a:endParaRP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One of the app's processes might be to allow buyers to search the database for shoes that are for sale.</a:t>
                      </a:r>
                    </a:p>
                    <a:p>
                      <a:pPr marL="0" marR="0" lvl="0" indent="0" algn="l" defTabSz="914400" rtl="0" eaLnBrk="1" fontAlgn="auto" latinLnBrk="0" hangingPunct="1">
                        <a:lnSpc>
                          <a:spcPct val="115000"/>
                        </a:lnSpc>
                        <a:spcBef>
                          <a:spcPts val="0"/>
                        </a:spcBef>
                        <a:spcAft>
                          <a:spcPts val="0"/>
                        </a:spcAft>
                        <a:buClrTx/>
                        <a:buSzTx/>
                        <a:buFont typeface="Arial"/>
                        <a:buNone/>
                        <a:tabLst/>
                        <a:defRPr/>
                      </a:pPr>
                      <a:r>
                        <a:rPr kumimoji="0" lang="en-GB" sz="1100" i="1" kern="1200" dirty="0" smtClean="0">
                          <a:solidFill>
                            <a:srgbClr val="0070C0"/>
                          </a:solidFill>
                          <a:effectLst/>
                          <a:latin typeface="Google Sans"/>
                          <a:ea typeface="+mn-ea"/>
                          <a:cs typeface="+mn-cs"/>
                        </a:rPr>
                        <a:t>Hence, to review here ensuring the MySQL database is using prepared statements when queries are input.</a:t>
                      </a: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 </a:t>
                      </a:r>
                      <a:endParaRPr lang="en-SG" sz="1100" u="none" strike="noStrike" dirty="0">
                        <a:solidFill>
                          <a:srgbClr val="0070C0"/>
                        </a:solidFill>
                        <a:effectLst/>
                        <a:latin typeface="Google Sans"/>
                        <a:ea typeface="Arial"/>
                      </a:endParaRP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grpSp>
        <p:nvGrpSpPr>
          <p:cNvPr id="7" name="Group 6"/>
          <p:cNvGrpSpPr/>
          <p:nvPr/>
        </p:nvGrpSpPr>
        <p:grpSpPr>
          <a:xfrm>
            <a:off x="605901" y="974842"/>
            <a:ext cx="7848603" cy="2893619"/>
            <a:chOff x="650375" y="438350"/>
            <a:chExt cx="7848603" cy="2893619"/>
          </a:xfrm>
        </p:grpSpPr>
        <p:sp>
          <p:nvSpPr>
            <p:cNvPr id="8" name="Google Shape;54;p13"/>
            <p:cNvSpPr txBox="1"/>
            <p:nvPr/>
          </p:nvSpPr>
          <p:spPr>
            <a:xfrm>
              <a:off x="1413725" y="438350"/>
              <a:ext cx="6317100" cy="431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a:latin typeface="Google Sans"/>
                  <a:ea typeface="Google Sans"/>
                  <a:cs typeface="Google Sans"/>
                  <a:sym typeface="Google Sans"/>
                </a:rPr>
                <a:t>Data flow diagram</a:t>
              </a:r>
              <a:endParaRPr sz="1600" b="1">
                <a:latin typeface="Google Sans"/>
                <a:ea typeface="Google Sans"/>
                <a:cs typeface="Google Sans"/>
                <a:sym typeface="Google Sans"/>
              </a:endParaRPr>
            </a:p>
          </p:txBody>
        </p:sp>
        <p:grpSp>
          <p:nvGrpSpPr>
            <p:cNvPr id="9" name="Google Shape;55;p13"/>
            <p:cNvGrpSpPr/>
            <p:nvPr/>
          </p:nvGrpSpPr>
          <p:grpSpPr>
            <a:xfrm>
              <a:off x="655218" y="2086236"/>
              <a:ext cx="1068406" cy="1056954"/>
              <a:chOff x="1331500" y="1622600"/>
              <a:chExt cx="1343400" cy="1329000"/>
            </a:xfrm>
          </p:grpSpPr>
          <p:sp>
            <p:nvSpPr>
              <p:cNvPr id="22" name="Google Shape;56;p13"/>
              <p:cNvSpPr/>
              <p:nvPr/>
            </p:nvSpPr>
            <p:spPr>
              <a:xfrm>
                <a:off x="1331500" y="1622600"/>
                <a:ext cx="1343400" cy="13290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7;p13"/>
              <p:cNvSpPr txBox="1"/>
              <p:nvPr/>
            </p:nvSpPr>
            <p:spPr>
              <a:xfrm>
                <a:off x="1331500" y="2079813"/>
                <a:ext cx="1343400" cy="5031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a:latin typeface="Google Sans"/>
                    <a:ea typeface="Google Sans"/>
                    <a:cs typeface="Google Sans"/>
                    <a:sym typeface="Google Sans"/>
                  </a:rPr>
                  <a:t>User</a:t>
                </a:r>
                <a:endParaRPr b="1">
                  <a:latin typeface="Google Sans"/>
                  <a:ea typeface="Google Sans"/>
                  <a:cs typeface="Google Sans"/>
                  <a:sym typeface="Google Sans"/>
                </a:endParaRPr>
              </a:p>
            </p:txBody>
          </p:sp>
        </p:grpSp>
        <p:grpSp>
          <p:nvGrpSpPr>
            <p:cNvPr id="10" name="Google Shape;58;p13"/>
            <p:cNvGrpSpPr/>
            <p:nvPr/>
          </p:nvGrpSpPr>
          <p:grpSpPr>
            <a:xfrm>
              <a:off x="7387180" y="2043263"/>
              <a:ext cx="1111798" cy="1099880"/>
              <a:chOff x="6387150" y="1714475"/>
              <a:chExt cx="1343400" cy="1329000"/>
            </a:xfrm>
          </p:grpSpPr>
          <p:sp>
            <p:nvSpPr>
              <p:cNvPr id="20" name="Google Shape;59;p13"/>
              <p:cNvSpPr/>
              <p:nvPr/>
            </p:nvSpPr>
            <p:spPr>
              <a:xfrm>
                <a:off x="6387150" y="1714475"/>
                <a:ext cx="1343400" cy="1329000"/>
              </a:xfrm>
              <a:prstGeom prst="flowChartAlternateProcess">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0;p13"/>
              <p:cNvSpPr txBox="1"/>
              <p:nvPr/>
            </p:nvSpPr>
            <p:spPr>
              <a:xfrm>
                <a:off x="6387150" y="2171688"/>
                <a:ext cx="1343400" cy="52061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600" b="1" dirty="0">
                    <a:latin typeface="Google Sans"/>
                    <a:ea typeface="Google Sans"/>
                    <a:cs typeface="Google Sans"/>
                    <a:sym typeface="Google Sans"/>
                  </a:rPr>
                  <a:t>Database</a:t>
                </a:r>
                <a:endParaRPr sz="1600" b="1" dirty="0">
                  <a:latin typeface="Google Sans"/>
                  <a:ea typeface="Google Sans"/>
                  <a:cs typeface="Google Sans"/>
                  <a:sym typeface="Google Sans"/>
                </a:endParaRPr>
              </a:p>
            </p:txBody>
          </p:sp>
        </p:grpSp>
        <p:sp>
          <p:nvSpPr>
            <p:cNvPr id="11" name="Google Shape;61;p13"/>
            <p:cNvSpPr/>
            <p:nvPr/>
          </p:nvSpPr>
          <p:spPr>
            <a:xfrm>
              <a:off x="3786953" y="1811569"/>
              <a:ext cx="1536900" cy="15204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62;p13"/>
            <p:cNvSpPr txBox="1"/>
            <p:nvPr/>
          </p:nvSpPr>
          <p:spPr>
            <a:xfrm>
              <a:off x="3786953" y="2100420"/>
              <a:ext cx="15369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b="1" dirty="0">
                  <a:latin typeface="Google Sans"/>
                  <a:ea typeface="Google Sans"/>
                  <a:cs typeface="Google Sans"/>
                  <a:sym typeface="Google Sans"/>
                </a:rPr>
                <a:t>Product search</a:t>
              </a:r>
              <a:endParaRPr b="1" dirty="0">
                <a:latin typeface="Google Sans"/>
                <a:ea typeface="Google Sans"/>
                <a:cs typeface="Google Sans"/>
                <a:sym typeface="Google Sans"/>
              </a:endParaRPr>
            </a:p>
            <a:p>
              <a:pPr marL="0" lvl="0" indent="0" algn="ctr" rtl="0">
                <a:spcBef>
                  <a:spcPts val="0"/>
                </a:spcBef>
                <a:spcAft>
                  <a:spcPts val="0"/>
                </a:spcAft>
                <a:buNone/>
              </a:pPr>
              <a:r>
                <a:rPr lang="en" b="1" dirty="0">
                  <a:latin typeface="Google Sans"/>
                  <a:ea typeface="Google Sans"/>
                  <a:cs typeface="Google Sans"/>
                  <a:sym typeface="Google Sans"/>
                </a:rPr>
                <a:t>process</a:t>
              </a:r>
              <a:endParaRPr b="1" dirty="0">
                <a:latin typeface="Google Sans"/>
                <a:ea typeface="Google Sans"/>
                <a:cs typeface="Google Sans"/>
                <a:sym typeface="Google Sans"/>
              </a:endParaRPr>
            </a:p>
          </p:txBody>
        </p:sp>
        <p:sp>
          <p:nvSpPr>
            <p:cNvPr id="13" name="Google Shape;63;p13"/>
            <p:cNvSpPr txBox="1"/>
            <p:nvPr/>
          </p:nvSpPr>
          <p:spPr>
            <a:xfrm>
              <a:off x="650375" y="869450"/>
              <a:ext cx="7843800" cy="615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dirty="0"/>
                <a:t> </a:t>
              </a:r>
              <a:r>
                <a:rPr lang="en" b="1" dirty="0">
                  <a:latin typeface="Google Sans"/>
                  <a:ea typeface="Google Sans"/>
                  <a:cs typeface="Google Sans"/>
                  <a:sym typeface="Google Sans"/>
                </a:rPr>
                <a:t>Note: </a:t>
              </a:r>
              <a:r>
                <a:rPr lang="en" dirty="0">
                  <a:latin typeface="Google Sans"/>
                  <a:ea typeface="Google Sans"/>
                  <a:cs typeface="Google Sans"/>
                  <a:sym typeface="Google Sans"/>
                </a:rPr>
                <a:t>This data flow diagram represents a single process. Data flow diagrams for an application like this are normally much more complex.</a:t>
              </a:r>
              <a:endParaRPr dirty="0">
                <a:latin typeface="Google Sans"/>
                <a:ea typeface="Google Sans"/>
                <a:cs typeface="Google Sans"/>
                <a:sym typeface="Google Sans"/>
              </a:endParaRPr>
            </a:p>
          </p:txBody>
        </p:sp>
        <p:cxnSp>
          <p:nvCxnSpPr>
            <p:cNvPr id="14" name="Google Shape;64;p13"/>
            <p:cNvCxnSpPr/>
            <p:nvPr/>
          </p:nvCxnSpPr>
          <p:spPr>
            <a:xfrm>
              <a:off x="1916063" y="2339263"/>
              <a:ext cx="1629600" cy="0"/>
            </a:xfrm>
            <a:prstGeom prst="straightConnector1">
              <a:avLst/>
            </a:prstGeom>
            <a:noFill/>
            <a:ln w="9525" cap="flat" cmpd="sng">
              <a:solidFill>
                <a:schemeClr val="dk2"/>
              </a:solidFill>
              <a:prstDash val="solid"/>
              <a:round/>
              <a:headEnd type="none" w="med" len="med"/>
              <a:tailEnd type="triangle" w="med" len="med"/>
            </a:ln>
          </p:spPr>
        </p:cxnSp>
        <p:cxnSp>
          <p:nvCxnSpPr>
            <p:cNvPr id="15" name="Google Shape;65;p13"/>
            <p:cNvCxnSpPr/>
            <p:nvPr/>
          </p:nvCxnSpPr>
          <p:spPr>
            <a:xfrm>
              <a:off x="5540788" y="2339263"/>
              <a:ext cx="1629600" cy="0"/>
            </a:xfrm>
            <a:prstGeom prst="straightConnector1">
              <a:avLst/>
            </a:prstGeom>
            <a:noFill/>
            <a:ln w="9525" cap="flat" cmpd="sng">
              <a:solidFill>
                <a:schemeClr val="dk2"/>
              </a:solidFill>
              <a:prstDash val="solid"/>
              <a:round/>
              <a:headEnd type="none" w="med" len="med"/>
              <a:tailEnd type="triangle" w="med" len="med"/>
            </a:ln>
          </p:spPr>
        </p:cxnSp>
        <p:cxnSp>
          <p:nvCxnSpPr>
            <p:cNvPr id="16" name="Google Shape;66;p13"/>
            <p:cNvCxnSpPr/>
            <p:nvPr/>
          </p:nvCxnSpPr>
          <p:spPr>
            <a:xfrm rot="10800000">
              <a:off x="1940488" y="2958988"/>
              <a:ext cx="1629600" cy="0"/>
            </a:xfrm>
            <a:prstGeom prst="straightConnector1">
              <a:avLst/>
            </a:prstGeom>
            <a:noFill/>
            <a:ln w="9525" cap="flat" cmpd="sng">
              <a:solidFill>
                <a:schemeClr val="dk2"/>
              </a:solidFill>
              <a:prstDash val="solid"/>
              <a:round/>
              <a:headEnd type="none" w="med" len="med"/>
              <a:tailEnd type="triangle" w="med" len="med"/>
            </a:ln>
          </p:spPr>
        </p:cxnSp>
        <p:cxnSp>
          <p:nvCxnSpPr>
            <p:cNvPr id="17" name="Google Shape;67;p13"/>
            <p:cNvCxnSpPr/>
            <p:nvPr/>
          </p:nvCxnSpPr>
          <p:spPr>
            <a:xfrm rot="10800000">
              <a:off x="5540788" y="2958988"/>
              <a:ext cx="1629600" cy="0"/>
            </a:xfrm>
            <a:prstGeom prst="straightConnector1">
              <a:avLst/>
            </a:prstGeom>
            <a:noFill/>
            <a:ln w="9525" cap="flat" cmpd="sng">
              <a:solidFill>
                <a:schemeClr val="dk2"/>
              </a:solidFill>
              <a:prstDash val="solid"/>
              <a:round/>
              <a:headEnd type="none" w="med" len="med"/>
              <a:tailEnd type="triangle" w="med" len="med"/>
            </a:ln>
          </p:spPr>
        </p:cxnSp>
        <p:sp>
          <p:nvSpPr>
            <p:cNvPr id="18" name="Google Shape;68;p13"/>
            <p:cNvSpPr txBox="1"/>
            <p:nvPr/>
          </p:nvSpPr>
          <p:spPr>
            <a:xfrm>
              <a:off x="1940475" y="2348993"/>
              <a:ext cx="16296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400" dirty="0">
                  <a:latin typeface="Google Sans"/>
                  <a:ea typeface="Google Sans"/>
                  <a:cs typeface="Google Sans"/>
                  <a:sym typeface="Google Sans"/>
                </a:rPr>
                <a:t>Searching for sneakers for sale.</a:t>
              </a:r>
              <a:endParaRPr sz="1400" dirty="0">
                <a:latin typeface="Google Sans"/>
                <a:ea typeface="Google Sans"/>
                <a:cs typeface="Google Sans"/>
                <a:sym typeface="Google Sans"/>
              </a:endParaRPr>
            </a:p>
          </p:txBody>
        </p:sp>
        <p:sp>
          <p:nvSpPr>
            <p:cNvPr id="19" name="Google Shape;69;p13"/>
            <p:cNvSpPr txBox="1"/>
            <p:nvPr/>
          </p:nvSpPr>
          <p:spPr>
            <a:xfrm>
              <a:off x="5540788" y="2343400"/>
              <a:ext cx="1846500" cy="61552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400" dirty="0">
                  <a:latin typeface="Google Sans"/>
                  <a:ea typeface="Google Sans"/>
                  <a:cs typeface="Google Sans"/>
                  <a:sym typeface="Google Sans"/>
                </a:rPr>
                <a:t>Listings of current inventory.</a:t>
              </a:r>
              <a:endParaRPr sz="1400" dirty="0">
                <a:latin typeface="Google Sans"/>
                <a:ea typeface="Google Sans"/>
                <a:cs typeface="Google Sans"/>
                <a:sym typeface="Google Sans"/>
              </a:endParaRPr>
            </a:p>
          </p:txBody>
        </p:sp>
      </p:grpSp>
    </p:spTree>
    <p:extLst>
      <p:ext uri="{BB962C8B-B14F-4D97-AF65-F5344CB8AC3E}">
        <p14:creationId xmlns:p14="http://schemas.microsoft.com/office/powerpoint/2010/main" val="9757842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277246022"/>
              </p:ext>
            </p:extLst>
          </p:nvPr>
        </p:nvGraphicFramePr>
        <p:xfrm>
          <a:off x="323528" y="2170502"/>
          <a:ext cx="8568952" cy="2117471"/>
        </p:xfrm>
        <a:graphic>
          <a:graphicData uri="http://schemas.openxmlformats.org/drawingml/2006/table">
            <a:tbl>
              <a:tblPr>
                <a:tableStyleId>{5C22544A-7EE6-4342-B048-85BDC9FD1C3A}</a:tableStyleId>
              </a:tblPr>
              <a:tblGrid>
                <a:gridCol w="1476164"/>
                <a:gridCol w="7092788"/>
              </a:tblGrid>
              <a:tr h="306961">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1493239">
                <a:tc>
                  <a:txBody>
                    <a:bodyPr/>
                    <a:lstStyle/>
                    <a:p>
                      <a:pPr>
                        <a:lnSpc>
                          <a:spcPct val="115000"/>
                        </a:lnSpc>
                        <a:spcAft>
                          <a:spcPts val="0"/>
                        </a:spcAft>
                      </a:pPr>
                      <a:r>
                        <a:rPr lang="en-SG" sz="1200" b="1" dirty="0">
                          <a:effectLst/>
                          <a:latin typeface="Google Sans"/>
                          <a:ea typeface="Google Sans"/>
                          <a:cs typeface="Google Sans"/>
                        </a:rPr>
                        <a:t>IV. Threat analysis</a:t>
                      </a:r>
                      <a:endParaRPr lang="en-SG" sz="1100" dirty="0">
                        <a:effectLst/>
                        <a:latin typeface="Arial"/>
                        <a:ea typeface="Arial"/>
                      </a:endParaRPr>
                    </a:p>
                  </a:txBody>
                  <a:tcPr marL="63500" marR="63500" marT="63500" marB="63500"/>
                </a:tc>
                <a:tc>
                  <a:txBody>
                    <a:bodyPr/>
                    <a:lstStyle/>
                    <a:p>
                      <a:r>
                        <a:rPr kumimoji="0" lang="en-GB" sz="1100" kern="1200" dirty="0" smtClean="0">
                          <a:solidFill>
                            <a:schemeClr val="dk1"/>
                          </a:solidFill>
                          <a:effectLst/>
                          <a:latin typeface="Google Sans"/>
                          <a:ea typeface="+mn-ea"/>
                          <a:cs typeface="+mn-cs"/>
                        </a:rPr>
                        <a:t>List 2 types of threats in the PASTA worksheet that are risks to the information being handled by the application.</a:t>
                      </a:r>
                    </a:p>
                    <a:p>
                      <a:r>
                        <a:rPr kumimoji="0" lang="en-GB" sz="1100" kern="1200" dirty="0" smtClean="0">
                          <a:solidFill>
                            <a:schemeClr val="dk1"/>
                          </a:solidFill>
                          <a:effectLst/>
                          <a:latin typeface="Google Sans"/>
                          <a:ea typeface="+mn-ea"/>
                          <a:cs typeface="+mn-cs"/>
                        </a:rPr>
                        <a:t>●</a:t>
                      </a:r>
                      <a:r>
                        <a:rPr kumimoji="0" lang="en-GB" sz="1100" kern="1200" baseline="0" dirty="0" smtClean="0">
                          <a:solidFill>
                            <a:schemeClr val="dk1"/>
                          </a:solidFill>
                          <a:effectLst/>
                          <a:latin typeface="Google Sans"/>
                          <a:ea typeface="+mn-ea"/>
                          <a:cs typeface="+mn-cs"/>
                        </a:rPr>
                        <a:t> </a:t>
                      </a:r>
                      <a:r>
                        <a:rPr kumimoji="0" lang="en-GB" sz="1100" kern="1200" dirty="0" smtClean="0">
                          <a:solidFill>
                            <a:schemeClr val="dk1"/>
                          </a:solidFill>
                          <a:effectLst/>
                          <a:latin typeface="Google Sans"/>
                          <a:ea typeface="+mn-ea"/>
                          <a:cs typeface="+mn-cs"/>
                        </a:rPr>
                        <a:t>What are the internal threats?</a:t>
                      </a:r>
                    </a:p>
                    <a:p>
                      <a:r>
                        <a:rPr kumimoji="0" lang="en-GB" sz="1100" kern="1200" dirty="0" smtClean="0">
                          <a:solidFill>
                            <a:schemeClr val="dk1"/>
                          </a:solidFill>
                          <a:effectLst/>
                          <a:latin typeface="Google Sans"/>
                          <a:ea typeface="+mn-ea"/>
                          <a:cs typeface="+mn-cs"/>
                        </a:rPr>
                        <a:t>●</a:t>
                      </a:r>
                      <a:r>
                        <a:rPr kumimoji="0" lang="en-GB" sz="1100" kern="1200" baseline="0" dirty="0" smtClean="0">
                          <a:solidFill>
                            <a:schemeClr val="dk1"/>
                          </a:solidFill>
                          <a:effectLst/>
                          <a:latin typeface="Google Sans"/>
                          <a:ea typeface="+mn-ea"/>
                          <a:cs typeface="+mn-cs"/>
                        </a:rPr>
                        <a:t> </a:t>
                      </a:r>
                      <a:r>
                        <a:rPr kumimoji="0" lang="en-GB" sz="1100" kern="1200" dirty="0" smtClean="0">
                          <a:solidFill>
                            <a:schemeClr val="dk1"/>
                          </a:solidFill>
                          <a:effectLst/>
                          <a:latin typeface="Google Sans"/>
                          <a:ea typeface="+mn-ea"/>
                          <a:cs typeface="+mn-cs"/>
                        </a:rPr>
                        <a:t>What are the external threats?</a:t>
                      </a:r>
                    </a:p>
                    <a:p>
                      <a:endParaRPr kumimoji="0" lang="en-GB" sz="1100" kern="1200" dirty="0" smtClean="0">
                        <a:solidFill>
                          <a:schemeClr val="dk1"/>
                        </a:solidFill>
                        <a:effectLst/>
                        <a:latin typeface="Google Sans"/>
                        <a:ea typeface="+mn-ea"/>
                        <a:cs typeface="+mn-cs"/>
                      </a:endParaRP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 Injection attacks are common for SQL databases</a:t>
                      </a: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a:t>
                      </a:r>
                      <a:r>
                        <a:rPr kumimoji="0" lang="en-GB" sz="1100" i="1" kern="1200" baseline="0" dirty="0" smtClean="0">
                          <a:solidFill>
                            <a:srgbClr val="0070C0"/>
                          </a:solidFill>
                          <a:effectLst/>
                          <a:latin typeface="Google Sans"/>
                          <a:ea typeface="+mn-ea"/>
                          <a:cs typeface="+mn-cs"/>
                        </a:rPr>
                        <a:t> </a:t>
                      </a:r>
                      <a:r>
                        <a:rPr kumimoji="0" lang="en-GB" sz="1100" i="1" kern="1200" dirty="0" smtClean="0">
                          <a:solidFill>
                            <a:srgbClr val="0070C0"/>
                          </a:solidFill>
                          <a:effectLst/>
                          <a:latin typeface="Google Sans"/>
                          <a:ea typeface="+mn-ea"/>
                          <a:cs typeface="+mn-cs"/>
                        </a:rPr>
                        <a:t>Session hijacking is possible because the app communicates cookies between multiple layers</a:t>
                      </a:r>
                    </a:p>
                    <a:p>
                      <a:pPr marL="0" lvl="0" indent="0">
                        <a:lnSpc>
                          <a:spcPct val="115000"/>
                        </a:lnSpc>
                        <a:spcAft>
                          <a:spcPts val="0"/>
                        </a:spcAft>
                        <a:buFont typeface="Arial"/>
                        <a:buNone/>
                      </a:pPr>
                      <a:endParaRPr kumimoji="0" lang="en-GB" sz="1100" i="1" kern="1200" dirty="0" smtClean="0">
                        <a:solidFill>
                          <a:srgbClr val="0070C0"/>
                        </a:solidFill>
                        <a:effectLst/>
                        <a:latin typeface="Google Sans"/>
                        <a:ea typeface="+mn-ea"/>
                        <a:cs typeface="+mn-cs"/>
                      </a:endParaRP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Apps authentication system could be attacked with</a:t>
                      </a:r>
                      <a:r>
                        <a:rPr kumimoji="0" lang="en-GB" sz="1100" i="1" kern="1200" baseline="0" dirty="0" smtClean="0">
                          <a:solidFill>
                            <a:srgbClr val="0070C0"/>
                          </a:solidFill>
                          <a:effectLst/>
                          <a:latin typeface="Google Sans"/>
                          <a:ea typeface="+mn-ea"/>
                          <a:cs typeface="+mn-cs"/>
                        </a:rPr>
                        <a:t> </a:t>
                      </a:r>
                      <a:r>
                        <a:rPr kumimoji="0" lang="en-GB" sz="1100" i="1" kern="1200" dirty="0" smtClean="0">
                          <a:solidFill>
                            <a:srgbClr val="0070C0"/>
                          </a:solidFill>
                          <a:effectLst/>
                          <a:latin typeface="Google Sans"/>
                          <a:ea typeface="+mn-ea"/>
                          <a:cs typeface="+mn-cs"/>
                        </a:rPr>
                        <a:t>a virus.</a:t>
                      </a: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Authentication could also be attacked if a threat actor social engineers an employee.</a:t>
                      </a: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 name="TextBox 23"/>
          <p:cNvSpPr txBox="1"/>
          <p:nvPr/>
        </p:nvSpPr>
        <p:spPr>
          <a:xfrm>
            <a:off x="323528" y="976749"/>
            <a:ext cx="8424936" cy="954107"/>
          </a:xfrm>
          <a:prstGeom prst="rect">
            <a:avLst/>
          </a:prstGeom>
          <a:noFill/>
        </p:spPr>
        <p:txBody>
          <a:bodyPr wrap="square" rtlCol="0">
            <a:spAutoFit/>
          </a:bodyPr>
          <a:lstStyle/>
          <a:p>
            <a:r>
              <a:rPr lang="en-GB" sz="1400" dirty="0"/>
              <a:t>Stage IV is about identifying potential threats to the application. This includes threats to the technologies you listed in Stage II. It also concerns the processes of your data flow diagram from Stage III</a:t>
            </a:r>
            <a:r>
              <a:rPr lang="en-GB" sz="1400" dirty="0" smtClean="0"/>
              <a:t>.</a:t>
            </a:r>
          </a:p>
          <a:p>
            <a:endParaRPr lang="en-GB" sz="1400" dirty="0"/>
          </a:p>
          <a:p>
            <a:r>
              <a:rPr lang="en-GB" sz="1400" b="1" i="1" dirty="0"/>
              <a:t>Pro tip: </a:t>
            </a:r>
            <a:r>
              <a:rPr lang="en-GB" sz="1400" i="1" dirty="0"/>
              <a:t>Internal system logs that you will use as a security analyst are good sources of threat </a:t>
            </a:r>
            <a:r>
              <a:rPr lang="en-GB" sz="1400" i="1" dirty="0" smtClean="0"/>
              <a:t>intel</a:t>
            </a:r>
            <a:endParaRPr lang="en-GB" sz="1400" dirty="0"/>
          </a:p>
        </p:txBody>
      </p:sp>
    </p:spTree>
    <p:extLst>
      <p:ext uri="{BB962C8B-B14F-4D97-AF65-F5344CB8AC3E}">
        <p14:creationId xmlns:p14="http://schemas.microsoft.com/office/powerpoint/2010/main" val="276641714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881332905"/>
              </p:ext>
            </p:extLst>
          </p:nvPr>
        </p:nvGraphicFramePr>
        <p:xfrm>
          <a:off x="251520" y="1988840"/>
          <a:ext cx="8568952" cy="2477897"/>
        </p:xfrm>
        <a:graphic>
          <a:graphicData uri="http://schemas.openxmlformats.org/drawingml/2006/table">
            <a:tbl>
              <a:tblPr>
                <a:tableStyleId>{5C22544A-7EE6-4342-B048-85BDC9FD1C3A}</a:tableStyleId>
              </a:tblPr>
              <a:tblGrid>
                <a:gridCol w="1476164"/>
                <a:gridCol w="7092788"/>
              </a:tblGrid>
              <a:tr h="306961">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1493239">
                <a:tc>
                  <a:txBody>
                    <a:bodyPr/>
                    <a:lstStyle/>
                    <a:p>
                      <a:pPr>
                        <a:lnSpc>
                          <a:spcPct val="115000"/>
                        </a:lnSpc>
                        <a:spcAft>
                          <a:spcPts val="0"/>
                        </a:spcAft>
                      </a:pPr>
                      <a:r>
                        <a:rPr lang="en-SG" sz="1200" b="1" dirty="0" smtClean="0">
                          <a:effectLst/>
                          <a:latin typeface="Google Sans"/>
                          <a:ea typeface="Google Sans"/>
                          <a:cs typeface="Google Sans"/>
                        </a:rPr>
                        <a:t>V. Vulnerability analysis</a:t>
                      </a:r>
                      <a:endParaRPr lang="en-SG" sz="1100" dirty="0">
                        <a:effectLst/>
                        <a:latin typeface="Arial"/>
                        <a:ea typeface="Arial"/>
                      </a:endParaRPr>
                    </a:p>
                  </a:txBody>
                  <a:tcPr marL="63500" marR="63500" marT="63500" marB="63500"/>
                </a:tc>
                <a:tc>
                  <a:txBody>
                    <a:bodyPr/>
                    <a:lstStyle/>
                    <a:p>
                      <a:r>
                        <a:rPr kumimoji="0" lang="en-GB" sz="1100" kern="1200" dirty="0" smtClean="0">
                          <a:solidFill>
                            <a:schemeClr val="dk1"/>
                          </a:solidFill>
                          <a:effectLst/>
                          <a:latin typeface="Google Sans"/>
                          <a:ea typeface="+mn-ea"/>
                          <a:cs typeface="+mn-cs"/>
                        </a:rPr>
                        <a:t>List 2 vulnerabilities in the PASTA worksheet that could be exploited.</a:t>
                      </a:r>
                    </a:p>
                    <a:p>
                      <a:r>
                        <a:rPr kumimoji="0" lang="en-GB" sz="1100" kern="1200" dirty="0" smtClean="0">
                          <a:solidFill>
                            <a:schemeClr val="dk1"/>
                          </a:solidFill>
                          <a:effectLst/>
                          <a:latin typeface="Google Sans"/>
                          <a:ea typeface="+mn-ea"/>
                          <a:cs typeface="+mn-cs"/>
                        </a:rPr>
                        <a:t>●</a:t>
                      </a:r>
                      <a:r>
                        <a:rPr kumimoji="0" lang="en-GB" sz="1100" kern="1200" baseline="0" dirty="0" smtClean="0">
                          <a:solidFill>
                            <a:schemeClr val="dk1"/>
                          </a:solidFill>
                          <a:effectLst/>
                          <a:latin typeface="Google Sans"/>
                          <a:ea typeface="+mn-ea"/>
                          <a:cs typeface="+mn-cs"/>
                        </a:rPr>
                        <a:t> </a:t>
                      </a:r>
                      <a:r>
                        <a:rPr kumimoji="0" lang="en-GB" sz="1100" kern="1200" dirty="0" smtClean="0">
                          <a:solidFill>
                            <a:schemeClr val="dk1"/>
                          </a:solidFill>
                          <a:effectLst/>
                          <a:latin typeface="Google Sans"/>
                          <a:ea typeface="+mn-ea"/>
                          <a:cs typeface="+mn-cs"/>
                        </a:rPr>
                        <a:t>Could there be things wrong with the codebase?</a:t>
                      </a:r>
                    </a:p>
                    <a:p>
                      <a:r>
                        <a:rPr kumimoji="0" lang="en-GB" sz="1100" kern="1200" dirty="0" smtClean="0">
                          <a:solidFill>
                            <a:schemeClr val="dk1"/>
                          </a:solidFill>
                          <a:effectLst/>
                          <a:latin typeface="Google Sans"/>
                          <a:ea typeface="+mn-ea"/>
                          <a:cs typeface="+mn-cs"/>
                        </a:rPr>
                        <a:t>●</a:t>
                      </a:r>
                      <a:r>
                        <a:rPr kumimoji="0" lang="en-GB" sz="1100" kern="1200" baseline="0" dirty="0" smtClean="0">
                          <a:solidFill>
                            <a:schemeClr val="dk1"/>
                          </a:solidFill>
                          <a:effectLst/>
                          <a:latin typeface="Google Sans"/>
                          <a:ea typeface="+mn-ea"/>
                          <a:cs typeface="+mn-cs"/>
                        </a:rPr>
                        <a:t> </a:t>
                      </a:r>
                      <a:r>
                        <a:rPr kumimoji="0" lang="en-GB" sz="1100" kern="1200" dirty="0" smtClean="0">
                          <a:solidFill>
                            <a:schemeClr val="dk1"/>
                          </a:solidFill>
                          <a:effectLst/>
                          <a:latin typeface="Google Sans"/>
                          <a:ea typeface="+mn-ea"/>
                          <a:cs typeface="+mn-cs"/>
                        </a:rPr>
                        <a:t>Could there be weaknesses in the database?</a:t>
                      </a:r>
                    </a:p>
                    <a:p>
                      <a:r>
                        <a:rPr kumimoji="0" lang="en-GB" sz="1100" kern="1200" dirty="0" smtClean="0">
                          <a:solidFill>
                            <a:schemeClr val="dk1"/>
                          </a:solidFill>
                          <a:effectLst/>
                          <a:latin typeface="Google Sans"/>
                          <a:ea typeface="+mn-ea"/>
                          <a:cs typeface="+mn-cs"/>
                        </a:rPr>
                        <a:t>●</a:t>
                      </a:r>
                      <a:r>
                        <a:rPr kumimoji="0" lang="en-GB" sz="1100" kern="1200" baseline="0" dirty="0" smtClean="0">
                          <a:solidFill>
                            <a:schemeClr val="dk1"/>
                          </a:solidFill>
                          <a:effectLst/>
                          <a:latin typeface="Google Sans"/>
                          <a:ea typeface="+mn-ea"/>
                          <a:cs typeface="+mn-cs"/>
                        </a:rPr>
                        <a:t> </a:t>
                      </a:r>
                      <a:r>
                        <a:rPr kumimoji="0" lang="en-GB" sz="1100" kern="1200" dirty="0" smtClean="0">
                          <a:solidFill>
                            <a:schemeClr val="dk1"/>
                          </a:solidFill>
                          <a:effectLst/>
                          <a:latin typeface="Google Sans"/>
                          <a:ea typeface="+mn-ea"/>
                          <a:cs typeface="+mn-cs"/>
                        </a:rPr>
                        <a:t>Could there be flaws in the network?</a:t>
                      </a:r>
                    </a:p>
                    <a:p>
                      <a:endParaRPr kumimoji="0" lang="en-GB" sz="1100" kern="1200" dirty="0" smtClean="0">
                        <a:solidFill>
                          <a:schemeClr val="dk1"/>
                        </a:solidFill>
                        <a:effectLst/>
                        <a:latin typeface="Google Sans"/>
                        <a:ea typeface="+mn-ea"/>
                        <a:cs typeface="+mn-cs"/>
                      </a:endParaRPr>
                    </a:p>
                    <a:p>
                      <a:pPr marL="0" marR="0" lvl="0" indent="0" algn="l" defTabSz="914400" rtl="0" eaLnBrk="1" fontAlgn="auto" latinLnBrk="0" hangingPunct="1">
                        <a:lnSpc>
                          <a:spcPct val="115000"/>
                        </a:lnSpc>
                        <a:spcBef>
                          <a:spcPts val="0"/>
                        </a:spcBef>
                        <a:spcAft>
                          <a:spcPts val="0"/>
                        </a:spcAft>
                        <a:buClrTx/>
                        <a:buSzTx/>
                        <a:buFont typeface="Arial"/>
                        <a:buNone/>
                        <a:tabLst/>
                        <a:defRPr/>
                      </a:pPr>
                      <a:r>
                        <a:rPr kumimoji="0" lang="en-GB" sz="1100" i="1" kern="1200" dirty="0" smtClean="0">
                          <a:solidFill>
                            <a:srgbClr val="0070C0"/>
                          </a:solidFill>
                          <a:effectLst/>
                          <a:latin typeface="Google Sans"/>
                          <a:ea typeface="+mn-ea"/>
                          <a:cs typeface="+mn-cs"/>
                        </a:rPr>
                        <a:t>The app will use a payment system. The form used to collect credit card information might be vulnerable if it fails to encrypt data.</a:t>
                      </a:r>
                    </a:p>
                    <a:p>
                      <a:pPr marL="0" lvl="0" indent="0">
                        <a:lnSpc>
                          <a:spcPct val="115000"/>
                        </a:lnSpc>
                        <a:spcAft>
                          <a:spcPts val="0"/>
                        </a:spcAft>
                        <a:buFont typeface="Arial"/>
                        <a:buNone/>
                      </a:pPr>
                      <a:endParaRPr kumimoji="0" lang="en-GB" sz="1100" i="1" kern="1200" baseline="0" dirty="0" smtClean="0">
                        <a:solidFill>
                          <a:srgbClr val="0070C0"/>
                        </a:solidFill>
                        <a:effectLst/>
                        <a:latin typeface="Google Sans"/>
                        <a:ea typeface="+mn-ea"/>
                        <a:cs typeface="+mn-cs"/>
                      </a:endParaRP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a:t>
                      </a:r>
                      <a:r>
                        <a:rPr kumimoji="0" lang="en-GB" sz="1100" i="1" kern="1200" baseline="0" dirty="0" smtClean="0">
                          <a:solidFill>
                            <a:srgbClr val="0070C0"/>
                          </a:solidFill>
                          <a:effectLst/>
                          <a:latin typeface="Google Sans"/>
                          <a:ea typeface="+mn-ea"/>
                          <a:cs typeface="+mn-cs"/>
                        </a:rPr>
                        <a:t> </a:t>
                      </a:r>
                      <a:r>
                        <a:rPr kumimoji="0" lang="en-GB" sz="1100" i="1" kern="1200" dirty="0" smtClean="0">
                          <a:solidFill>
                            <a:srgbClr val="0070C0"/>
                          </a:solidFill>
                          <a:effectLst/>
                          <a:latin typeface="Google Sans"/>
                          <a:ea typeface="+mn-ea"/>
                          <a:cs typeface="+mn-cs"/>
                        </a:rPr>
                        <a:t>Lack of prepared statements can make our SQL database vulnerable to injection attacks</a:t>
                      </a: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a:t>
                      </a:r>
                      <a:r>
                        <a:rPr kumimoji="0" lang="en-GB" sz="1100" i="1" kern="1200" baseline="0" dirty="0" smtClean="0">
                          <a:solidFill>
                            <a:srgbClr val="0070C0"/>
                          </a:solidFill>
                          <a:effectLst/>
                          <a:latin typeface="Google Sans"/>
                          <a:ea typeface="+mn-ea"/>
                          <a:cs typeface="+mn-cs"/>
                        </a:rPr>
                        <a:t> </a:t>
                      </a:r>
                      <a:r>
                        <a:rPr kumimoji="0" lang="en-GB" sz="1100" i="1" kern="1200" dirty="0" smtClean="0">
                          <a:solidFill>
                            <a:srgbClr val="0070C0"/>
                          </a:solidFill>
                          <a:effectLst/>
                          <a:latin typeface="Google Sans"/>
                          <a:ea typeface="+mn-ea"/>
                          <a:cs typeface="+mn-cs"/>
                        </a:rPr>
                        <a:t>Broken API token</a:t>
                      </a:r>
                    </a:p>
                    <a:p>
                      <a:pPr marL="0" lvl="0" indent="0">
                        <a:lnSpc>
                          <a:spcPct val="115000"/>
                        </a:lnSpc>
                        <a:spcAft>
                          <a:spcPts val="0"/>
                        </a:spcAft>
                        <a:buFont typeface="Arial"/>
                        <a:buNone/>
                      </a:pPr>
                      <a:r>
                        <a:rPr kumimoji="0" lang="en-GB" sz="1100" i="1" kern="1200" dirty="0" smtClean="0">
                          <a:solidFill>
                            <a:srgbClr val="0070C0"/>
                          </a:solidFill>
                          <a:effectLst/>
                          <a:latin typeface="Google Sans"/>
                          <a:ea typeface="+mn-ea"/>
                          <a:cs typeface="+mn-cs"/>
                        </a:rPr>
                        <a:t>● Session hijacking is possible if cookies are mishandled between input and output sources.</a:t>
                      </a: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 name="TextBox 23"/>
          <p:cNvSpPr txBox="1"/>
          <p:nvPr/>
        </p:nvSpPr>
        <p:spPr>
          <a:xfrm>
            <a:off x="323528" y="976749"/>
            <a:ext cx="8424936" cy="738664"/>
          </a:xfrm>
          <a:prstGeom prst="rect">
            <a:avLst/>
          </a:prstGeom>
          <a:noFill/>
        </p:spPr>
        <p:txBody>
          <a:bodyPr wrap="square" rtlCol="0">
            <a:spAutoFit/>
          </a:bodyPr>
          <a:lstStyle/>
          <a:p>
            <a:r>
              <a:rPr lang="en-GB" sz="1400" dirty="0"/>
              <a:t>Here, you need to consider the attack surface of the technologies listed in Stage II</a:t>
            </a:r>
            <a:r>
              <a:rPr lang="en-GB" sz="1400" dirty="0" smtClean="0"/>
              <a:t>.</a:t>
            </a:r>
          </a:p>
          <a:p>
            <a:endParaRPr lang="en-GB" sz="1400" dirty="0"/>
          </a:p>
          <a:p>
            <a:r>
              <a:rPr lang="en-GB" sz="1400" b="1" i="1" dirty="0"/>
              <a:t>Pro tip: </a:t>
            </a:r>
            <a:r>
              <a:rPr lang="en-GB" sz="1400" i="1" dirty="0"/>
              <a:t>Resources like the CVE® list and OWASP are useful for finding common software vulnerabilities.</a:t>
            </a:r>
            <a:endParaRPr lang="en-GB" sz="1400" dirty="0"/>
          </a:p>
        </p:txBody>
      </p:sp>
    </p:spTree>
    <p:extLst>
      <p:ext uri="{BB962C8B-B14F-4D97-AF65-F5344CB8AC3E}">
        <p14:creationId xmlns:p14="http://schemas.microsoft.com/office/powerpoint/2010/main" val="372244976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3591084945"/>
              </p:ext>
            </p:extLst>
          </p:nvPr>
        </p:nvGraphicFramePr>
        <p:xfrm>
          <a:off x="287524" y="1484784"/>
          <a:ext cx="8568952" cy="4745923"/>
        </p:xfrm>
        <a:graphic>
          <a:graphicData uri="http://schemas.openxmlformats.org/drawingml/2006/table">
            <a:tbl>
              <a:tblPr>
                <a:tableStyleId>{5C22544A-7EE6-4342-B048-85BDC9FD1C3A}</a:tableStyleId>
              </a:tblPr>
              <a:tblGrid>
                <a:gridCol w="1476164"/>
                <a:gridCol w="7092788"/>
              </a:tblGrid>
              <a:tr h="947261">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3798662">
                <a:tc>
                  <a:txBody>
                    <a:bodyPr/>
                    <a:lstStyle/>
                    <a:p>
                      <a:pPr>
                        <a:lnSpc>
                          <a:spcPct val="115000"/>
                        </a:lnSpc>
                        <a:spcAft>
                          <a:spcPts val="0"/>
                        </a:spcAft>
                      </a:pPr>
                      <a:r>
                        <a:rPr lang="en-SG" sz="1200" b="1" dirty="0" smtClean="0">
                          <a:effectLst/>
                          <a:latin typeface="Google Sans"/>
                          <a:ea typeface="Google Sans"/>
                          <a:cs typeface="Google Sans"/>
                        </a:rPr>
                        <a:t>VI. Attack </a:t>
                      </a:r>
                      <a:r>
                        <a:rPr lang="en-SG" sz="1200" b="1" dirty="0" err="1" smtClean="0">
                          <a:effectLst/>
                          <a:latin typeface="Google Sans"/>
                          <a:ea typeface="Google Sans"/>
                          <a:cs typeface="Google Sans"/>
                        </a:rPr>
                        <a:t>modeling</a:t>
                      </a:r>
                      <a:endParaRPr lang="en-SG" sz="1100" dirty="0">
                        <a:effectLst/>
                        <a:latin typeface="Arial"/>
                        <a:ea typeface="Arial"/>
                      </a:endParaRPr>
                    </a:p>
                  </a:txBody>
                  <a:tcPr marL="63500" marR="63500" marT="63500" marB="63500"/>
                </a:tc>
                <a:tc>
                  <a:txBody>
                    <a:bodyPr/>
                    <a:lstStyle/>
                    <a:p>
                      <a:endParaRPr kumimoji="0" lang="en-GB" sz="1100" i="1" kern="1200" dirty="0" smtClean="0">
                        <a:solidFill>
                          <a:srgbClr val="0070C0"/>
                        </a:solidFill>
                        <a:effectLst/>
                        <a:latin typeface="Google Sans"/>
                        <a:ea typeface="+mn-ea"/>
                        <a:cs typeface="+mn-cs"/>
                      </a:endParaRP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 name="TextBox 23"/>
          <p:cNvSpPr txBox="1"/>
          <p:nvPr/>
        </p:nvSpPr>
        <p:spPr>
          <a:xfrm>
            <a:off x="323528" y="976749"/>
            <a:ext cx="8424936" cy="523220"/>
          </a:xfrm>
          <a:prstGeom prst="rect">
            <a:avLst/>
          </a:prstGeom>
          <a:noFill/>
        </p:spPr>
        <p:txBody>
          <a:bodyPr wrap="square" rtlCol="0">
            <a:spAutoFit/>
          </a:bodyPr>
          <a:lstStyle/>
          <a:p>
            <a:r>
              <a:rPr lang="en-GB" sz="1400" dirty="0"/>
              <a:t>In Stage VI of PASTA, the information gathered in the previous two steps are used to build an attack tree</a:t>
            </a:r>
            <a:r>
              <a:rPr lang="en-GB" sz="1400" dirty="0" smtClean="0"/>
              <a:t>. (link </a:t>
            </a:r>
            <a:r>
              <a:rPr lang="en-GB" sz="1400" dirty="0"/>
              <a:t>the threats and </a:t>
            </a:r>
            <a:r>
              <a:rPr lang="en-GB" sz="1400" dirty="0" smtClean="0"/>
              <a:t>vulnerabilities to assets)</a:t>
            </a:r>
            <a:endParaRPr lang="en-GB" sz="1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52663" y="2708919"/>
            <a:ext cx="6114455" cy="33055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821416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p:cNvGraphicFramePr>
            <a:graphicFrameLocks noGrp="1"/>
          </p:cNvGraphicFramePr>
          <p:nvPr>
            <p:extLst>
              <p:ext uri="{D42A27DB-BD31-4B8C-83A1-F6EECF244321}">
                <p14:modId xmlns:p14="http://schemas.microsoft.com/office/powerpoint/2010/main" val="4265754368"/>
              </p:ext>
            </p:extLst>
          </p:nvPr>
        </p:nvGraphicFramePr>
        <p:xfrm>
          <a:off x="323528" y="1442098"/>
          <a:ext cx="8568952" cy="1865603"/>
        </p:xfrm>
        <a:graphic>
          <a:graphicData uri="http://schemas.openxmlformats.org/drawingml/2006/table">
            <a:tbl>
              <a:tblPr>
                <a:tableStyleId>{5C22544A-7EE6-4342-B048-85BDC9FD1C3A}</a:tableStyleId>
              </a:tblPr>
              <a:tblGrid>
                <a:gridCol w="1476164"/>
                <a:gridCol w="7092788"/>
              </a:tblGrid>
              <a:tr h="306961">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Stages</a:t>
                      </a:r>
                      <a:endParaRPr lang="en-SG" sz="1400" b="1" dirty="0">
                        <a:solidFill>
                          <a:srgbClr val="434343"/>
                        </a:solidFill>
                        <a:effectLst/>
                        <a:latin typeface="Arial"/>
                      </a:endParaRPr>
                    </a:p>
                  </a:txBody>
                  <a:tcPr marL="63500" marR="63500" marT="63500" marB="63500" anchor="ctr"/>
                </a:tc>
                <a:tc>
                  <a:txBody>
                    <a:bodyPr/>
                    <a:lstStyle/>
                    <a:p>
                      <a:pPr>
                        <a:lnSpc>
                          <a:spcPct val="115000"/>
                        </a:lnSpc>
                        <a:spcBef>
                          <a:spcPts val="1600"/>
                        </a:spcBef>
                        <a:spcAft>
                          <a:spcPts val="400"/>
                        </a:spcAft>
                      </a:pPr>
                      <a:r>
                        <a:rPr lang="en-SG" sz="1400" b="1" dirty="0">
                          <a:solidFill>
                            <a:srgbClr val="434343"/>
                          </a:solidFill>
                          <a:effectLst/>
                          <a:latin typeface="Google Sans"/>
                          <a:ea typeface="Google Sans"/>
                          <a:cs typeface="Google Sans"/>
                        </a:rPr>
                        <a:t>Sneaker company</a:t>
                      </a:r>
                      <a:endParaRPr lang="en-SG" sz="1400" b="1" dirty="0">
                        <a:solidFill>
                          <a:srgbClr val="434343"/>
                        </a:solidFill>
                        <a:effectLst/>
                        <a:latin typeface="Arial"/>
                      </a:endParaRPr>
                    </a:p>
                  </a:txBody>
                  <a:tcPr marL="63500" marR="63500" marT="63500" marB="63500" anchor="ctr"/>
                </a:tc>
              </a:tr>
              <a:tr h="1493239">
                <a:tc>
                  <a:txBody>
                    <a:bodyPr/>
                    <a:lstStyle/>
                    <a:p>
                      <a:pPr>
                        <a:lnSpc>
                          <a:spcPct val="115000"/>
                        </a:lnSpc>
                        <a:spcAft>
                          <a:spcPts val="0"/>
                        </a:spcAft>
                      </a:pPr>
                      <a:r>
                        <a:rPr lang="en-GB" sz="1200" b="1" dirty="0" smtClean="0">
                          <a:effectLst/>
                          <a:latin typeface="Google Sans"/>
                          <a:ea typeface="Google Sans"/>
                          <a:cs typeface="Google Sans"/>
                        </a:rPr>
                        <a:t>VII. Risk analysis and impact</a:t>
                      </a:r>
                      <a:endParaRPr lang="en-SG" sz="1100" dirty="0">
                        <a:effectLst/>
                        <a:latin typeface="Arial"/>
                        <a:ea typeface="Arial"/>
                      </a:endParaRPr>
                    </a:p>
                  </a:txBody>
                  <a:tcPr marL="63500" marR="63500" marT="63500" marB="63500"/>
                </a:tc>
                <a:tc>
                  <a:txBody>
                    <a:bodyPr/>
                    <a:lstStyle/>
                    <a:p>
                      <a:r>
                        <a:rPr kumimoji="0" lang="en-GB" sz="1100" kern="1200" dirty="0" smtClean="0">
                          <a:solidFill>
                            <a:schemeClr val="dk1"/>
                          </a:solidFill>
                          <a:effectLst/>
                          <a:latin typeface="Google Sans"/>
                          <a:ea typeface="+mn-ea"/>
                          <a:cs typeface="+mn-cs"/>
                        </a:rPr>
                        <a:t>List 4 security controls that you’ve learned about that can reduce risk.</a:t>
                      </a:r>
                    </a:p>
                    <a:p>
                      <a:endParaRPr kumimoji="0" lang="en-GB" sz="1100" kern="1200" dirty="0" smtClean="0">
                        <a:solidFill>
                          <a:schemeClr val="dk1"/>
                        </a:solidFill>
                        <a:effectLst/>
                        <a:latin typeface="Google Sans"/>
                        <a:ea typeface="+mn-ea"/>
                        <a:cs typeface="+mn-cs"/>
                      </a:endParaRPr>
                    </a:p>
                    <a:p>
                      <a:pPr marL="0" marR="0" lvl="0" indent="0" algn="l" defTabSz="914400" rtl="0" eaLnBrk="1" fontAlgn="auto" latinLnBrk="0" hangingPunct="1">
                        <a:lnSpc>
                          <a:spcPct val="115000"/>
                        </a:lnSpc>
                        <a:spcBef>
                          <a:spcPts val="0"/>
                        </a:spcBef>
                        <a:spcAft>
                          <a:spcPts val="0"/>
                        </a:spcAft>
                        <a:buClrTx/>
                        <a:buSzTx/>
                        <a:buFont typeface="Arial"/>
                        <a:buNone/>
                        <a:tabLst/>
                        <a:defRPr/>
                      </a:pPr>
                      <a:r>
                        <a:rPr kumimoji="0" lang="en-GB" sz="1100" i="1" kern="1200" dirty="0" smtClean="0">
                          <a:solidFill>
                            <a:srgbClr val="0070C0"/>
                          </a:solidFill>
                          <a:effectLst/>
                          <a:latin typeface="Google Sans"/>
                          <a:ea typeface="+mn-ea"/>
                          <a:cs typeface="+mn-cs"/>
                        </a:rPr>
                        <a:t>SHA-256, incident response procedures, password policy, principle of least privilege</a:t>
                      </a:r>
                    </a:p>
                  </a:txBody>
                  <a:tcPr marL="63500" marR="63500" marT="63500" marB="63500"/>
                </a:tc>
              </a:tr>
            </a:tbl>
          </a:graphicData>
        </a:graphic>
      </p:graphicFrame>
      <p:sp>
        <p:nvSpPr>
          <p:cNvPr id="4" name="Rectangle 1"/>
          <p:cNvSpPr>
            <a:spLocks noChangeArrowheads="1"/>
          </p:cNvSpPr>
          <p:nvPr/>
        </p:nvSpPr>
        <p:spPr bwMode="auto">
          <a:xfrm>
            <a:off x="395536" y="112258"/>
            <a:ext cx="1701813" cy="753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28528" rIns="91440" bIns="0" numCol="1" anchor="ctr" anchorCtr="0" compatLnSpc="1">
            <a:prstTxWarp prst="textNoShape">
              <a:avLst/>
            </a:prstTxWarp>
            <a:spAutoFit/>
          </a:bodyPr>
          <a:lstStyle/>
          <a:p>
            <a:r>
              <a:rPr lang="en-SG" sz="1600" b="1" dirty="0"/>
              <a:t>PASTA worksheet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5" name="Rectangle 2"/>
          <p:cNvSpPr>
            <a:spLocks noChangeArrowheads="1"/>
          </p:cNvSpPr>
          <p:nvPr/>
        </p:nvSpPr>
        <p:spPr bwMode="auto">
          <a:xfrm>
            <a:off x="179512" y="631473"/>
            <a:ext cx="8784976" cy="45719"/>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SG"/>
          </a:p>
        </p:txBody>
      </p:sp>
      <p:sp>
        <p:nvSpPr>
          <p:cNvPr id="6" name="Rectangle 3"/>
          <p:cNvSpPr>
            <a:spLocks noChangeArrowheads="1"/>
          </p:cNvSpPr>
          <p:nvPr/>
        </p:nvSpPr>
        <p:spPr bwMode="auto">
          <a:xfrm>
            <a:off x="2252663" y="191770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4" name="TextBox 23"/>
          <p:cNvSpPr txBox="1"/>
          <p:nvPr/>
        </p:nvSpPr>
        <p:spPr>
          <a:xfrm>
            <a:off x="323528" y="976749"/>
            <a:ext cx="8424936" cy="307777"/>
          </a:xfrm>
          <a:prstGeom prst="rect">
            <a:avLst/>
          </a:prstGeom>
          <a:noFill/>
        </p:spPr>
        <p:txBody>
          <a:bodyPr wrap="square" rtlCol="0">
            <a:spAutoFit/>
          </a:bodyPr>
          <a:lstStyle/>
          <a:p>
            <a:r>
              <a:rPr lang="en-GB" sz="1400" dirty="0"/>
              <a:t>T</a:t>
            </a:r>
            <a:r>
              <a:rPr lang="en-GB" sz="1400" dirty="0" smtClean="0"/>
              <a:t>he </a:t>
            </a:r>
            <a:r>
              <a:rPr lang="en-GB" sz="1400" dirty="0"/>
              <a:t>final goal is to implement </a:t>
            </a:r>
            <a:r>
              <a:rPr lang="en-GB" sz="1400" dirty="0" err="1"/>
              <a:t>defenses</a:t>
            </a:r>
            <a:r>
              <a:rPr lang="en-GB" sz="1400" dirty="0"/>
              <a:t> and safeguards that mitigate threats.</a:t>
            </a:r>
            <a:endParaRPr lang="en-GB" sz="1400" dirty="0" smtClean="0"/>
          </a:p>
        </p:txBody>
      </p:sp>
    </p:spTree>
    <p:extLst>
      <p:ext uri="{BB962C8B-B14F-4D97-AF65-F5344CB8AC3E}">
        <p14:creationId xmlns:p14="http://schemas.microsoft.com/office/powerpoint/2010/main" val="154303843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2.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607</TotalTime>
  <Words>1146</Words>
  <Application>Microsoft Office PowerPoint</Application>
  <PresentationFormat>On-screen Show (4:3)</PresentationFormat>
  <Paragraphs>109</Paragraphs>
  <Slides>8</Slides>
  <Notes>0</Notes>
  <HiddenSlides>0</HiddenSlides>
  <MMClips>0</MMClip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Executive</vt:lpstr>
      <vt:lpstr>Equity</vt:lpstr>
      <vt:lpstr>Scenario</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dc:creator>ZhiQian Chua</dc:creator>
  <cp:lastModifiedBy>ZhiQian Chua</cp:lastModifiedBy>
  <cp:revision>43</cp:revision>
  <dcterms:created xsi:type="dcterms:W3CDTF">2026-04-11T03:58:54Z</dcterms:created>
  <dcterms:modified xsi:type="dcterms:W3CDTF">2026-05-23T05:03:54Z</dcterms:modified>
</cp:coreProperties>
</file>