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Default Extension="fntdata" ContentType="application/x-fontdata"/>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0" r:id="rId1"/>
  </p:sldMasterIdLst>
  <p:notesMasterIdLst>
    <p:notesMasterId r:id="rId6"/>
  </p:notesMasterIdLst>
  <p:sldIdLst>
    <p:sldId id="259" r:id="rId2"/>
    <p:sldId id="260" r:id="rId3"/>
    <p:sldId id="256" r:id="rId4"/>
    <p:sldId id="257" r:id="rId5"/>
  </p:sldIdLst>
  <p:sldSz cx="9144000" cy="5143500" type="screen16x9"/>
  <p:notesSz cx="6858000" cy="9144000"/>
  <p:embeddedFontLst>
    <p:embeddedFont>
      <p:font typeface="Google Sans" panose="020B0604020202020204" charset="0"/>
      <p:regular r:id="rId7"/>
      <p:bold r:id="rId8"/>
      <p:italic r:id="rId9"/>
      <p:boldItalic r:id="rId10"/>
    </p:embeddedFont>
    <p:embeddedFont>
      <p:font typeface="Century Gothic" panose="020B0502020202020204" pitchFamily="34" charset="0"/>
      <p:regular r:id="rId11"/>
      <p:bold r:id="rId12"/>
      <p:italic r:id="rId13"/>
      <p:boldItalic r:id="rId14"/>
    </p:embeddedFont>
    <p:embeddedFont>
      <p:font typeface="Roboto" panose="020B0604020202020204" charset="0"/>
      <p:regular r:id="rId15"/>
      <p:bold r:id="rId16"/>
      <p:italic r:id="rId17"/>
      <p:boldItalic r:id="rId18"/>
    </p:embeddedFont>
    <p:embeddedFont>
      <p:font typeface="Palatino Linotype" panose="02040502050505030304" pitchFamily="18" charset="0"/>
      <p:regular r:id="rId19"/>
      <p:bold r:id="rId20"/>
      <p:italic r:id="rId21"/>
      <p:boldItalic r:id="rId22"/>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p:scale>
          <a:sx n="156" d="100"/>
          <a:sy n="156" d="100"/>
        </p:scale>
        <p:origin x="-372"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font" Target="fonts/font2.fntdata"/><Relationship Id="rId13" Type="http://schemas.openxmlformats.org/officeDocument/2006/relationships/font" Target="fonts/font7.fntdata"/><Relationship Id="rId18" Type="http://schemas.openxmlformats.org/officeDocument/2006/relationships/font" Target="fonts/font12.fntdata"/><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font" Target="fonts/font15.fntdata"/><Relationship Id="rId7" Type="http://schemas.openxmlformats.org/officeDocument/2006/relationships/font" Target="fonts/font1.fntdata"/><Relationship Id="rId12" Type="http://schemas.openxmlformats.org/officeDocument/2006/relationships/font" Target="fonts/font6.fntdata"/><Relationship Id="rId17" Type="http://schemas.openxmlformats.org/officeDocument/2006/relationships/font" Target="fonts/font11.fntdata"/><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font" Target="fonts/font10.fntdata"/><Relationship Id="rId20" Type="http://schemas.openxmlformats.org/officeDocument/2006/relationships/font" Target="fonts/font14.fntdata"/><Relationship Id="rId1" Type="http://schemas.openxmlformats.org/officeDocument/2006/relationships/slideMaster" Target="slideMasters/slideMaster1.xml"/><Relationship Id="rId6" Type="http://schemas.openxmlformats.org/officeDocument/2006/relationships/notesMaster" Target="notesMasters/notesMaster1.xml"/><Relationship Id="rId11" Type="http://schemas.openxmlformats.org/officeDocument/2006/relationships/font" Target="fonts/font5.fntdata"/><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font" Target="fonts/font9.fntdata"/><Relationship Id="rId23" Type="http://schemas.openxmlformats.org/officeDocument/2006/relationships/presProps" Target="presProps.xml"/><Relationship Id="rId10" Type="http://schemas.openxmlformats.org/officeDocument/2006/relationships/font" Target="fonts/font4.fntdata"/><Relationship Id="rId19" Type="http://schemas.openxmlformats.org/officeDocument/2006/relationships/font" Target="fonts/font13.fntdata"/><Relationship Id="rId4" Type="http://schemas.openxmlformats.org/officeDocument/2006/relationships/slide" Target="slides/slide3.xml"/><Relationship Id="rId9" Type="http://schemas.openxmlformats.org/officeDocument/2006/relationships/font" Target="fonts/font3.fntdata"/><Relationship Id="rId14" Type="http://schemas.openxmlformats.org/officeDocument/2006/relationships/font" Target="fonts/font8.fntdata"/><Relationship Id="rId22" Type="http://schemas.openxmlformats.org/officeDocument/2006/relationships/font" Target="fonts/font16.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extLst>
      <p:ext uri="{BB962C8B-B14F-4D97-AF65-F5344CB8AC3E}">
        <p14:creationId xmlns:p14="http://schemas.microsoft.com/office/powerpoint/2010/main" val="147824339"/>
      </p:ext>
    </p:extLst>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g19419f719b3_0_33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g19419f719b3_0_334: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1e118e9c685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1e118e9c685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457201"/>
            <a:ext cx="7772400" cy="3200400"/>
          </a:xfrm>
        </p:spPr>
        <p:txBody>
          <a:bodyPr anchor="b">
            <a:noAutofit/>
          </a:bodyPr>
          <a:lstStyle>
            <a:lvl1pPr>
              <a:lnSpc>
                <a:spcPct val="100000"/>
              </a:lnSpc>
              <a:defRPr sz="8000"/>
            </a:lvl1pPr>
          </a:lstStyle>
          <a:p>
            <a:r>
              <a:rPr lang="en-US" smtClean="0"/>
              <a:t>Click to edit Master title style</a:t>
            </a:r>
            <a:endParaRPr lang="en-US" dirty="0"/>
          </a:p>
        </p:txBody>
      </p:sp>
      <p:sp>
        <p:nvSpPr>
          <p:cNvPr id="3" name="Subtitle 2"/>
          <p:cNvSpPr>
            <a:spLocks noGrp="1"/>
          </p:cNvSpPr>
          <p:nvPr>
            <p:ph type="subTitle" idx="1"/>
          </p:nvPr>
        </p:nvSpPr>
        <p:spPr>
          <a:xfrm>
            <a:off x="1371600" y="3714750"/>
            <a:ext cx="6400800" cy="914400"/>
          </a:xfrm>
        </p:spPr>
        <p:txBody>
          <a:bodyPr>
            <a:normAutofit/>
          </a:bodyPr>
          <a:lstStyle>
            <a:lvl1pPr marL="0" indent="0" algn="ctr">
              <a:buNone/>
              <a:defRPr sz="2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dirty="0"/>
          </a:p>
        </p:txBody>
      </p:sp>
      <p:sp>
        <p:nvSpPr>
          <p:cNvPr id="7" name="Date Placeholder 6"/>
          <p:cNvSpPr>
            <a:spLocks noGrp="1"/>
          </p:cNvSpPr>
          <p:nvPr>
            <p:ph type="dt" sz="half" idx="10"/>
          </p:nvPr>
        </p:nvSpPr>
        <p:spPr/>
        <p:txBody>
          <a:bodyPr/>
          <a:lstStyle/>
          <a:p>
            <a:fld id="{216C5678-EE20-4FA5-88E2-6E0BD67A2E26}" type="datetime1">
              <a:rPr lang="en-US" smtClean="0"/>
              <a:t>5/28/2026</a:t>
            </a:fld>
            <a:endParaRPr lang="en-US" dirty="0"/>
          </a:p>
        </p:txBody>
      </p:sp>
      <p:sp>
        <p:nvSpPr>
          <p:cNvPr id="8" name="Slide Number Placeholder 7"/>
          <p:cNvSpPr>
            <a:spLocks noGrp="1"/>
          </p:cNvSpPr>
          <p:nvPr>
            <p:ph type="sldNum" sz="quarter" idx="11"/>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Footer Placeholder 8"/>
          <p:cNvSpPr>
            <a:spLocks noGrp="1"/>
          </p:cNvSpPr>
          <p:nvPr>
            <p:ph type="ftr" sz="quarter" idx="12"/>
          </p:nvPr>
        </p:nvSpPr>
        <p:spPr/>
        <p:txBody>
          <a:bodyPr/>
          <a:lstStyle/>
          <a:p>
            <a:r>
              <a:rPr lang="en-US" smtClean="0"/>
              <a:t>Footer Text</a:t>
            </a:r>
            <a:endParaRPr lang="en-US" dirty="0"/>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lvl5pPr>
              <a:defRPr/>
            </a:lvl5pPr>
            <a:lvl6pPr>
              <a:defRPr/>
            </a:lvl6pPr>
            <a:lvl7pPr>
              <a:defRPr/>
            </a:lvl7pPr>
            <a:lvl8pPr>
              <a:defRPr/>
            </a:lvl8pPr>
            <a:lvl9pPr>
              <a:buFont typeface="Arial" pitchFamily="34" charset="0"/>
              <a:buChar char="•"/>
              <a:defRPr/>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10"/>
          </p:nvPr>
        </p:nvSpPr>
        <p:spPr/>
        <p:txBody>
          <a:bodyPr/>
          <a:lstStyle/>
          <a:p>
            <a:fld id="{B11D738E-8962-435F-8C43-147B8DD7E819}" type="datetime1">
              <a:rPr lang="en-US" smtClean="0"/>
              <a:t>5/28/2026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1028701"/>
            <a:ext cx="7772400" cy="1878806"/>
          </a:xfrm>
        </p:spPr>
        <p:txBody>
          <a:bodyPr anchor="b"/>
          <a:lstStyle>
            <a:lvl1pPr algn="ctr" defTabSz="914400" rtl="0" eaLnBrk="1" latinLnBrk="0" hangingPunct="1">
              <a:lnSpc>
                <a:spcPct val="100000"/>
              </a:lnSpc>
              <a:spcBef>
                <a:spcPct val="0"/>
              </a:spcBef>
              <a:buNone/>
              <a:defRPr lang="en-US" sz="4800" kern="1200" dirty="0" smtClean="0">
                <a:solidFill>
                  <a:schemeClr val="tx2"/>
                </a:solidFill>
                <a:effectLst>
                  <a:outerShdw blurRad="63500" dist="38100" dir="5400000" algn="t" rotWithShape="0">
                    <a:prstClr val="black">
                      <a:alpha val="25000"/>
                    </a:prstClr>
                  </a:outerShdw>
                </a:effectLst>
                <a:latin typeface="+mn-lt"/>
                <a:ea typeface="+mj-ea"/>
                <a:cs typeface="+mj-cs"/>
              </a:defRPr>
            </a:lvl1pPr>
          </a:lstStyle>
          <a:p>
            <a:r>
              <a:rPr lang="en-US" smtClean="0"/>
              <a:t>Click to edit Master title style</a:t>
            </a:r>
            <a:endParaRPr lang="en-US" dirty="0"/>
          </a:p>
        </p:txBody>
      </p:sp>
      <p:sp>
        <p:nvSpPr>
          <p:cNvPr id="3" name="Text Placeholder 2"/>
          <p:cNvSpPr>
            <a:spLocks noGrp="1"/>
          </p:cNvSpPr>
          <p:nvPr>
            <p:ph type="body" idx="1"/>
          </p:nvPr>
        </p:nvSpPr>
        <p:spPr>
          <a:xfrm>
            <a:off x="722313" y="3051573"/>
            <a:ext cx="7772400" cy="848915"/>
          </a:xfrm>
        </p:spPr>
        <p:txBody>
          <a:bodyPr anchor="t"/>
          <a:lstStyle>
            <a:lvl1pPr marL="0" indent="0" algn="ctr">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09CAEA93-55E7-4DA9-90C2-089A26EEFEC4}" type="datetime1">
              <a:rPr lang="en-US" smtClean="0"/>
              <a:t>5/28/2026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4495800"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p:cNvSpPr/>
          <p:nvPr/>
        </p:nvSpPr>
        <p:spPr>
          <a:xfrm>
            <a:off x="4695825"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p:cNvSpPr/>
          <p:nvPr/>
        </p:nvSpPr>
        <p:spPr>
          <a:xfrm>
            <a:off x="4296728" y="2943225"/>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4" name="Content Placeholder 3"/>
          <p:cNvSpPr>
            <a:spLocks noGrp="1"/>
          </p:cNvSpPr>
          <p:nvPr>
            <p:ph sz="half" idx="2"/>
          </p:nvPr>
        </p:nvSpPr>
        <p:spPr>
          <a:xfrm>
            <a:off x="4648200" y="1200151"/>
            <a:ext cx="4038600" cy="3394472"/>
          </a:xfrm>
        </p:spPr>
        <p:txBody>
          <a:bodyPr/>
          <a:lstStyle>
            <a:lvl1pPr>
              <a:defRPr sz="2400"/>
            </a:lvl1pPr>
            <a:lvl2pPr>
              <a:defRPr sz="1600"/>
            </a:lvl2pPr>
            <a:lvl3pPr>
              <a:defRPr sz="16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5" name="Date Placeholder 4"/>
          <p:cNvSpPr>
            <a:spLocks noGrp="1"/>
          </p:cNvSpPr>
          <p:nvPr>
            <p:ph type="dt" sz="half" idx="10"/>
          </p:nvPr>
        </p:nvSpPr>
        <p:spPr/>
        <p:txBody>
          <a:bodyPr/>
          <a:lstStyle/>
          <a:p>
            <a:fld id="{E34CF3C7-6809-4F39-BD67-A75817BDDE0A}" type="datetime1">
              <a:rPr lang="en-US" smtClean="0"/>
              <a:t>5/28/2026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9" name="Content Placeholder 8"/>
          <p:cNvSpPr>
            <a:spLocks noGrp="1"/>
          </p:cNvSpPr>
          <p:nvPr>
            <p:ph sz="quarter" idx="13"/>
          </p:nvPr>
        </p:nvSpPr>
        <p:spPr>
          <a:xfrm>
            <a:off x="365760" y="1200150"/>
            <a:ext cx="4041648" cy="339471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200150"/>
            <a:ext cx="4040188"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648201" y="1200150"/>
            <a:ext cx="4041775" cy="457200"/>
          </a:xfrm>
        </p:spPr>
        <p:txBody>
          <a:bodyPr anchor="b">
            <a:noAutofit/>
          </a:bodyPr>
          <a:lstStyle>
            <a:lvl1pPr marL="0" indent="0" algn="ctr">
              <a:buNone/>
              <a:defRPr sz="24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7" name="Date Placeholder 6"/>
          <p:cNvSpPr>
            <a:spLocks noGrp="1"/>
          </p:cNvSpPr>
          <p:nvPr>
            <p:ph type="dt" sz="half" idx="10"/>
          </p:nvPr>
        </p:nvSpPr>
        <p:spPr/>
        <p:txBody>
          <a:bodyPr/>
          <a:lstStyle/>
          <a:p>
            <a:fld id="{F7EAEB24-CE78-465C-A726-91D0868FA48F}" type="datetime1">
              <a:rPr lang="en-US" smtClean="0"/>
              <a:t>5/28/2026</a:t>
            </a:fld>
            <a:endParaRPr lang="en-US"/>
          </a:p>
        </p:txBody>
      </p:sp>
      <p:sp>
        <p:nvSpPr>
          <p:cNvPr id="8" name="Footer Placeholder 7"/>
          <p:cNvSpPr>
            <a:spLocks noGrp="1"/>
          </p:cNvSpPr>
          <p:nvPr>
            <p:ph type="ftr" sz="quarter" idx="11"/>
          </p:nvPr>
        </p:nvSpPr>
        <p:spPr/>
        <p:txBody>
          <a:bodyPr/>
          <a:lstStyle/>
          <a:p>
            <a:r>
              <a:rPr lang="en-US" smtClean="0"/>
              <a:t>Footer Text</a:t>
            </a:r>
            <a:endParaRPr lang="en-US"/>
          </a:p>
        </p:txBody>
      </p:sp>
      <p:sp>
        <p:nvSpPr>
          <p:cNvPr id="9" name="Slide Number Placeholder 8"/>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
        <p:nvSpPr>
          <p:cNvPr id="11" name="Content Placeholder 10"/>
          <p:cNvSpPr>
            <a:spLocks noGrp="1"/>
          </p:cNvSpPr>
          <p:nvPr>
            <p:ph sz="quarter" idx="13"/>
          </p:nvPr>
        </p:nvSpPr>
        <p:spPr>
          <a:xfrm>
            <a:off x="457200" y="1659636"/>
            <a:ext cx="4041648" cy="2935224"/>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13" name="Content Placeholder 12"/>
          <p:cNvSpPr>
            <a:spLocks noGrp="1"/>
          </p:cNvSpPr>
          <p:nvPr>
            <p:ph sz="quarter" idx="14"/>
          </p:nvPr>
        </p:nvSpPr>
        <p:spPr>
          <a:xfrm>
            <a:off x="4672584" y="1659637"/>
            <a:ext cx="4041648" cy="2934890"/>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40BAADF0-1749-4E8B-9691-B44A5F8C0895}" type="datetime1">
              <a:rPr lang="en-US" smtClean="0"/>
              <a:t>5/28/2026</a:t>
            </a:fld>
            <a:endParaRPr lang="en-US"/>
          </a:p>
        </p:txBody>
      </p:sp>
      <p:sp>
        <p:nvSpPr>
          <p:cNvPr id="4" name="Footer Placeholder 3"/>
          <p:cNvSpPr>
            <a:spLocks noGrp="1"/>
          </p:cNvSpPr>
          <p:nvPr>
            <p:ph type="ftr" sz="quarter" idx="11"/>
          </p:nvPr>
        </p:nvSpPr>
        <p:spPr/>
        <p:txBody>
          <a:bodyPr/>
          <a:lstStyle/>
          <a:p>
            <a:r>
              <a:rPr lang="en-US" smtClean="0"/>
              <a:t>Footer Text</a:t>
            </a:r>
            <a:endParaRPr lang="en-US"/>
          </a:p>
        </p:txBody>
      </p:sp>
      <p:sp>
        <p:nvSpPr>
          <p:cNvPr id="5" name="Slide Number Placeholder 4"/>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8AF628A-A867-4937-BBE5-207DB6F9C51A}" type="datetime1">
              <a:rPr lang="en-US" smtClean="0"/>
              <a:t>5/28/2026</a:t>
            </a:fld>
            <a:endParaRPr lang="en-US"/>
          </a:p>
        </p:txBody>
      </p:sp>
      <p:sp>
        <p:nvSpPr>
          <p:cNvPr id="3" name="Footer Placeholder 2"/>
          <p:cNvSpPr>
            <a:spLocks noGrp="1"/>
          </p:cNvSpPr>
          <p:nvPr>
            <p:ph type="ftr" sz="quarter" idx="11"/>
          </p:nvPr>
        </p:nvSpPr>
        <p:spPr/>
        <p:txBody>
          <a:bodyPr/>
          <a:lstStyle/>
          <a:p>
            <a:r>
              <a:rPr lang="en-US" smtClean="0"/>
              <a:t>Footer Text</a:t>
            </a:r>
            <a:endParaRPr lang="en-US"/>
          </a:p>
        </p:txBody>
      </p:sp>
      <p:sp>
        <p:nvSpPr>
          <p:cNvPr id="4" name="Slide Number Placeholder 3"/>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5907088" y="200025"/>
            <a:ext cx="3008313" cy="1571625"/>
          </a:xfrm>
        </p:spPr>
        <p:txBody>
          <a:bodyPr anchor="b"/>
          <a:lstStyle>
            <a:lvl1pPr algn="ctr">
              <a:lnSpc>
                <a:spcPct val="100000"/>
              </a:lnSpc>
              <a:defRPr sz="2800" b="0">
                <a:effectLst>
                  <a:outerShdw blurRad="50800" dist="25400" dir="5400000" algn="t" rotWithShape="0">
                    <a:prstClr val="black">
                      <a:alpha val="25000"/>
                    </a:prstClr>
                  </a:outerShdw>
                </a:effectLst>
              </a:defRPr>
            </a:lvl1pPr>
          </a:lstStyle>
          <a:p>
            <a:r>
              <a:rPr lang="en-US" smtClean="0"/>
              <a:t>Click to edit Master title style</a:t>
            </a:r>
            <a:endParaRPr lang="en-US" dirty="0"/>
          </a:p>
        </p:txBody>
      </p:sp>
      <p:sp>
        <p:nvSpPr>
          <p:cNvPr id="3" name="Content Placeholder 2"/>
          <p:cNvSpPr>
            <a:spLocks noGrp="1"/>
          </p:cNvSpPr>
          <p:nvPr>
            <p:ph idx="1"/>
          </p:nvPr>
        </p:nvSpPr>
        <p:spPr>
          <a:xfrm>
            <a:off x="719138" y="204788"/>
            <a:ext cx="4995863" cy="438983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5907088" y="1828801"/>
            <a:ext cx="3008313" cy="2765822"/>
          </a:xfrm>
        </p:spPr>
        <p:txBody>
          <a:bodyPr>
            <a:normAutofit/>
          </a:bodyPr>
          <a:lstStyle>
            <a:lvl1pPr marL="0" indent="0" algn="ctr">
              <a:lnSpc>
                <a:spcPct val="125000"/>
              </a:lnSpc>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18BBB94-68E6-4675-A946-F1C5994EDBD7}" type="datetime1">
              <a:rPr lang="en-US" smtClean="0"/>
              <a:t>5/28/2026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679576" y="171450"/>
            <a:ext cx="5711824" cy="671513"/>
          </a:xfrm>
        </p:spPr>
        <p:txBody>
          <a:bodyPr anchor="b"/>
          <a:lstStyle>
            <a:lvl1pPr algn="ctr">
              <a:lnSpc>
                <a:spcPct val="100000"/>
              </a:lnSpc>
              <a:defRPr sz="2800" b="0"/>
            </a:lvl1pPr>
          </a:lstStyle>
          <a:p>
            <a:r>
              <a:rPr lang="en-US" smtClean="0"/>
              <a:t>Click to edit Master title style</a:t>
            </a:r>
            <a:endParaRPr lang="en-US" dirty="0"/>
          </a:p>
        </p:txBody>
      </p:sp>
      <p:sp>
        <p:nvSpPr>
          <p:cNvPr id="3" name="Picture Placeholder 2"/>
          <p:cNvSpPr>
            <a:spLocks noGrp="1"/>
          </p:cNvSpPr>
          <p:nvPr>
            <p:ph type="pic" idx="1"/>
          </p:nvPr>
        </p:nvSpPr>
        <p:spPr>
          <a:xfrm>
            <a:off x="1508126" y="857250"/>
            <a:ext cx="6054724" cy="3405783"/>
          </a:xfrm>
          <a:ln w="76200">
            <a:solidFill>
              <a:schemeClr val="bg1"/>
            </a:solidFill>
          </a:ln>
          <a:effectLst>
            <a:outerShdw blurRad="88900" dist="50800" dir="5400000" algn="ctr" rotWithShape="0">
              <a:srgbClr val="000000">
                <a:alpha val="25000"/>
              </a:srgbClr>
            </a:outerShdw>
          </a:effectLst>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1679576" y="4357688"/>
            <a:ext cx="5711824" cy="400050"/>
          </a:xfrm>
        </p:spPr>
        <p:txBody>
          <a:bodyPr>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C3B8377-21E3-4835-B75D-4E2847E2750F}" type="datetime1">
              <a:rPr lang="en-US" smtClean="0"/>
              <a:t>5/28/2026</a:t>
            </a:fld>
            <a:endParaRPr lang="en-US"/>
          </a:p>
        </p:txBody>
      </p:sp>
      <p:sp>
        <p:nvSpPr>
          <p:cNvPr id="6" name="Footer Placeholder 5"/>
          <p:cNvSpPr>
            <a:spLocks noGrp="1"/>
          </p:cNvSpPr>
          <p:nvPr>
            <p:ph type="ftr" sz="quarter" idx="11"/>
          </p:nvPr>
        </p:nvSpPr>
        <p:spPr/>
        <p:txBody>
          <a:bodyPr/>
          <a:lstStyle/>
          <a:p>
            <a:r>
              <a:rPr lang="en-US" smtClean="0"/>
              <a:t>Footer Text</a:t>
            </a:r>
            <a:endParaRPr lang="en-US"/>
          </a:p>
        </p:txBody>
      </p:sp>
      <p:sp>
        <p:nvSpPr>
          <p:cNvPr id="7" name="Slide Number Placeholder 6"/>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051B39-B140-43FE-96DB-472A2B59CE7C}" type="datetime1">
              <a:rPr lang="en-US" smtClean="0"/>
              <a:t>5/28/2026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05979"/>
            <a:ext cx="2057400" cy="4388644"/>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457200" y="205979"/>
            <a:ext cx="6019800" cy="4388644"/>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DA600BB2-27C5-458B-ABCE-839C88CF47CE}" type="datetime1">
              <a:rPr lang="en-US" smtClean="0"/>
              <a:t>5/28/2026</a:t>
            </a:fld>
            <a:endParaRPr lang="en-US"/>
          </a:p>
        </p:txBody>
      </p:sp>
      <p:sp>
        <p:nvSpPr>
          <p:cNvPr id="5" name="Footer Placeholder 4"/>
          <p:cNvSpPr>
            <a:spLocks noGrp="1"/>
          </p:cNvSpPr>
          <p:nvPr>
            <p:ph type="ftr" sz="quarter" idx="11"/>
          </p:nvPr>
        </p:nvSpPr>
        <p:spPr/>
        <p:txBody>
          <a:bodyPr/>
          <a:lstStyle/>
          <a:p>
            <a:r>
              <a:rPr lang="en-US" smtClean="0"/>
              <a:t>Footer Text</a:t>
            </a:r>
            <a:endParaRPr lang="en-US"/>
          </a:p>
        </p:txBody>
      </p:sp>
      <p:sp>
        <p:nvSpPr>
          <p:cNvPr id="6" name="Slide Number Placeholder 5"/>
          <p:cNvSpPr>
            <a:spLocks noGrp="1"/>
          </p:cNvSpPr>
          <p:nvPr>
            <p:ph type="sldNum" sz="quarter" idx="12"/>
          </p:nvPr>
        </p:nvSpPr>
        <p:spPr/>
        <p:txBody>
          <a:bodyPr/>
          <a:lstStyle/>
          <a:p>
            <a:pPr marL="0" lvl="0" indent="0" algn="r" rtl="0">
              <a:spcBef>
                <a:spcPts val="0"/>
              </a:spcBef>
              <a:spcAft>
                <a:spcPts val="0"/>
              </a:spcAft>
              <a:buNone/>
            </a:pPr>
            <a:fld id="{00000000-1234-1234-1234-123412341234}" type="slidenum">
              <a:rPr lang="en" smtClean="0"/>
              <a:t>‹#›</a:t>
            </a:fld>
            <a:endParaRPr lang="en"/>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 and 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2">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0"/>
            <a:ext cx="8229600" cy="1200150"/>
          </a:xfrm>
          <a:prstGeom prst="rect">
            <a:avLst/>
          </a:prstGeom>
        </p:spPr>
        <p:txBody>
          <a:bodyPr vert="horz" lIns="91440" tIns="45720" rIns="91440" bIns="45720" rtlCol="0" anchor="b">
            <a:noAutofit/>
          </a:bodyPr>
          <a:lstStyle/>
          <a:p>
            <a:r>
              <a:rPr lang="en-US" smtClean="0"/>
              <a:t>Click to edit Master title style</a:t>
            </a:r>
            <a:endParaRPr lang="en-US" dirty="0"/>
          </a:p>
        </p:txBody>
      </p:sp>
      <p:sp>
        <p:nvSpPr>
          <p:cNvPr id="3" name="Text Placeholder 2"/>
          <p:cNvSpPr>
            <a:spLocks noGrp="1"/>
          </p:cNvSpPr>
          <p:nvPr>
            <p:ph type="body" idx="1"/>
          </p:nvPr>
        </p:nvSpPr>
        <p:spPr>
          <a:xfrm>
            <a:off x="457200" y="1200151"/>
            <a:ext cx="8229600" cy="3394472"/>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smtClean="0"/>
          </a:p>
        </p:txBody>
      </p:sp>
      <p:sp>
        <p:nvSpPr>
          <p:cNvPr id="4" name="Date Placeholder 3"/>
          <p:cNvSpPr>
            <a:spLocks noGrp="1"/>
          </p:cNvSpPr>
          <p:nvPr>
            <p:ph type="dt" sz="half" idx="2"/>
          </p:nvPr>
        </p:nvSpPr>
        <p:spPr>
          <a:xfrm>
            <a:off x="6363348" y="4767263"/>
            <a:ext cx="2085975" cy="273844"/>
          </a:xfrm>
          <a:prstGeom prst="rect">
            <a:avLst/>
          </a:prstGeom>
        </p:spPr>
        <p:txBody>
          <a:bodyPr vert="horz" lIns="91440" tIns="45720" rIns="45720" bIns="45720" rtlCol="0" anchor="ctr"/>
          <a:lstStyle>
            <a:lvl1pPr algn="r">
              <a:defRPr sz="1200">
                <a:solidFill>
                  <a:schemeClr val="tx1">
                    <a:lumMod val="65000"/>
                    <a:lumOff val="35000"/>
                  </a:schemeClr>
                </a:solidFill>
                <a:latin typeface="Century Gothic" pitchFamily="34" charset="0"/>
              </a:defRPr>
            </a:lvl1pPr>
          </a:lstStyle>
          <a:p>
            <a:fld id="{B0C4986D-6BE9-4264-908F-02DB36FD8D6C}" type="datetime1">
              <a:rPr lang="en-US" smtClean="0"/>
              <a:t>5/28/2026</a:t>
            </a:fld>
            <a:endParaRPr lang="en-US" dirty="0"/>
          </a:p>
        </p:txBody>
      </p:sp>
      <p:sp>
        <p:nvSpPr>
          <p:cNvPr id="5" name="Footer Placeholder 4"/>
          <p:cNvSpPr>
            <a:spLocks noGrp="1"/>
          </p:cNvSpPr>
          <p:nvPr>
            <p:ph type="ftr" sz="quarter" idx="3"/>
          </p:nvPr>
        </p:nvSpPr>
        <p:spPr>
          <a:xfrm>
            <a:off x="659166" y="4767263"/>
            <a:ext cx="2847975" cy="273844"/>
          </a:xfrm>
          <a:prstGeom prst="rect">
            <a:avLst/>
          </a:prstGeom>
        </p:spPr>
        <p:txBody>
          <a:bodyPr vert="horz" lIns="45720" tIns="45720" rIns="91440" bIns="45720" rtlCol="0" anchor="ctr"/>
          <a:lstStyle>
            <a:lvl1pPr algn="l">
              <a:defRPr sz="1200">
                <a:solidFill>
                  <a:schemeClr val="tx1">
                    <a:lumMod val="65000"/>
                    <a:lumOff val="35000"/>
                  </a:schemeClr>
                </a:solidFill>
                <a:latin typeface="Century Gothic" pitchFamily="34" charset="0"/>
              </a:defRPr>
            </a:lvl1pPr>
          </a:lstStyle>
          <a:p>
            <a:r>
              <a:rPr lang="en-US" smtClean="0"/>
              <a:t>Footer Text</a:t>
            </a:r>
            <a:endParaRPr lang="en-US" dirty="0"/>
          </a:p>
        </p:txBody>
      </p:sp>
      <p:sp>
        <p:nvSpPr>
          <p:cNvPr id="6" name="Slide Number Placeholder 5"/>
          <p:cNvSpPr>
            <a:spLocks noGrp="1"/>
          </p:cNvSpPr>
          <p:nvPr>
            <p:ph type="sldNum" sz="quarter" idx="4"/>
          </p:nvPr>
        </p:nvSpPr>
        <p:spPr>
          <a:xfrm>
            <a:off x="8543279" y="4767263"/>
            <a:ext cx="561975" cy="273844"/>
          </a:xfrm>
          <a:prstGeom prst="rect">
            <a:avLst/>
          </a:prstGeom>
        </p:spPr>
        <p:txBody>
          <a:bodyPr vert="horz" lIns="27432" tIns="45720" rIns="45720" bIns="45720" rtlCol="0" anchor="ctr"/>
          <a:lstStyle>
            <a:lvl1pPr algn="l">
              <a:defRPr sz="1200">
                <a:solidFill>
                  <a:schemeClr val="tx1">
                    <a:lumMod val="65000"/>
                    <a:lumOff val="35000"/>
                  </a:schemeClr>
                </a:solidFill>
                <a:latin typeface="Century Gothic" pitchFamily="34" charset="0"/>
              </a:defRPr>
            </a:lvl1pPr>
          </a:lstStyle>
          <a:p>
            <a:pPr marL="0" lvl="0" indent="0" algn="r" rtl="0">
              <a:spcBef>
                <a:spcPts val="0"/>
              </a:spcBef>
              <a:spcAft>
                <a:spcPts val="0"/>
              </a:spcAft>
              <a:buNone/>
            </a:pPr>
            <a:fld id="{00000000-1234-1234-1234-123412341234}" type="slidenum">
              <a:rPr lang="en" smtClean="0"/>
              <a:t>‹#›</a:t>
            </a:fld>
            <a:endParaRPr lang="en"/>
          </a:p>
        </p:txBody>
      </p:sp>
      <p:sp>
        <p:nvSpPr>
          <p:cNvPr id="7" name="Oval 6"/>
          <p:cNvSpPr/>
          <p:nvPr/>
        </p:nvSpPr>
        <p:spPr>
          <a:xfrm>
            <a:off x="8457760"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lang="en-US" sz="1800" kern="1200">
              <a:solidFill>
                <a:schemeClr val="lt1"/>
              </a:solidFill>
              <a:latin typeface="+mn-lt"/>
              <a:ea typeface="+mn-ea"/>
              <a:cs typeface="+mn-cs"/>
            </a:endParaRPr>
          </a:p>
        </p:txBody>
      </p:sp>
      <p:sp>
        <p:nvSpPr>
          <p:cNvPr id="8" name="Oval 7"/>
          <p:cNvSpPr/>
          <p:nvPr/>
        </p:nvSpPr>
        <p:spPr>
          <a:xfrm>
            <a:off x="569119" y="4874538"/>
            <a:ext cx="84772" cy="63579"/>
          </a:xfrm>
          <a:prstGeom prst="ellipse">
            <a:avLst/>
          </a:prstGeom>
          <a:solidFill>
            <a:schemeClr val="tx1">
              <a:lumMod val="50000"/>
              <a:lumOff val="50000"/>
            </a:schemeClr>
          </a:solidFill>
          <a:ln w="12700">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3" r:id="rId12"/>
  </p:sldLayoutIdLst>
  <p:hf sldNum="0" hdr="0" ftr="0" dt="0"/>
  <p:txStyles>
    <p:titleStyle>
      <a:lvl1pPr algn="ctr" defTabSz="914400" rtl="0" eaLnBrk="1" latinLnBrk="0" hangingPunct="1">
        <a:lnSpc>
          <a:spcPts val="5800"/>
        </a:lnSpc>
        <a:spcBef>
          <a:spcPct val="0"/>
        </a:spcBef>
        <a:buNone/>
        <a:defRPr sz="5400" kern="1200">
          <a:solidFill>
            <a:schemeClr val="tx2"/>
          </a:solidFill>
          <a:effectLst>
            <a:outerShdw blurRad="63500" dist="38100" dir="5400000" algn="t" rotWithShape="0">
              <a:prstClr val="black">
                <a:alpha val="25000"/>
              </a:prstClr>
            </a:outerShdw>
          </a:effectLst>
          <a:latin typeface="+mn-lt"/>
          <a:ea typeface="+mj-ea"/>
          <a:cs typeface="+mj-cs"/>
        </a:defRPr>
      </a:lvl1pPr>
    </p:titleStyle>
    <p:bodyStyle>
      <a:lvl1pPr marL="342900" indent="-342900" algn="l" defTabSz="914400" rtl="0" eaLnBrk="1" latinLnBrk="0" hangingPunct="1">
        <a:spcBef>
          <a:spcPct val="20000"/>
        </a:spcBef>
        <a:buFont typeface="Arial" pitchFamily="34" charset="0"/>
        <a:buChar char="•"/>
        <a:defRPr sz="2400" kern="1200">
          <a:solidFill>
            <a:schemeClr val="tx1">
              <a:lumMod val="50000"/>
              <a:lumOff val="50000"/>
            </a:schemeClr>
          </a:solidFill>
          <a:latin typeface="+mj-lt"/>
          <a:ea typeface="+mn-ea"/>
          <a:cs typeface="+mn-cs"/>
        </a:defRPr>
      </a:lvl1pPr>
      <a:lvl2pPr marL="742950" indent="-28575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2pPr>
      <a:lvl3pPr marL="11430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3pPr>
      <a:lvl4pPr marL="16002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4pPr>
      <a:lvl5pPr marL="20574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5pPr>
      <a:lvl6pPr marL="25146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6pPr>
      <a:lvl7pPr marL="29718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7pPr>
      <a:lvl8pPr marL="3429000" indent="-228600" algn="l" defTabSz="914400" rtl="0" eaLnBrk="1" latinLnBrk="0" hangingPunct="1">
        <a:spcBef>
          <a:spcPct val="20000"/>
        </a:spcBef>
        <a:buFont typeface="Courier New" pitchFamily="49" charset="0"/>
        <a:buChar char="o"/>
        <a:defRPr sz="1600" kern="1200">
          <a:solidFill>
            <a:schemeClr val="tx1">
              <a:lumMod val="50000"/>
              <a:lumOff val="50000"/>
            </a:schemeClr>
          </a:solidFill>
          <a:latin typeface="+mj-lt"/>
          <a:ea typeface="+mn-ea"/>
          <a:cs typeface="+mn-cs"/>
        </a:defRPr>
      </a:lvl8pPr>
      <a:lvl9pPr marL="3886200" indent="-228600" algn="l" defTabSz="914400" rtl="0" eaLnBrk="1" latinLnBrk="0" hangingPunct="1">
        <a:spcBef>
          <a:spcPct val="20000"/>
        </a:spcBef>
        <a:buFont typeface="Arial" pitchFamily="34" charset="0"/>
        <a:buChar char="•"/>
        <a:defRPr sz="1600" kern="1200">
          <a:solidFill>
            <a:schemeClr val="tx1">
              <a:lumMod val="50000"/>
              <a:lumOff val="50000"/>
            </a:schemeClr>
          </a:solidFill>
          <a:latin typeface="+mj-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683568" y="303498"/>
            <a:ext cx="7772400" cy="1102519"/>
          </a:xfrm>
        </p:spPr>
        <p:txBody>
          <a:bodyPr/>
          <a:lstStyle/>
          <a:p>
            <a:r>
              <a:rPr lang="en-SG" dirty="0" smtClean="0"/>
              <a:t>Scenario</a:t>
            </a:r>
            <a:endParaRPr lang="en-SG" dirty="0"/>
          </a:p>
        </p:txBody>
      </p:sp>
      <p:sp>
        <p:nvSpPr>
          <p:cNvPr id="3" name="Subtitle 2"/>
          <p:cNvSpPr>
            <a:spLocks noGrp="1"/>
          </p:cNvSpPr>
          <p:nvPr>
            <p:ph type="subTitle" idx="1"/>
          </p:nvPr>
        </p:nvSpPr>
        <p:spPr>
          <a:xfrm>
            <a:off x="683568" y="1508466"/>
            <a:ext cx="7776864" cy="2899488"/>
          </a:xfrm>
        </p:spPr>
        <p:txBody>
          <a:bodyPr>
            <a:noAutofit/>
          </a:bodyPr>
          <a:lstStyle/>
          <a:p>
            <a:pPr algn="l"/>
            <a:r>
              <a:rPr lang="en-GB" sz="1200" dirty="0"/>
              <a:t>You are a level one security operations </a:t>
            </a:r>
            <a:r>
              <a:rPr lang="en-GB" sz="1200" dirty="0" err="1"/>
              <a:t>center</a:t>
            </a:r>
            <a:r>
              <a:rPr lang="en-GB" sz="1200" dirty="0"/>
              <a:t> (SOC) analyst at a financial services company. You have received an alert about a suspicious file being downloaded on an employee's computer. </a:t>
            </a:r>
            <a:endParaRPr lang="en-GB" sz="1200" dirty="0" smtClean="0"/>
          </a:p>
          <a:p>
            <a:pPr algn="l"/>
            <a:endParaRPr lang="en-GB" sz="1200" dirty="0"/>
          </a:p>
          <a:p>
            <a:pPr algn="l"/>
            <a:r>
              <a:rPr lang="en-GB" sz="1200" dirty="0"/>
              <a:t>You investigate this alert and discover that the employee received an email containing an attachment. The attachment was a password-protected spreadsheet file. The spreadsheet's password was provided in the email. The employee downloaded the file, then entered the password to open the file. When the employee opened the file, a malicious payload was then executed on their computer. </a:t>
            </a:r>
            <a:endParaRPr lang="en-GB" sz="1200" dirty="0" smtClean="0"/>
          </a:p>
          <a:p>
            <a:pPr algn="l"/>
            <a:endParaRPr lang="en-GB" sz="1200" dirty="0"/>
          </a:p>
          <a:p>
            <a:pPr algn="l"/>
            <a:r>
              <a:rPr lang="en-GB" sz="1200" dirty="0"/>
              <a:t>You retrieve the malicious file and create a SHA256 hash of the file. You might recall from a previous course that a </a:t>
            </a:r>
            <a:r>
              <a:rPr lang="en-GB" sz="1200" b="1" dirty="0"/>
              <a:t>hash function</a:t>
            </a:r>
            <a:r>
              <a:rPr lang="en-GB" sz="1200" dirty="0"/>
              <a:t> is an algorithm that produces a code that can't be decrypted. Hashing is a cryptographic method used to uniquely identify malware, acting as the file's unique fingerprint. </a:t>
            </a:r>
            <a:endParaRPr lang="en-GB" sz="1200" dirty="0" smtClean="0"/>
          </a:p>
          <a:p>
            <a:pPr algn="l"/>
            <a:endParaRPr lang="en-GB" sz="1200" dirty="0"/>
          </a:p>
          <a:p>
            <a:pPr algn="l"/>
            <a:r>
              <a:rPr lang="en-GB" sz="1200" dirty="0"/>
              <a:t>Now that you have the file hash, you will use </a:t>
            </a:r>
            <a:r>
              <a:rPr lang="en-GB" sz="1200" dirty="0" err="1"/>
              <a:t>VirusTotal</a:t>
            </a:r>
            <a:r>
              <a:rPr lang="en-GB" sz="1200" dirty="0"/>
              <a:t> to uncover additional </a:t>
            </a:r>
            <a:r>
              <a:rPr lang="en-GB" sz="1200" dirty="0" err="1"/>
              <a:t>IoCs</a:t>
            </a:r>
            <a:r>
              <a:rPr lang="en-GB" sz="1200" dirty="0"/>
              <a:t> that are associated with the file.</a:t>
            </a:r>
          </a:p>
        </p:txBody>
      </p:sp>
    </p:spTree>
    <p:extLst>
      <p:ext uri="{BB962C8B-B14F-4D97-AF65-F5344CB8AC3E}">
        <p14:creationId xmlns:p14="http://schemas.microsoft.com/office/powerpoint/2010/main" val="277130215"/>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ubtitle 2"/>
          <p:cNvSpPr>
            <a:spLocks noGrp="1"/>
          </p:cNvSpPr>
          <p:nvPr>
            <p:ph type="subTitle" idx="1"/>
          </p:nvPr>
        </p:nvSpPr>
        <p:spPr>
          <a:xfrm>
            <a:off x="683568" y="277074"/>
            <a:ext cx="7776864" cy="2899488"/>
          </a:xfrm>
        </p:spPr>
        <p:txBody>
          <a:bodyPr>
            <a:noAutofit/>
          </a:bodyPr>
          <a:lstStyle/>
          <a:p>
            <a:pPr algn="l"/>
            <a:r>
              <a:rPr lang="en-GB" sz="1200" b="1" dirty="0"/>
              <a:t>Review the details of the alert</a:t>
            </a:r>
          </a:p>
          <a:p>
            <a:pPr algn="l"/>
            <a:r>
              <a:rPr lang="en-GB" sz="1200" dirty="0"/>
              <a:t>The following information contains details about the alert that will help you complete this activity. The details include a file hash and a timeline of the event. Keep these details for reference as you proceed to the next steps</a:t>
            </a:r>
            <a:r>
              <a:rPr lang="en-GB" sz="1200" dirty="0" smtClean="0"/>
              <a:t>.</a:t>
            </a:r>
          </a:p>
          <a:p>
            <a:pPr algn="l"/>
            <a:endParaRPr lang="en-GB" sz="1200" dirty="0"/>
          </a:p>
          <a:p>
            <a:pPr algn="l"/>
            <a:r>
              <a:rPr lang="en-GB" sz="1200" b="1" dirty="0"/>
              <a:t>SHA256 file hash: </a:t>
            </a:r>
            <a:r>
              <a:rPr lang="en-GB" sz="1200" dirty="0" smtClean="0"/>
              <a:t>54e6ea47eb04634d3e87fd7787e2136ccfbcc80ade34f246a12cf93bab527f6b</a:t>
            </a:r>
          </a:p>
          <a:p>
            <a:pPr algn="l"/>
            <a:endParaRPr lang="en-GB" sz="1200" dirty="0"/>
          </a:p>
          <a:p>
            <a:pPr algn="l"/>
            <a:r>
              <a:rPr lang="en-GB" sz="1200" dirty="0"/>
              <a:t>Here is a timeline of the events leading up to this alert:</a:t>
            </a:r>
          </a:p>
          <a:p>
            <a:pPr algn="l"/>
            <a:r>
              <a:rPr lang="en-GB" sz="1200" b="1" dirty="0"/>
              <a:t>1:11 p.m.: </a:t>
            </a:r>
            <a:r>
              <a:rPr lang="en-GB" sz="1200" dirty="0"/>
              <a:t>An employee receives an email containing a file attachment.</a:t>
            </a:r>
          </a:p>
          <a:p>
            <a:pPr algn="l"/>
            <a:r>
              <a:rPr lang="en-GB" sz="1200" b="1" dirty="0"/>
              <a:t>1:13 p.m.:</a:t>
            </a:r>
            <a:r>
              <a:rPr lang="en-GB" sz="1200" dirty="0"/>
              <a:t> The employee successfully downloads and opens the file.</a:t>
            </a:r>
          </a:p>
          <a:p>
            <a:pPr algn="l"/>
            <a:r>
              <a:rPr lang="en-GB" sz="1200" b="1" dirty="0"/>
              <a:t>1:15 p.m.:</a:t>
            </a:r>
            <a:r>
              <a:rPr lang="en-GB" sz="1200" dirty="0"/>
              <a:t> Multiple unauthorized executable files are created on the employee's computer.</a:t>
            </a:r>
          </a:p>
          <a:p>
            <a:pPr algn="l"/>
            <a:r>
              <a:rPr lang="en-GB" sz="1200" b="1" dirty="0"/>
              <a:t>1:20 p.m.:</a:t>
            </a:r>
            <a:r>
              <a:rPr lang="en-GB" sz="1200" dirty="0"/>
              <a:t> An intrusion detection system detects the executable files and sends out an alert to the SOC.</a:t>
            </a:r>
          </a:p>
          <a:p>
            <a:pPr algn="l"/>
            <a:endParaRPr lang="en-GB" sz="1200" dirty="0"/>
          </a:p>
        </p:txBody>
      </p:sp>
      <p:sp>
        <p:nvSpPr>
          <p:cNvPr id="5" name="TextBox 4"/>
          <p:cNvSpPr txBox="1"/>
          <p:nvPr/>
        </p:nvSpPr>
        <p:spPr>
          <a:xfrm>
            <a:off x="694945" y="3279648"/>
            <a:ext cx="7662672" cy="1569660"/>
          </a:xfrm>
          <a:prstGeom prst="rect">
            <a:avLst/>
          </a:prstGeom>
          <a:noFill/>
        </p:spPr>
        <p:txBody>
          <a:bodyPr wrap="square" rtlCol="0">
            <a:spAutoFit/>
          </a:bodyPr>
          <a:lstStyle/>
          <a:p>
            <a:r>
              <a:rPr lang="en-GB" sz="800" b="1" i="1" dirty="0"/>
              <a:t>Note</a:t>
            </a:r>
            <a:r>
              <a:rPr lang="en-GB" sz="800" i="1" dirty="0"/>
              <a:t>: For the purpose of this activity, you'll focus on evaluating </a:t>
            </a:r>
            <a:r>
              <a:rPr lang="en-GB" sz="800" i="1" dirty="0" err="1"/>
              <a:t>VirusTotal</a:t>
            </a:r>
            <a:r>
              <a:rPr lang="en-GB" sz="800" i="1" dirty="0"/>
              <a:t> results. However, no single tool can detect all types of malicious activity. Security analysts will often use a combination of other tools to carefully evaluate the results of a scan before making a decision about the file</a:t>
            </a:r>
            <a:r>
              <a:rPr lang="en-GB" sz="800" i="1" dirty="0" smtClean="0"/>
              <a:t>.</a:t>
            </a:r>
          </a:p>
          <a:p>
            <a:endParaRPr lang="en-GB" sz="800" i="1" dirty="0"/>
          </a:p>
          <a:p>
            <a:r>
              <a:rPr lang="en-GB" sz="800" b="1" i="1" dirty="0"/>
              <a:t>Pro tip</a:t>
            </a:r>
            <a:r>
              <a:rPr lang="en-GB" sz="800" i="1" dirty="0"/>
              <a:t>: Sandbox reports are useful in understanding the </a:t>
            </a:r>
            <a:r>
              <a:rPr lang="en-GB" sz="800" i="1" dirty="0" err="1"/>
              <a:t>behavior</a:t>
            </a:r>
            <a:r>
              <a:rPr lang="en-GB" sz="800" i="1" dirty="0"/>
              <a:t> of a file, but they might contain information that is not relevant to the analysis of the file. By default, </a:t>
            </a:r>
            <a:r>
              <a:rPr lang="en-GB" sz="800" i="1" dirty="0" err="1"/>
              <a:t>VirusTotal</a:t>
            </a:r>
            <a:r>
              <a:rPr lang="en-GB" sz="800" i="1" dirty="0"/>
              <a:t> shows all sandbox reports in the </a:t>
            </a:r>
            <a:r>
              <a:rPr lang="en-GB" sz="800" i="1" dirty="0" err="1"/>
              <a:t>Behavior</a:t>
            </a:r>
            <a:r>
              <a:rPr lang="en-GB" sz="800" i="1" dirty="0"/>
              <a:t> tab. You can select individual sandbox reports to view. This is helpful because you can view the similarities and differences between reports so that it's easier to identify which </a:t>
            </a:r>
            <a:r>
              <a:rPr lang="en-GB" sz="800" i="1" dirty="0" err="1"/>
              <a:t>behaviors</a:t>
            </a:r>
            <a:r>
              <a:rPr lang="en-GB" sz="800" i="1" dirty="0"/>
              <a:t> are likely to be associated with the file. </a:t>
            </a:r>
            <a:endParaRPr lang="en-GB" sz="800" i="1" dirty="0" smtClean="0"/>
          </a:p>
          <a:p>
            <a:endParaRPr lang="en-GB" sz="800" i="1" dirty="0"/>
          </a:p>
          <a:p>
            <a:r>
              <a:rPr lang="en-GB" sz="800" b="1" i="1" dirty="0"/>
              <a:t>Note</a:t>
            </a:r>
            <a:r>
              <a:rPr lang="en-GB" sz="800" i="1" dirty="0"/>
              <a:t>: The Vendors' ratio is based on security vendors' detections and vendors might not always detect malicious files. The Community Score is based on the opinions and insights from the </a:t>
            </a:r>
            <a:r>
              <a:rPr lang="en-GB" sz="800" i="1" dirty="0" err="1"/>
              <a:t>VirusTotal</a:t>
            </a:r>
            <a:r>
              <a:rPr lang="en-GB" sz="800" i="1" dirty="0"/>
              <a:t> community. If a file's scores are low, it doesn't necessarily mean that the file is safe. It is recommended to use multiple sources of information when evaluating files</a:t>
            </a:r>
            <a:r>
              <a:rPr lang="en-GB" sz="800" i="1" dirty="0" smtClean="0"/>
              <a:t>.</a:t>
            </a:r>
          </a:p>
          <a:p>
            <a:endParaRPr lang="en-GB" sz="800" i="1" dirty="0"/>
          </a:p>
          <a:p>
            <a:r>
              <a:rPr lang="en-GB" sz="800" b="1" i="1" dirty="0"/>
              <a:t>Note</a:t>
            </a:r>
            <a:r>
              <a:rPr lang="en-GB" sz="800" dirty="0"/>
              <a:t>:</a:t>
            </a:r>
            <a:r>
              <a:rPr lang="en-GB" sz="800" i="1" dirty="0"/>
              <a:t> </a:t>
            </a:r>
            <a:r>
              <a:rPr lang="en-GB" sz="800" i="1" dirty="0" err="1"/>
              <a:t>VirusTotal</a:t>
            </a:r>
            <a:r>
              <a:rPr lang="en-GB" sz="800" i="1" dirty="0"/>
              <a:t> reports can contain legitimate domains and IP addresses that are not considered malicious. </a:t>
            </a:r>
            <a:endParaRPr lang="en-GB" sz="800" dirty="0"/>
          </a:p>
        </p:txBody>
      </p:sp>
    </p:spTree>
    <p:extLst>
      <p:ext uri="{BB962C8B-B14F-4D97-AF65-F5344CB8AC3E}">
        <p14:creationId xmlns:p14="http://schemas.microsoft.com/office/powerpoint/2010/main" val="3702438150"/>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53"/>
        <p:cNvGrpSpPr/>
        <p:nvPr/>
      </p:nvGrpSpPr>
      <p:grpSpPr>
        <a:xfrm>
          <a:off x="0" y="0"/>
          <a:ext cx="0" cy="0"/>
          <a:chOff x="0" y="0"/>
          <a:chExt cx="0" cy="0"/>
        </a:xfrm>
      </p:grpSpPr>
      <p:sp>
        <p:nvSpPr>
          <p:cNvPr id="54" name="Google Shape;54;p13"/>
          <p:cNvSpPr txBox="1">
            <a:spLocks noGrp="1"/>
          </p:cNvSpPr>
          <p:nvPr>
            <p:ph type="body" idx="1"/>
          </p:nvPr>
        </p:nvSpPr>
        <p:spPr>
          <a:xfrm>
            <a:off x="311700" y="419550"/>
            <a:ext cx="7986000" cy="928500"/>
          </a:xfrm>
          <a:prstGeom prst="rect">
            <a:avLst/>
          </a:prstGeom>
        </p:spPr>
        <p:txBody>
          <a:bodyPr spcFirstLastPara="1" wrap="square" lIns="91425" tIns="91425" rIns="91425" bIns="91425" anchor="t" anchorCtr="0">
            <a:noAutofit/>
          </a:bodyPr>
          <a:lstStyle/>
          <a:p>
            <a:pPr marL="0" lvl="0" indent="0" algn="l" rtl="0">
              <a:lnSpc>
                <a:spcPct val="95000"/>
              </a:lnSpc>
              <a:spcBef>
                <a:spcPts val="0"/>
              </a:spcBef>
              <a:spcAft>
                <a:spcPts val="0"/>
              </a:spcAft>
              <a:buSzPts val="605"/>
              <a:buNone/>
            </a:pPr>
            <a:r>
              <a:rPr lang="en" sz="1790" b="1">
                <a:solidFill>
                  <a:schemeClr val="dk1"/>
                </a:solidFill>
                <a:latin typeface="Google Sans"/>
                <a:ea typeface="Google Sans"/>
                <a:cs typeface="Google Sans"/>
                <a:sym typeface="Google Sans"/>
              </a:rPr>
              <a:t>Has this file hash been reported as malicious? Explain why or why not.</a:t>
            </a: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0"/>
              </a:spcAft>
              <a:buSzPts val="605"/>
              <a:buNone/>
            </a:pPr>
            <a:endParaRPr sz="1790" b="1">
              <a:solidFill>
                <a:schemeClr val="dk1"/>
              </a:solidFill>
              <a:latin typeface="Google Sans"/>
              <a:ea typeface="Google Sans"/>
              <a:cs typeface="Google Sans"/>
              <a:sym typeface="Google Sans"/>
            </a:endParaRPr>
          </a:p>
          <a:p>
            <a:pPr marL="0" lvl="0" indent="0" algn="l" rtl="0">
              <a:lnSpc>
                <a:spcPct val="95000"/>
              </a:lnSpc>
              <a:spcBef>
                <a:spcPts val="1200"/>
              </a:spcBef>
              <a:spcAft>
                <a:spcPts val="1200"/>
              </a:spcAft>
              <a:buSzPts val="605"/>
              <a:buNone/>
            </a:pPr>
            <a:endParaRPr sz="1790" b="1">
              <a:solidFill>
                <a:schemeClr val="dk1"/>
              </a:solidFill>
              <a:latin typeface="Google Sans"/>
              <a:ea typeface="Google Sans"/>
              <a:cs typeface="Google Sans"/>
              <a:sym typeface="Google Sans"/>
            </a:endParaRPr>
          </a:p>
        </p:txBody>
      </p:sp>
      <p:sp>
        <p:nvSpPr>
          <p:cNvPr id="55" name="Google Shape;55;p13"/>
          <p:cNvSpPr txBox="1"/>
          <p:nvPr/>
        </p:nvSpPr>
        <p:spPr>
          <a:xfrm>
            <a:off x="311700" y="1060100"/>
            <a:ext cx="7538700" cy="8313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dirty="0">
                <a:solidFill>
                  <a:srgbClr val="0070C0"/>
                </a:solidFill>
                <a:latin typeface="Google Sans"/>
                <a:ea typeface="Google Sans"/>
                <a:cs typeface="Google Sans"/>
                <a:sym typeface="Google Sans"/>
              </a:rPr>
              <a:t>The file hash has been reported as malicious by over 50 vendors. Upon further investigation, this file hash is known as the malware Flagpro, which has been commonly used by the advanced threat actor BlackTech.</a:t>
            </a:r>
            <a:endParaRPr dirty="0">
              <a:solidFill>
                <a:srgbClr val="0070C0"/>
              </a:solidFill>
              <a:latin typeface="Google Sans"/>
              <a:ea typeface="Google Sans"/>
              <a:cs typeface="Google Sans"/>
              <a:sym typeface="Google Sans"/>
            </a:endParaRPr>
          </a:p>
        </p:txBody>
      </p:sp>
      <p:sp>
        <p:nvSpPr>
          <p:cNvPr id="2" name="TextBox 1"/>
          <p:cNvSpPr txBox="1"/>
          <p:nvPr/>
        </p:nvSpPr>
        <p:spPr>
          <a:xfrm>
            <a:off x="481585" y="2097026"/>
            <a:ext cx="8162543" cy="2862322"/>
          </a:xfrm>
          <a:prstGeom prst="rect">
            <a:avLst/>
          </a:prstGeom>
          <a:noFill/>
        </p:spPr>
        <p:txBody>
          <a:bodyPr wrap="square" rtlCol="0">
            <a:spAutoFit/>
          </a:bodyPr>
          <a:lstStyle/>
          <a:p>
            <a:pPr marL="171450" indent="-171450">
              <a:buFont typeface="Arial" panose="020B0604020202020204" pitchFamily="34" charset="0"/>
              <a:buChar char="•"/>
            </a:pPr>
            <a:r>
              <a:rPr lang="en-GB" sz="1000" b="1" dirty="0">
                <a:solidFill>
                  <a:srgbClr val="0070C0"/>
                </a:solidFill>
              </a:rPr>
              <a:t>Domain names</a:t>
            </a:r>
            <a:r>
              <a:rPr lang="en-GB" sz="1000" dirty="0">
                <a:solidFill>
                  <a:srgbClr val="0070C0"/>
                </a:solidFill>
              </a:rPr>
              <a:t>: org.misecure.com is reported as a malicious contacted domain under the Relations tab in the </a:t>
            </a:r>
            <a:r>
              <a:rPr lang="en-GB" sz="1000" dirty="0" err="1">
                <a:solidFill>
                  <a:srgbClr val="0070C0"/>
                </a:solidFill>
              </a:rPr>
              <a:t>VirusTotal</a:t>
            </a:r>
            <a:r>
              <a:rPr lang="en-GB" sz="1000" dirty="0">
                <a:solidFill>
                  <a:srgbClr val="0070C0"/>
                </a:solidFill>
              </a:rPr>
              <a:t> report</a:t>
            </a:r>
            <a:r>
              <a:rPr lang="en-GB" sz="1000" dirty="0" smtClean="0">
                <a:solidFill>
                  <a:srgbClr val="0070C0"/>
                </a:solidFill>
              </a:rPr>
              <a:t>.</a:t>
            </a:r>
          </a:p>
          <a:p>
            <a:pPr marL="171450" indent="-171450">
              <a:buFont typeface="Arial" panose="020B0604020202020204" pitchFamily="34" charset="0"/>
              <a:buChar char="•"/>
            </a:pPr>
            <a:endParaRPr lang="en-GB" sz="1000" dirty="0">
              <a:solidFill>
                <a:srgbClr val="0070C0"/>
              </a:solidFill>
            </a:endParaRPr>
          </a:p>
          <a:p>
            <a:pPr marL="171450" indent="-171450">
              <a:buFont typeface="Arial" panose="020B0604020202020204" pitchFamily="34" charset="0"/>
              <a:buChar char="•"/>
            </a:pPr>
            <a:r>
              <a:rPr lang="en-GB" sz="1000" b="1" dirty="0">
                <a:solidFill>
                  <a:srgbClr val="0070C0"/>
                </a:solidFill>
              </a:rPr>
              <a:t>IP address</a:t>
            </a:r>
            <a:r>
              <a:rPr lang="en-GB" sz="1000" dirty="0">
                <a:solidFill>
                  <a:srgbClr val="0070C0"/>
                </a:solidFill>
              </a:rPr>
              <a:t>: 207.148.109.242 is listed as one of many IP addresses under the Relations tab in the </a:t>
            </a:r>
            <a:r>
              <a:rPr lang="en-GB" sz="1000" dirty="0" err="1">
                <a:solidFill>
                  <a:srgbClr val="0070C0"/>
                </a:solidFill>
              </a:rPr>
              <a:t>VirusTotal</a:t>
            </a:r>
            <a:r>
              <a:rPr lang="en-GB" sz="1000" dirty="0">
                <a:solidFill>
                  <a:srgbClr val="0070C0"/>
                </a:solidFill>
              </a:rPr>
              <a:t> report. This IP address is also associated with the org.misecure.com domain as listed in the DNS Resolutions section under the </a:t>
            </a:r>
            <a:r>
              <a:rPr lang="en-GB" sz="1000" dirty="0" err="1">
                <a:solidFill>
                  <a:srgbClr val="0070C0"/>
                </a:solidFill>
              </a:rPr>
              <a:t>Behavior</a:t>
            </a:r>
            <a:r>
              <a:rPr lang="en-GB" sz="1000" dirty="0">
                <a:solidFill>
                  <a:srgbClr val="0070C0"/>
                </a:solidFill>
              </a:rPr>
              <a:t> tab from the </a:t>
            </a:r>
            <a:r>
              <a:rPr lang="en-GB" sz="1000" dirty="0" err="1">
                <a:solidFill>
                  <a:srgbClr val="0070C0"/>
                </a:solidFill>
              </a:rPr>
              <a:t>Zenbox</a:t>
            </a:r>
            <a:r>
              <a:rPr lang="en-GB" sz="1000" dirty="0">
                <a:solidFill>
                  <a:srgbClr val="0070C0"/>
                </a:solidFill>
              </a:rPr>
              <a:t> sandbox report</a:t>
            </a:r>
            <a:r>
              <a:rPr lang="en-GB" sz="1000" dirty="0" smtClean="0">
                <a:solidFill>
                  <a:srgbClr val="0070C0"/>
                </a:solidFill>
              </a:rPr>
              <a:t>.</a:t>
            </a:r>
          </a:p>
          <a:p>
            <a:pPr marL="171450" indent="-171450">
              <a:buFont typeface="Arial" panose="020B0604020202020204" pitchFamily="34" charset="0"/>
              <a:buChar char="•"/>
            </a:pPr>
            <a:endParaRPr lang="en-GB" sz="1000" dirty="0">
              <a:solidFill>
                <a:srgbClr val="0070C0"/>
              </a:solidFill>
            </a:endParaRPr>
          </a:p>
          <a:p>
            <a:pPr marL="171450" indent="-171450">
              <a:buFont typeface="Arial" panose="020B0604020202020204" pitchFamily="34" charset="0"/>
              <a:buChar char="•"/>
            </a:pPr>
            <a:r>
              <a:rPr lang="en-GB" sz="1000" b="1" dirty="0">
                <a:solidFill>
                  <a:srgbClr val="0070C0"/>
                </a:solidFill>
              </a:rPr>
              <a:t>Hash value:</a:t>
            </a:r>
            <a:r>
              <a:rPr lang="en-GB" sz="1000" dirty="0">
                <a:solidFill>
                  <a:srgbClr val="0070C0"/>
                </a:solidFill>
              </a:rPr>
              <a:t> 287d612e29b71c90aa54947313810a25 is a MD5 hash listed under the Details tab in the </a:t>
            </a:r>
            <a:r>
              <a:rPr lang="en-GB" sz="1000" dirty="0" err="1">
                <a:solidFill>
                  <a:srgbClr val="0070C0"/>
                </a:solidFill>
              </a:rPr>
              <a:t>VirusTotal</a:t>
            </a:r>
            <a:r>
              <a:rPr lang="en-GB" sz="1000" dirty="0">
                <a:solidFill>
                  <a:srgbClr val="0070C0"/>
                </a:solidFill>
              </a:rPr>
              <a:t> report</a:t>
            </a:r>
            <a:r>
              <a:rPr lang="en-GB" sz="1000" dirty="0" smtClean="0">
                <a:solidFill>
                  <a:srgbClr val="0070C0"/>
                </a:solidFill>
              </a:rPr>
              <a:t>.</a:t>
            </a:r>
          </a:p>
          <a:p>
            <a:pPr marL="171450" indent="-171450">
              <a:buFont typeface="Arial" panose="020B0604020202020204" pitchFamily="34" charset="0"/>
              <a:buChar char="•"/>
            </a:pPr>
            <a:endParaRPr lang="en-GB" sz="1000" dirty="0">
              <a:solidFill>
                <a:srgbClr val="0070C0"/>
              </a:solidFill>
            </a:endParaRPr>
          </a:p>
          <a:p>
            <a:pPr marL="171450" indent="-171450">
              <a:buFont typeface="Arial" panose="020B0604020202020204" pitchFamily="34" charset="0"/>
              <a:buChar char="•"/>
            </a:pPr>
            <a:r>
              <a:rPr lang="en-GB" sz="1000" b="1" dirty="0">
                <a:solidFill>
                  <a:srgbClr val="0070C0"/>
                </a:solidFill>
              </a:rPr>
              <a:t>Network/host </a:t>
            </a:r>
            <a:r>
              <a:rPr lang="en-GB" sz="1000" b="1" dirty="0" err="1">
                <a:solidFill>
                  <a:srgbClr val="0070C0"/>
                </a:solidFill>
              </a:rPr>
              <a:t>artifacts</a:t>
            </a:r>
            <a:r>
              <a:rPr lang="en-GB" sz="1000" dirty="0">
                <a:solidFill>
                  <a:srgbClr val="0070C0"/>
                </a:solidFill>
              </a:rPr>
              <a:t>: Network-related </a:t>
            </a:r>
            <a:r>
              <a:rPr lang="en-GB" sz="1000" dirty="0" err="1">
                <a:solidFill>
                  <a:srgbClr val="0070C0"/>
                </a:solidFill>
              </a:rPr>
              <a:t>artifacts</a:t>
            </a:r>
            <a:r>
              <a:rPr lang="en-GB" sz="1000" dirty="0">
                <a:solidFill>
                  <a:srgbClr val="0070C0"/>
                </a:solidFill>
              </a:rPr>
              <a:t> that have been observed in this malware are HTTP requests made to the org.misecure.com domain. This is listed in the Network Communications section under the </a:t>
            </a:r>
            <a:r>
              <a:rPr lang="en-GB" sz="1000" dirty="0" err="1">
                <a:solidFill>
                  <a:srgbClr val="0070C0"/>
                </a:solidFill>
              </a:rPr>
              <a:t>Behavior</a:t>
            </a:r>
            <a:r>
              <a:rPr lang="en-GB" sz="1000" dirty="0">
                <a:solidFill>
                  <a:srgbClr val="0070C0"/>
                </a:solidFill>
              </a:rPr>
              <a:t> tab from the Venus Eye Sandbox and Rising MOVES sandbox reports. </a:t>
            </a:r>
            <a:endParaRPr lang="en-GB" sz="1000" dirty="0" smtClean="0">
              <a:solidFill>
                <a:srgbClr val="0070C0"/>
              </a:solidFill>
            </a:endParaRPr>
          </a:p>
          <a:p>
            <a:pPr marL="171450" indent="-171450">
              <a:buFont typeface="Arial" panose="020B0604020202020204" pitchFamily="34" charset="0"/>
              <a:buChar char="•"/>
            </a:pPr>
            <a:endParaRPr lang="en-GB" sz="1000" dirty="0">
              <a:solidFill>
                <a:srgbClr val="0070C0"/>
              </a:solidFill>
            </a:endParaRPr>
          </a:p>
          <a:p>
            <a:pPr marL="171450" indent="-171450">
              <a:buFont typeface="Arial" panose="020B0604020202020204" pitchFamily="34" charset="0"/>
              <a:buChar char="•"/>
            </a:pPr>
            <a:r>
              <a:rPr lang="en-GB" sz="1000" b="1" dirty="0">
                <a:solidFill>
                  <a:srgbClr val="0070C0"/>
                </a:solidFill>
              </a:rPr>
              <a:t>Tools</a:t>
            </a:r>
            <a:r>
              <a:rPr lang="en-GB" sz="1000" dirty="0">
                <a:solidFill>
                  <a:srgbClr val="0070C0"/>
                </a:solidFill>
              </a:rPr>
              <a:t>: Input capture is listed in the Collection section under the </a:t>
            </a:r>
            <a:r>
              <a:rPr lang="en-GB" sz="1000" dirty="0" err="1">
                <a:solidFill>
                  <a:srgbClr val="0070C0"/>
                </a:solidFill>
              </a:rPr>
              <a:t>Behavior</a:t>
            </a:r>
            <a:r>
              <a:rPr lang="en-GB" sz="1000" dirty="0">
                <a:solidFill>
                  <a:srgbClr val="0070C0"/>
                </a:solidFill>
              </a:rPr>
              <a:t> tab from the </a:t>
            </a:r>
            <a:r>
              <a:rPr lang="en-GB" sz="1000" dirty="0" err="1">
                <a:solidFill>
                  <a:srgbClr val="0070C0"/>
                </a:solidFill>
              </a:rPr>
              <a:t>Zenbox</a:t>
            </a:r>
            <a:r>
              <a:rPr lang="en-GB" sz="1000" dirty="0">
                <a:solidFill>
                  <a:srgbClr val="0070C0"/>
                </a:solidFill>
              </a:rPr>
              <a:t> sandbox report. Malicious actors use input capture to steal user input such as passwords, credit card numbers, and other sensitive information</a:t>
            </a:r>
            <a:r>
              <a:rPr lang="en-GB" sz="1000" dirty="0" smtClean="0">
                <a:solidFill>
                  <a:srgbClr val="0070C0"/>
                </a:solidFill>
              </a:rPr>
              <a:t>.</a:t>
            </a:r>
          </a:p>
          <a:p>
            <a:pPr marL="171450" indent="-171450">
              <a:buFont typeface="Arial" panose="020B0604020202020204" pitchFamily="34" charset="0"/>
              <a:buChar char="•"/>
            </a:pPr>
            <a:endParaRPr lang="en-GB" sz="1000" dirty="0">
              <a:solidFill>
                <a:srgbClr val="0070C0"/>
              </a:solidFill>
            </a:endParaRPr>
          </a:p>
          <a:p>
            <a:pPr marL="171450" indent="-171450">
              <a:buFont typeface="Arial" panose="020B0604020202020204" pitchFamily="34" charset="0"/>
              <a:buChar char="•"/>
            </a:pPr>
            <a:r>
              <a:rPr lang="en-GB" sz="1000" b="1" dirty="0">
                <a:solidFill>
                  <a:srgbClr val="0070C0"/>
                </a:solidFill>
              </a:rPr>
              <a:t>TTPs</a:t>
            </a:r>
            <a:r>
              <a:rPr lang="en-GB" sz="1000" dirty="0">
                <a:solidFill>
                  <a:srgbClr val="0070C0"/>
                </a:solidFill>
              </a:rPr>
              <a:t>: Command and control is listed as a tactic under the </a:t>
            </a:r>
            <a:r>
              <a:rPr lang="en-GB" sz="1000" dirty="0" err="1">
                <a:solidFill>
                  <a:srgbClr val="0070C0"/>
                </a:solidFill>
              </a:rPr>
              <a:t>Behavior</a:t>
            </a:r>
            <a:r>
              <a:rPr lang="en-GB" sz="1000" dirty="0">
                <a:solidFill>
                  <a:srgbClr val="0070C0"/>
                </a:solidFill>
              </a:rPr>
              <a:t> tab from the </a:t>
            </a:r>
            <a:r>
              <a:rPr lang="en-GB" sz="1000" dirty="0" err="1">
                <a:solidFill>
                  <a:srgbClr val="0070C0"/>
                </a:solidFill>
              </a:rPr>
              <a:t>Zenbox</a:t>
            </a:r>
            <a:r>
              <a:rPr lang="en-GB" sz="1000" dirty="0">
                <a:solidFill>
                  <a:srgbClr val="0070C0"/>
                </a:solidFill>
              </a:rPr>
              <a:t> sandbox report. Malicious actors use command and control to establish communication channels between an infected system and their own system.</a:t>
            </a:r>
          </a:p>
          <a:p>
            <a:endParaRPr lang="en-SG" sz="1000" dirty="0">
              <a:solidFill>
                <a:srgbClr val="0070C0"/>
              </a:solidFill>
            </a:endParaRPr>
          </a:p>
        </p:txBody>
      </p:sp>
      <p:cxnSp>
        <p:nvCxnSpPr>
          <p:cNvPr id="4" name="Straight Connector 3"/>
          <p:cNvCxnSpPr/>
          <p:nvPr/>
        </p:nvCxnSpPr>
        <p:spPr>
          <a:xfrm>
            <a:off x="0" y="1891400"/>
            <a:ext cx="9144000" cy="0"/>
          </a:xfrm>
          <a:prstGeom prst="line">
            <a:avLst/>
          </a:prstGeom>
          <a:ln>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59"/>
        <p:cNvGrpSpPr/>
        <p:nvPr/>
      </p:nvGrpSpPr>
      <p:grpSpPr>
        <a:xfrm>
          <a:off x="0" y="0"/>
          <a:ext cx="0" cy="0"/>
          <a:chOff x="0" y="0"/>
          <a:chExt cx="0" cy="0"/>
        </a:xfrm>
      </p:grpSpPr>
      <p:grpSp>
        <p:nvGrpSpPr>
          <p:cNvPr id="60" name="Google Shape;60;p14"/>
          <p:cNvGrpSpPr/>
          <p:nvPr/>
        </p:nvGrpSpPr>
        <p:grpSpPr>
          <a:xfrm>
            <a:off x="52400" y="399200"/>
            <a:ext cx="5417400" cy="4685400"/>
            <a:chOff x="52400" y="399200"/>
            <a:chExt cx="5417400" cy="4685400"/>
          </a:xfrm>
        </p:grpSpPr>
        <p:sp>
          <p:nvSpPr>
            <p:cNvPr id="61" name="Google Shape;61;p14"/>
            <p:cNvSpPr/>
            <p:nvPr/>
          </p:nvSpPr>
          <p:spPr>
            <a:xfrm>
              <a:off x="52400" y="399200"/>
              <a:ext cx="5417400" cy="4685400"/>
            </a:xfrm>
            <a:prstGeom prst="triangle">
              <a:avLst>
                <a:gd name="adj" fmla="val 50000"/>
              </a:avLst>
            </a:prstGeom>
            <a:solidFill>
              <a:schemeClr val="accent1"/>
            </a:solidFill>
            <a:ln w="2857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cxnSp>
          <p:nvCxnSpPr>
            <p:cNvPr id="62" name="Google Shape;62;p14"/>
            <p:cNvCxnSpPr/>
            <p:nvPr/>
          </p:nvCxnSpPr>
          <p:spPr>
            <a:xfrm>
              <a:off x="2174888" y="1426450"/>
              <a:ext cx="1162500" cy="0"/>
            </a:xfrm>
            <a:prstGeom prst="straightConnector1">
              <a:avLst/>
            </a:prstGeom>
            <a:noFill/>
            <a:ln w="28575" cap="flat" cmpd="sng">
              <a:solidFill>
                <a:srgbClr val="FFFFFF"/>
              </a:solidFill>
              <a:prstDash val="solid"/>
              <a:round/>
              <a:headEnd type="none" w="med" len="med"/>
              <a:tailEnd type="none" w="med" len="med"/>
            </a:ln>
          </p:spPr>
        </p:cxnSp>
        <p:cxnSp>
          <p:nvCxnSpPr>
            <p:cNvPr id="63" name="Google Shape;63;p14"/>
            <p:cNvCxnSpPr/>
            <p:nvPr/>
          </p:nvCxnSpPr>
          <p:spPr>
            <a:xfrm>
              <a:off x="1714500" y="2214625"/>
              <a:ext cx="2094000" cy="0"/>
            </a:xfrm>
            <a:prstGeom prst="straightConnector1">
              <a:avLst/>
            </a:prstGeom>
            <a:noFill/>
            <a:ln w="28575" cap="flat" cmpd="sng">
              <a:solidFill>
                <a:srgbClr val="FFFFFF"/>
              </a:solidFill>
              <a:prstDash val="solid"/>
              <a:round/>
              <a:headEnd type="none" w="med" len="med"/>
              <a:tailEnd type="none" w="med" len="med"/>
            </a:ln>
          </p:spPr>
        </p:cxnSp>
        <p:cxnSp>
          <p:nvCxnSpPr>
            <p:cNvPr id="64" name="Google Shape;64;p14"/>
            <p:cNvCxnSpPr/>
            <p:nvPr/>
          </p:nvCxnSpPr>
          <p:spPr>
            <a:xfrm>
              <a:off x="1269525" y="2976625"/>
              <a:ext cx="2970900" cy="0"/>
            </a:xfrm>
            <a:prstGeom prst="straightConnector1">
              <a:avLst/>
            </a:prstGeom>
            <a:noFill/>
            <a:ln w="28575" cap="flat" cmpd="sng">
              <a:solidFill>
                <a:srgbClr val="FFFFFF"/>
              </a:solidFill>
              <a:prstDash val="solid"/>
              <a:round/>
              <a:headEnd type="none" w="med" len="med"/>
              <a:tailEnd type="none" w="med" len="med"/>
            </a:ln>
          </p:spPr>
        </p:cxnSp>
        <p:cxnSp>
          <p:nvCxnSpPr>
            <p:cNvPr id="65" name="Google Shape;65;p14"/>
            <p:cNvCxnSpPr/>
            <p:nvPr/>
          </p:nvCxnSpPr>
          <p:spPr>
            <a:xfrm>
              <a:off x="903063" y="3665615"/>
              <a:ext cx="3729900" cy="0"/>
            </a:xfrm>
            <a:prstGeom prst="straightConnector1">
              <a:avLst/>
            </a:prstGeom>
            <a:noFill/>
            <a:ln w="28575" cap="flat" cmpd="sng">
              <a:solidFill>
                <a:srgbClr val="FFFFFF"/>
              </a:solidFill>
              <a:prstDash val="solid"/>
              <a:round/>
              <a:headEnd type="none" w="med" len="med"/>
              <a:tailEnd type="none" w="med" len="med"/>
            </a:ln>
          </p:spPr>
        </p:cxnSp>
        <p:cxnSp>
          <p:nvCxnSpPr>
            <p:cNvPr id="66" name="Google Shape;66;p14"/>
            <p:cNvCxnSpPr/>
            <p:nvPr/>
          </p:nvCxnSpPr>
          <p:spPr>
            <a:xfrm>
              <a:off x="484250" y="4351425"/>
              <a:ext cx="4541700" cy="0"/>
            </a:xfrm>
            <a:prstGeom prst="straightConnector1">
              <a:avLst/>
            </a:prstGeom>
            <a:noFill/>
            <a:ln w="28575" cap="flat" cmpd="sng">
              <a:solidFill>
                <a:srgbClr val="FFFFFF"/>
              </a:solidFill>
              <a:prstDash val="solid"/>
              <a:round/>
              <a:headEnd type="none" w="med" len="med"/>
              <a:tailEnd type="none" w="med" len="med"/>
            </a:ln>
          </p:spPr>
        </p:cxnSp>
      </p:grpSp>
      <p:sp>
        <p:nvSpPr>
          <p:cNvPr id="67" name="Google Shape;67;p14"/>
          <p:cNvSpPr txBox="1"/>
          <p:nvPr/>
        </p:nvSpPr>
        <p:spPr>
          <a:xfrm>
            <a:off x="2424313" y="863775"/>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TTPs</a:t>
            </a:r>
            <a:endParaRPr sz="1700" b="1">
              <a:solidFill>
                <a:schemeClr val="lt1"/>
              </a:solidFill>
              <a:latin typeface="Google Sans"/>
              <a:ea typeface="Google Sans"/>
              <a:cs typeface="Google Sans"/>
              <a:sym typeface="Google Sans"/>
            </a:endParaRPr>
          </a:p>
        </p:txBody>
      </p:sp>
      <p:sp>
        <p:nvSpPr>
          <p:cNvPr id="68" name="Google Shape;68;p14"/>
          <p:cNvSpPr txBox="1"/>
          <p:nvPr/>
        </p:nvSpPr>
        <p:spPr>
          <a:xfrm>
            <a:off x="2411226" y="1578950"/>
            <a:ext cx="8055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Tools</a:t>
            </a:r>
            <a:endParaRPr sz="1700" b="1">
              <a:solidFill>
                <a:schemeClr val="lt1"/>
              </a:solidFill>
              <a:latin typeface="Google Sans"/>
              <a:ea typeface="Google Sans"/>
              <a:cs typeface="Google Sans"/>
              <a:sym typeface="Google Sans"/>
            </a:endParaRPr>
          </a:p>
        </p:txBody>
      </p:sp>
      <p:sp>
        <p:nvSpPr>
          <p:cNvPr id="69" name="Google Shape;69;p14"/>
          <p:cNvSpPr txBox="1"/>
          <p:nvPr/>
        </p:nvSpPr>
        <p:spPr>
          <a:xfrm>
            <a:off x="1792100" y="2294125"/>
            <a:ext cx="1991400" cy="7080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1700" b="1">
                <a:solidFill>
                  <a:schemeClr val="lt1"/>
                </a:solidFill>
                <a:latin typeface="Google Sans"/>
                <a:ea typeface="Google Sans"/>
                <a:cs typeface="Google Sans"/>
                <a:sym typeface="Google Sans"/>
              </a:rPr>
              <a:t>Network/host artifacts</a:t>
            </a:r>
            <a:endParaRPr sz="1700" b="1">
              <a:solidFill>
                <a:schemeClr val="lt1"/>
              </a:solidFill>
              <a:latin typeface="Google Sans"/>
              <a:ea typeface="Google Sans"/>
              <a:cs typeface="Google Sans"/>
              <a:sym typeface="Google Sans"/>
            </a:endParaRPr>
          </a:p>
        </p:txBody>
      </p:sp>
      <p:sp>
        <p:nvSpPr>
          <p:cNvPr id="70" name="Google Shape;70;p14"/>
          <p:cNvSpPr txBox="1"/>
          <p:nvPr/>
        </p:nvSpPr>
        <p:spPr>
          <a:xfrm>
            <a:off x="1978962" y="311867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Domain names</a:t>
            </a:r>
            <a:endParaRPr sz="1700" b="1">
              <a:solidFill>
                <a:schemeClr val="lt1"/>
              </a:solidFill>
              <a:latin typeface="Google Sans"/>
              <a:ea typeface="Google Sans"/>
              <a:cs typeface="Google Sans"/>
              <a:sym typeface="Google Sans"/>
            </a:endParaRPr>
          </a:p>
        </p:txBody>
      </p:sp>
      <p:sp>
        <p:nvSpPr>
          <p:cNvPr id="71" name="Google Shape;71;p14"/>
          <p:cNvSpPr txBox="1"/>
          <p:nvPr/>
        </p:nvSpPr>
        <p:spPr>
          <a:xfrm>
            <a:off x="1978962" y="37553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IP addresses</a:t>
            </a:r>
            <a:endParaRPr sz="1700" b="1">
              <a:solidFill>
                <a:schemeClr val="lt1"/>
              </a:solidFill>
              <a:latin typeface="Google Sans"/>
              <a:ea typeface="Google Sans"/>
              <a:cs typeface="Google Sans"/>
              <a:sym typeface="Google Sans"/>
            </a:endParaRPr>
          </a:p>
        </p:txBody>
      </p:sp>
      <p:sp>
        <p:nvSpPr>
          <p:cNvPr id="72" name="Google Shape;72;p14"/>
          <p:cNvSpPr txBox="1"/>
          <p:nvPr/>
        </p:nvSpPr>
        <p:spPr>
          <a:xfrm>
            <a:off x="1978962" y="4457425"/>
            <a:ext cx="2048700" cy="4464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700" b="1">
                <a:solidFill>
                  <a:schemeClr val="lt1"/>
                </a:solidFill>
                <a:latin typeface="Google Sans"/>
                <a:ea typeface="Google Sans"/>
                <a:cs typeface="Google Sans"/>
                <a:sym typeface="Google Sans"/>
              </a:rPr>
              <a:t>Hash values</a:t>
            </a:r>
            <a:endParaRPr sz="1700" b="1">
              <a:solidFill>
                <a:schemeClr val="lt1"/>
              </a:solidFill>
              <a:latin typeface="Google Sans"/>
              <a:ea typeface="Google Sans"/>
              <a:cs typeface="Google Sans"/>
              <a:sym typeface="Google Sans"/>
            </a:endParaRPr>
          </a:p>
        </p:txBody>
      </p:sp>
      <p:cxnSp>
        <p:nvCxnSpPr>
          <p:cNvPr id="73" name="Google Shape;73;p14"/>
          <p:cNvCxnSpPr/>
          <p:nvPr/>
        </p:nvCxnSpPr>
        <p:spPr>
          <a:xfrm>
            <a:off x="3153750" y="108637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4" name="Google Shape;74;p14"/>
          <p:cNvSpPr/>
          <p:nvPr/>
        </p:nvSpPr>
        <p:spPr>
          <a:xfrm>
            <a:off x="4848450" y="82432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0070C0"/>
                </a:solidFill>
                <a:latin typeface="Google Sans"/>
                <a:ea typeface="Google Sans"/>
                <a:cs typeface="Google Sans"/>
                <a:sym typeface="Google Sans"/>
              </a:rPr>
              <a:t>Command and Control</a:t>
            </a:r>
            <a:endParaRPr sz="1100" dirty="0">
              <a:solidFill>
                <a:srgbClr val="0070C0"/>
              </a:solidFill>
              <a:latin typeface="Google Sans"/>
              <a:ea typeface="Google Sans"/>
              <a:cs typeface="Google Sans"/>
              <a:sym typeface="Google Sans"/>
            </a:endParaRPr>
          </a:p>
        </p:txBody>
      </p:sp>
      <p:cxnSp>
        <p:nvCxnSpPr>
          <p:cNvPr id="75" name="Google Shape;75;p14"/>
          <p:cNvCxnSpPr>
            <a:endCxn id="76" idx="1"/>
          </p:cNvCxnSpPr>
          <p:nvPr/>
        </p:nvCxnSpPr>
        <p:spPr>
          <a:xfrm>
            <a:off x="3578825" y="18015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6" name="Google Shape;76;p14"/>
          <p:cNvSpPr/>
          <p:nvPr/>
        </p:nvSpPr>
        <p:spPr>
          <a:xfrm>
            <a:off x="5273525" y="15394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0070C0"/>
                </a:solidFill>
                <a:latin typeface="Google Sans"/>
                <a:ea typeface="Google Sans"/>
                <a:cs typeface="Google Sans"/>
                <a:sym typeface="Google Sans"/>
              </a:rPr>
              <a:t>Input capture</a:t>
            </a:r>
            <a:endParaRPr sz="1100" dirty="0">
              <a:solidFill>
                <a:srgbClr val="0070C0"/>
              </a:solidFill>
              <a:latin typeface="Roboto"/>
              <a:ea typeface="Roboto"/>
              <a:cs typeface="Roboto"/>
              <a:sym typeface="Roboto"/>
            </a:endParaRPr>
          </a:p>
        </p:txBody>
      </p:sp>
      <p:cxnSp>
        <p:nvCxnSpPr>
          <p:cNvPr id="77" name="Google Shape;77;p14"/>
          <p:cNvCxnSpPr>
            <a:endCxn id="78" idx="1"/>
          </p:cNvCxnSpPr>
          <p:nvPr/>
        </p:nvCxnSpPr>
        <p:spPr>
          <a:xfrm>
            <a:off x="3986625" y="2571149"/>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78" name="Google Shape;78;p14"/>
          <p:cNvSpPr/>
          <p:nvPr/>
        </p:nvSpPr>
        <p:spPr>
          <a:xfrm>
            <a:off x="5681325" y="2309099"/>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0070C0"/>
                </a:solidFill>
                <a:latin typeface="Google Sans"/>
                <a:ea typeface="Google Sans"/>
                <a:cs typeface="Google Sans"/>
                <a:sym typeface="Google Sans"/>
              </a:rPr>
              <a:t>HTTP Requests</a:t>
            </a:r>
            <a:endParaRPr sz="1100" dirty="0">
              <a:solidFill>
                <a:srgbClr val="0070C0"/>
              </a:solidFill>
              <a:latin typeface="Roboto"/>
              <a:ea typeface="Roboto"/>
              <a:cs typeface="Roboto"/>
              <a:sym typeface="Roboto"/>
            </a:endParaRPr>
          </a:p>
        </p:txBody>
      </p:sp>
      <p:cxnSp>
        <p:nvCxnSpPr>
          <p:cNvPr id="79" name="Google Shape;79;p14"/>
          <p:cNvCxnSpPr>
            <a:endCxn id="80" idx="1"/>
          </p:cNvCxnSpPr>
          <p:nvPr/>
        </p:nvCxnSpPr>
        <p:spPr>
          <a:xfrm>
            <a:off x="4426175" y="3274536"/>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0" name="Google Shape;80;p14"/>
          <p:cNvSpPr/>
          <p:nvPr/>
        </p:nvSpPr>
        <p:spPr>
          <a:xfrm>
            <a:off x="6120875" y="3012486"/>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0070C0"/>
                </a:solidFill>
                <a:latin typeface="Google Sans"/>
                <a:ea typeface="Google Sans"/>
                <a:cs typeface="Google Sans"/>
                <a:sym typeface="Google Sans"/>
              </a:rPr>
              <a:t>org.misecure.com</a:t>
            </a:r>
            <a:endParaRPr sz="1100" dirty="0">
              <a:solidFill>
                <a:srgbClr val="0070C0"/>
              </a:solidFill>
              <a:latin typeface="Google Sans"/>
              <a:ea typeface="Google Sans"/>
              <a:cs typeface="Google Sans"/>
              <a:sym typeface="Google Sans"/>
            </a:endParaRPr>
          </a:p>
        </p:txBody>
      </p:sp>
      <p:cxnSp>
        <p:nvCxnSpPr>
          <p:cNvPr id="81" name="Google Shape;81;p14"/>
          <p:cNvCxnSpPr>
            <a:endCxn id="82" idx="1"/>
          </p:cNvCxnSpPr>
          <p:nvPr/>
        </p:nvCxnSpPr>
        <p:spPr>
          <a:xfrm>
            <a:off x="4835525" y="3977924"/>
            <a:ext cx="16947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2" name="Google Shape;82;p14"/>
          <p:cNvSpPr/>
          <p:nvPr/>
        </p:nvSpPr>
        <p:spPr>
          <a:xfrm>
            <a:off x="6530225" y="37158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457200" lvl="0" indent="0" algn="l" rtl="0">
              <a:spcBef>
                <a:spcPts val="0"/>
              </a:spcBef>
              <a:spcAft>
                <a:spcPts val="0"/>
              </a:spcAft>
              <a:buNone/>
            </a:pPr>
            <a:r>
              <a:rPr lang="en" sz="1100" dirty="0">
                <a:solidFill>
                  <a:srgbClr val="0070C0"/>
                </a:solidFill>
                <a:latin typeface="Google Sans"/>
                <a:ea typeface="Google Sans"/>
                <a:cs typeface="Google Sans"/>
                <a:sym typeface="Google Sans"/>
              </a:rPr>
              <a:t>207.148.109.242</a:t>
            </a:r>
            <a:endParaRPr sz="1100" dirty="0">
              <a:solidFill>
                <a:srgbClr val="0070C0"/>
              </a:solidFill>
              <a:latin typeface="Google Sans"/>
              <a:ea typeface="Google Sans"/>
              <a:cs typeface="Google Sans"/>
              <a:sym typeface="Google Sans"/>
            </a:endParaRPr>
          </a:p>
        </p:txBody>
      </p:sp>
      <p:cxnSp>
        <p:nvCxnSpPr>
          <p:cNvPr id="83" name="Google Shape;83;p14"/>
          <p:cNvCxnSpPr/>
          <p:nvPr/>
        </p:nvCxnSpPr>
        <p:spPr>
          <a:xfrm>
            <a:off x="5211175" y="4680024"/>
            <a:ext cx="1605300" cy="600"/>
          </a:xfrm>
          <a:prstGeom prst="bentConnector3">
            <a:avLst>
              <a:gd name="adj1" fmla="val 50000"/>
            </a:avLst>
          </a:prstGeom>
          <a:noFill/>
          <a:ln w="9525" cap="flat" cmpd="sng">
            <a:solidFill>
              <a:srgbClr val="C2C2C2"/>
            </a:solidFill>
            <a:prstDash val="solid"/>
            <a:round/>
            <a:headEnd type="none" w="sm" len="sm"/>
            <a:tailEnd type="none" w="sm" len="sm"/>
          </a:ln>
        </p:spPr>
      </p:cxnSp>
      <p:sp>
        <p:nvSpPr>
          <p:cNvPr id="84" name="Google Shape;84;p14"/>
          <p:cNvSpPr/>
          <p:nvPr/>
        </p:nvSpPr>
        <p:spPr>
          <a:xfrm>
            <a:off x="6816475" y="4417974"/>
            <a:ext cx="2020500" cy="525300"/>
          </a:xfrm>
          <a:prstGeom prst="roundRect">
            <a:avLst>
              <a:gd name="adj" fmla="val 16667"/>
            </a:avLst>
          </a:prstGeom>
          <a:solidFill>
            <a:srgbClr val="D9EAD3"/>
          </a:solidFill>
          <a:ln>
            <a:noFill/>
          </a:ln>
        </p:spPr>
        <p:txBody>
          <a:bodyPr spcFirstLastPara="1" wrap="square" lIns="91425" tIns="91425" rIns="91425" bIns="91425" anchor="ctr" anchorCtr="0">
            <a:noAutofit/>
          </a:bodyPr>
          <a:lstStyle/>
          <a:p>
            <a:pPr marL="0" lvl="0" indent="0" algn="ctr" rtl="0">
              <a:spcBef>
                <a:spcPts val="0"/>
              </a:spcBef>
              <a:spcAft>
                <a:spcPts val="0"/>
              </a:spcAft>
              <a:buNone/>
            </a:pPr>
            <a:r>
              <a:rPr lang="en" sz="1100" dirty="0">
                <a:solidFill>
                  <a:srgbClr val="0070C0"/>
                </a:solidFill>
                <a:latin typeface="Google Sans"/>
                <a:ea typeface="Google Sans"/>
                <a:cs typeface="Google Sans"/>
                <a:sym typeface="Google Sans"/>
              </a:rPr>
              <a:t>287d612e29b71c90aa54947313810a25</a:t>
            </a:r>
            <a:endParaRPr sz="1100" dirty="0">
              <a:solidFill>
                <a:srgbClr val="0070C0"/>
              </a:solidFill>
              <a:latin typeface="Google Sans"/>
              <a:ea typeface="Google Sans"/>
              <a:cs typeface="Google Sans"/>
              <a:sym typeface="Google Sans"/>
            </a:endParaRP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Executive">
  <a:themeElements>
    <a:clrScheme name="Executive">
      <a:dk1>
        <a:sysClr val="windowText" lastClr="000000"/>
      </a:dk1>
      <a:lt1>
        <a:sysClr val="window" lastClr="FFFFFF"/>
      </a:lt1>
      <a:dk2>
        <a:srgbClr val="2F5897"/>
      </a:dk2>
      <a:lt2>
        <a:srgbClr val="E4E9EF"/>
      </a:lt2>
      <a:accent1>
        <a:srgbClr val="6076B4"/>
      </a:accent1>
      <a:accent2>
        <a:srgbClr val="9C5252"/>
      </a:accent2>
      <a:accent3>
        <a:srgbClr val="E68422"/>
      </a:accent3>
      <a:accent4>
        <a:srgbClr val="846648"/>
      </a:accent4>
      <a:accent5>
        <a:srgbClr val="63891F"/>
      </a:accent5>
      <a:accent6>
        <a:srgbClr val="758085"/>
      </a:accent6>
      <a:hlink>
        <a:srgbClr val="3399FF"/>
      </a:hlink>
      <a:folHlink>
        <a:srgbClr val="B2B2B2"/>
      </a:folHlink>
    </a:clrScheme>
    <a:fontScheme name="Executive">
      <a:majorFont>
        <a:latin typeface="Century Gothic"/>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a:ea typeface=""/>
        <a:cs typeface=""/>
        <a:font script="Jpan" typeface="HGS明朝E"/>
        <a:font script="Hang" typeface="맑은 고딕"/>
        <a:font script="Hans" typeface="宋体"/>
        <a:font script="Hant" typeface="新細明體"/>
        <a:font script="Arab" typeface="Times New Roman"/>
        <a:font script="Hebr" typeface="Times New Roman"/>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Executiv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8575" cap="flat" cmpd="sng" algn="ctr">
          <a:solidFill>
            <a:schemeClr val="phClr"/>
          </a:solidFill>
          <a:prstDash val="solid"/>
        </a:ln>
        <a:ln w="508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50000">
              <a:schemeClr val="phClr">
                <a:tint val="80000"/>
                <a:satMod val="250000"/>
              </a:schemeClr>
            </a:gs>
            <a:gs pos="76000">
              <a:schemeClr val="phClr">
                <a:tint val="90000"/>
                <a:shade val="90000"/>
                <a:satMod val="200000"/>
              </a:schemeClr>
            </a:gs>
            <a:gs pos="92000">
              <a:schemeClr val="phClr">
                <a:tint val="90000"/>
                <a:shade val="70000"/>
                <a:satMod val="250000"/>
              </a:schemeClr>
            </a:gs>
          </a:gsLst>
          <a:path path="circle">
            <a:fillToRect l="50000" t="50000" r="50000" b="50000"/>
          </a:path>
        </a:gradFill>
        <a:blipFill>
          <a:blip xmlns:r="http://schemas.openxmlformats.org/officeDocument/2006/relationships" r:embed="rId1">
            <a:duotone>
              <a:schemeClr val="phClr">
                <a:tint val="95000"/>
              </a:schemeClr>
              <a:schemeClr val="phClr">
                <a:shade val="90000"/>
              </a:schemeClr>
            </a:duotone>
          </a:blip>
          <a:tile tx="0" ty="0" sx="100000" sy="100000" flip="none" algn="tl"/>
        </a:blip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8</TotalTime>
  <Words>586</Words>
  <Application>Microsoft Office PowerPoint</Application>
  <PresentationFormat>On-screen Show (16:9)</PresentationFormat>
  <Paragraphs>50</Paragraphs>
  <Slides>4</Slides>
  <Notes>2</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4</vt:i4>
      </vt:variant>
    </vt:vector>
  </HeadingPairs>
  <TitlesOfParts>
    <vt:vector size="11" baseType="lpstr">
      <vt:lpstr>Arial</vt:lpstr>
      <vt:lpstr>Courier New</vt:lpstr>
      <vt:lpstr>Google Sans</vt:lpstr>
      <vt:lpstr>Century Gothic</vt:lpstr>
      <vt:lpstr>Roboto</vt:lpstr>
      <vt:lpstr>Palatino Linotype</vt:lpstr>
      <vt:lpstr>Executive</vt:lpstr>
      <vt:lpstr>Scenario</vt:lpstr>
      <vt:lpstr>PowerPoint Presentation</vt:lpstr>
      <vt:lpstr>PowerPoint Presentation</vt:lpstr>
      <vt:lpstr>PowerPoint Presentation</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Scenario</dc:title>
  <cp:lastModifiedBy>ZhiQian Chua</cp:lastModifiedBy>
  <cp:revision>3</cp:revision>
  <dcterms:modified xsi:type="dcterms:W3CDTF">2026-05-28T10:35:11Z</dcterms:modified>
</cp:coreProperties>
</file>