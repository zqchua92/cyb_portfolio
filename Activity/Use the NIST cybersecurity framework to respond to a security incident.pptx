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96" r:id="rId2"/>
    <p:sldMasterId id="2147483708" r:id="rId3"/>
  </p:sldMasterIdLst>
  <p:sldIdLst>
    <p:sldId id="256" r:id="rId4"/>
    <p:sldId id="261" r:id="rId5"/>
    <p:sldId id="258" r:id="rId6"/>
    <p:sldId id="264" r:id="rId7"/>
    <p:sldId id="262" r:id="rId8"/>
    <p:sldId id="263" r:id="rId9"/>
    <p:sldId id="259" r:id="rId10"/>
    <p:sldId id="265"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0" d="100"/>
          <a:sy n="110" d="100"/>
        </p:scale>
        <p:origin x="-1644"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tableStyles" Target="tableStyles.xml"/><Relationship Id="rId10" Type="http://schemas.openxmlformats.org/officeDocument/2006/relationships/slide" Target="slides/slide7.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09601"/>
            <a:ext cx="7772400" cy="4267200"/>
          </a:xfrm>
        </p:spPr>
        <p:txBody>
          <a:bodyPr anchor="b">
            <a:noAutofit/>
          </a:bodyPr>
          <a:lstStyle>
            <a:lvl1pPr>
              <a:lnSpc>
                <a:spcPct val="100000"/>
              </a:lnSpc>
              <a:defRPr sz="8000"/>
            </a:lvl1pPr>
          </a:lstStyle>
          <a:p>
            <a:r>
              <a:rPr lang="en-US" smtClean="0"/>
              <a:t>Click to edit Master title style</a:t>
            </a:r>
            <a:endParaRPr lang="en-US" dirty="0"/>
          </a:p>
        </p:txBody>
      </p:sp>
      <p:sp>
        <p:nvSpPr>
          <p:cNvPr id="3" name="Subtitle 2"/>
          <p:cNvSpPr>
            <a:spLocks noGrp="1"/>
          </p:cNvSpPr>
          <p:nvPr>
            <p:ph type="subTitle" idx="1"/>
          </p:nvPr>
        </p:nvSpPr>
        <p:spPr>
          <a:xfrm>
            <a:off x="1371600" y="4953000"/>
            <a:ext cx="6400800" cy="12192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7" name="Date Placeholder 6"/>
          <p:cNvSpPr>
            <a:spLocks noGrp="1"/>
          </p:cNvSpPr>
          <p:nvPr>
            <p:ph type="dt" sz="half" idx="10"/>
          </p:nvPr>
        </p:nvSpPr>
        <p:spPr/>
        <p:txBody>
          <a:bodyPr/>
          <a:lstStyle/>
          <a:p>
            <a:fld id="{C81D1448-F56A-427E-B4D3-154671AD8545}" type="datetimeFigureOut">
              <a:rPr lang="en-SG" smtClean="0"/>
              <a:t>15/4/2026</a:t>
            </a:fld>
            <a:endParaRPr lang="en-SG"/>
          </a:p>
        </p:txBody>
      </p:sp>
      <p:sp>
        <p:nvSpPr>
          <p:cNvPr id="8" name="Slide Number Placeholder 7"/>
          <p:cNvSpPr>
            <a:spLocks noGrp="1"/>
          </p:cNvSpPr>
          <p:nvPr>
            <p:ph type="sldNum" sz="quarter" idx="11"/>
          </p:nvPr>
        </p:nvSpPr>
        <p:spPr/>
        <p:txBody>
          <a:bodyPr/>
          <a:lstStyle/>
          <a:p>
            <a:fld id="{C5804EC2-4BFC-4480-AE2A-23FA0465B8FA}" type="slidenum">
              <a:rPr lang="en-SG" smtClean="0"/>
              <a:t>‹#›</a:t>
            </a:fld>
            <a:endParaRPr lang="en-SG"/>
          </a:p>
        </p:txBody>
      </p:sp>
      <p:sp>
        <p:nvSpPr>
          <p:cNvPr id="9" name="Footer Placeholder 8"/>
          <p:cNvSpPr>
            <a:spLocks noGrp="1"/>
          </p:cNvSpPr>
          <p:nvPr>
            <p:ph type="ftr" sz="quarter" idx="12"/>
          </p:nvPr>
        </p:nvSpPr>
        <p:spPr/>
        <p:txBody>
          <a:bodyPr/>
          <a:lstStyle/>
          <a:p>
            <a:endParaRPr lang="en-SG"/>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10"/>
          </p:nvPr>
        </p:nvSpPr>
        <p:spPr/>
        <p:txBody>
          <a:bodyPr/>
          <a:lstStyle/>
          <a:p>
            <a:fld id="{C81D1448-F56A-427E-B4D3-154671AD8545}" type="datetimeFigureOut">
              <a:rPr lang="en-SG" smtClean="0"/>
              <a:t>15/4/2026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371600"/>
            <a:ext cx="7772400" cy="2505075"/>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n-US" smtClean="0"/>
              <a:t>Click to edit Master title style</a:t>
            </a:r>
            <a:endParaRPr lang="en-US" dirty="0"/>
          </a:p>
        </p:txBody>
      </p:sp>
      <p:sp>
        <p:nvSpPr>
          <p:cNvPr id="3" name="Text Placeholder 2"/>
          <p:cNvSpPr>
            <a:spLocks noGrp="1"/>
          </p:cNvSpPr>
          <p:nvPr>
            <p:ph type="body" idx="1"/>
          </p:nvPr>
        </p:nvSpPr>
        <p:spPr>
          <a:xfrm>
            <a:off x="722313" y="4068763"/>
            <a:ext cx="7772400" cy="1131887"/>
          </a:xfrm>
        </p:spPr>
        <p:txBody>
          <a:bodyPr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81D1448-F56A-427E-B4D3-154671AD8545}" type="datetimeFigureOut">
              <a:rPr lang="en-SG" smtClean="0"/>
              <a:t>15/4/2026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
        <p:nvSpPr>
          <p:cNvPr id="7" name="Oval 6"/>
          <p:cNvSpPr/>
          <p:nvPr/>
        </p:nvSpPr>
        <p:spPr>
          <a:xfrm>
            <a:off x="4495800"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4695825"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4296728"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3"/>
          <p:cNvSpPr>
            <a:spLocks noGrp="1"/>
          </p:cNvSpPr>
          <p:nvPr>
            <p:ph sz="half" idx="2"/>
          </p:nvPr>
        </p:nvSpPr>
        <p:spPr>
          <a:xfrm>
            <a:off x="4648200" y="1600200"/>
            <a:ext cx="4038600" cy="4525963"/>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C81D1448-F56A-427E-B4D3-154671AD8545}" type="datetimeFigureOut">
              <a:rPr lang="en-SG" smtClean="0"/>
              <a:t>15/4/2026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C5804EC2-4BFC-4480-AE2A-23FA0465B8FA}" type="slidenum">
              <a:rPr lang="en-SG" smtClean="0"/>
              <a:t>‹#›</a:t>
            </a:fld>
            <a:endParaRPr lang="en-SG"/>
          </a:p>
        </p:txBody>
      </p:sp>
      <p:sp>
        <p:nvSpPr>
          <p:cNvPr id="9" name="Content Placeholder 8"/>
          <p:cNvSpPr>
            <a:spLocks noGrp="1"/>
          </p:cNvSpPr>
          <p:nvPr>
            <p:ph sz="quarter" idx="13"/>
          </p:nvPr>
        </p:nvSpPr>
        <p:spPr>
          <a:xfrm>
            <a:off x="365760" y="1600200"/>
            <a:ext cx="4041648" cy="452628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600200"/>
            <a:ext cx="4040188"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5" name="Text Placeholder 4"/>
          <p:cNvSpPr>
            <a:spLocks noGrp="1"/>
          </p:cNvSpPr>
          <p:nvPr>
            <p:ph type="body" sz="quarter" idx="3"/>
          </p:nvPr>
        </p:nvSpPr>
        <p:spPr>
          <a:xfrm>
            <a:off x="4648200" y="1600200"/>
            <a:ext cx="4041775"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7" name="Date Placeholder 6"/>
          <p:cNvSpPr>
            <a:spLocks noGrp="1"/>
          </p:cNvSpPr>
          <p:nvPr>
            <p:ph type="dt" sz="half" idx="10"/>
          </p:nvPr>
        </p:nvSpPr>
        <p:spPr/>
        <p:txBody>
          <a:bodyPr/>
          <a:lstStyle/>
          <a:p>
            <a:fld id="{C81D1448-F56A-427E-B4D3-154671AD8545}" type="datetimeFigureOut">
              <a:rPr lang="en-SG" smtClean="0"/>
              <a:t>15/4/2026</a:t>
            </a:fld>
            <a:endParaRPr lang="en-SG"/>
          </a:p>
        </p:txBody>
      </p:sp>
      <p:sp>
        <p:nvSpPr>
          <p:cNvPr id="8" name="Footer Placeholder 7"/>
          <p:cNvSpPr>
            <a:spLocks noGrp="1"/>
          </p:cNvSpPr>
          <p:nvPr>
            <p:ph type="ftr" sz="quarter" idx="11"/>
          </p:nvPr>
        </p:nvSpPr>
        <p:spPr/>
        <p:txBody>
          <a:bodyPr/>
          <a:lstStyle/>
          <a:p>
            <a:endParaRPr lang="en-SG"/>
          </a:p>
        </p:txBody>
      </p:sp>
      <p:sp>
        <p:nvSpPr>
          <p:cNvPr id="9" name="Slide Number Placeholder 8"/>
          <p:cNvSpPr>
            <a:spLocks noGrp="1"/>
          </p:cNvSpPr>
          <p:nvPr>
            <p:ph type="sldNum" sz="quarter" idx="12"/>
          </p:nvPr>
        </p:nvSpPr>
        <p:spPr/>
        <p:txBody>
          <a:bodyPr/>
          <a:lstStyle/>
          <a:p>
            <a:fld id="{C5804EC2-4BFC-4480-AE2A-23FA0465B8FA}" type="slidenum">
              <a:rPr lang="en-SG" smtClean="0"/>
              <a:t>‹#›</a:t>
            </a:fld>
            <a:endParaRPr lang="en-SG"/>
          </a:p>
        </p:txBody>
      </p:sp>
      <p:sp>
        <p:nvSpPr>
          <p:cNvPr id="11" name="Content Placeholder 10"/>
          <p:cNvSpPr>
            <a:spLocks noGrp="1"/>
          </p:cNvSpPr>
          <p:nvPr>
            <p:ph sz="quarter" idx="13"/>
          </p:nvPr>
        </p:nvSpPr>
        <p:spPr>
          <a:xfrm>
            <a:off x="457200" y="2212848"/>
            <a:ext cx="4041648" cy="391363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Content Placeholder 12"/>
          <p:cNvSpPr>
            <a:spLocks noGrp="1"/>
          </p:cNvSpPr>
          <p:nvPr>
            <p:ph sz="quarter" idx="14"/>
          </p:nvPr>
        </p:nvSpPr>
        <p:spPr>
          <a:xfrm>
            <a:off x="4672584" y="2212848"/>
            <a:ext cx="4041648" cy="39131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C81D1448-F56A-427E-B4D3-154671AD8545}" type="datetimeFigureOut">
              <a:rPr lang="en-SG" smtClean="0"/>
              <a:t>15/4/2026</a:t>
            </a:fld>
            <a:endParaRPr lang="en-SG"/>
          </a:p>
        </p:txBody>
      </p:sp>
      <p:sp>
        <p:nvSpPr>
          <p:cNvPr id="4" name="Footer Placeholder 3"/>
          <p:cNvSpPr>
            <a:spLocks noGrp="1"/>
          </p:cNvSpPr>
          <p:nvPr>
            <p:ph type="ftr" sz="quarter" idx="11"/>
          </p:nvPr>
        </p:nvSpPr>
        <p:spPr/>
        <p:txBody>
          <a:bodyPr/>
          <a:lstStyle/>
          <a:p>
            <a:endParaRPr lang="en-SG"/>
          </a:p>
        </p:txBody>
      </p:sp>
      <p:sp>
        <p:nvSpPr>
          <p:cNvPr id="5" name="Slide Number Placeholder 4"/>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81D1448-F56A-427E-B4D3-154671AD8545}" type="datetimeFigureOut">
              <a:rPr lang="en-SG" smtClean="0"/>
              <a:t>15/4/2026</a:t>
            </a:fld>
            <a:endParaRPr lang="en-SG"/>
          </a:p>
        </p:txBody>
      </p:sp>
      <p:sp>
        <p:nvSpPr>
          <p:cNvPr id="3" name="Footer Placeholder 2"/>
          <p:cNvSpPr>
            <a:spLocks noGrp="1"/>
          </p:cNvSpPr>
          <p:nvPr>
            <p:ph type="ftr" sz="quarter" idx="11"/>
          </p:nvPr>
        </p:nvSpPr>
        <p:spPr/>
        <p:txBody>
          <a:bodyPr/>
          <a:lstStyle/>
          <a:p>
            <a:endParaRPr lang="en-SG"/>
          </a:p>
        </p:txBody>
      </p:sp>
      <p:sp>
        <p:nvSpPr>
          <p:cNvPr id="4" name="Slide Number Placeholder 3"/>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07087" y="266700"/>
            <a:ext cx="3008313" cy="2095500"/>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en-US" smtClean="0"/>
              <a:t>Click to edit Master title style</a:t>
            </a:r>
            <a:endParaRPr lang="en-US" dirty="0"/>
          </a:p>
        </p:txBody>
      </p:sp>
      <p:sp>
        <p:nvSpPr>
          <p:cNvPr id="3" name="Content Placeholder 2"/>
          <p:cNvSpPr>
            <a:spLocks noGrp="1"/>
          </p:cNvSpPr>
          <p:nvPr>
            <p:ph idx="1"/>
          </p:nvPr>
        </p:nvSpPr>
        <p:spPr>
          <a:xfrm>
            <a:off x="719137" y="273050"/>
            <a:ext cx="4995863"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907087" y="2438400"/>
            <a:ext cx="3008313" cy="3687763"/>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81D1448-F56A-427E-B4D3-154671AD8545}" type="datetimeFigureOut">
              <a:rPr lang="en-SG" smtClean="0"/>
              <a:t>15/4/2026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6" y="228600"/>
            <a:ext cx="5711824" cy="895350"/>
          </a:xfrm>
        </p:spPr>
        <p:txBody>
          <a:bodyPr anchor="b"/>
          <a:lstStyle>
            <a:lvl1pPr algn="ctr">
              <a:lnSpc>
                <a:spcPct val="100000"/>
              </a:lnSpc>
              <a:defRPr sz="2800" b="0"/>
            </a:lvl1pPr>
          </a:lstStyle>
          <a:p>
            <a:r>
              <a:rPr lang="en-US" smtClean="0"/>
              <a:t>Click to edit Master title style</a:t>
            </a:r>
            <a:endParaRPr lang="en-US" dirty="0"/>
          </a:p>
        </p:txBody>
      </p:sp>
      <p:sp>
        <p:nvSpPr>
          <p:cNvPr id="3" name="Picture Placeholder 2"/>
          <p:cNvSpPr>
            <a:spLocks noGrp="1"/>
          </p:cNvSpPr>
          <p:nvPr>
            <p:ph type="pic" idx="1"/>
          </p:nvPr>
        </p:nvSpPr>
        <p:spPr>
          <a:xfrm>
            <a:off x="1508126" y="1143000"/>
            <a:ext cx="6054724" cy="4541044"/>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679576" y="5810250"/>
            <a:ext cx="5711824" cy="5334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81D1448-F56A-427E-B4D3-154671AD8545}" type="datetimeFigureOut">
              <a:rPr lang="en-SG" smtClean="0"/>
              <a:t>15/4/2026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81D1448-F56A-427E-B4D3-154671AD8545}" type="datetimeFigureOut">
              <a:rPr lang="en-SG" smtClean="0"/>
              <a:t>15/4/2026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81D1448-F56A-427E-B4D3-154671AD8545}" type="datetimeFigureOut">
              <a:rPr lang="en-SG" smtClean="0"/>
              <a:t>15/4/2026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C81D1448-F56A-427E-B4D3-154671AD8545}" type="datetimeFigureOut">
              <a:rPr lang="en-SG" smtClean="0"/>
              <a:t>15/4/2026</a:t>
            </a:fld>
            <a:endParaRPr lang="en-SG"/>
          </a:p>
        </p:txBody>
      </p:sp>
      <p:sp>
        <p:nvSpPr>
          <p:cNvPr id="17" name="Footer Placeholder 16"/>
          <p:cNvSpPr>
            <a:spLocks noGrp="1"/>
          </p:cNvSpPr>
          <p:nvPr>
            <p:ph type="ftr" sz="quarter" idx="11"/>
          </p:nvPr>
        </p:nvSpPr>
        <p:spPr/>
        <p:txBody>
          <a:bodyPr/>
          <a:lstStyle/>
          <a:p>
            <a:endParaRPr lang="en-SG"/>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C5804EC2-4BFC-4480-AE2A-23FA0465B8FA}" type="slidenum">
              <a:rPr lang="en-SG" smtClean="0"/>
              <a:t>‹#›</a:t>
            </a:fld>
            <a:endParaRPr lang="en-SG"/>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C81D1448-F56A-427E-B4D3-154671AD8545}" type="datetimeFigureOut">
              <a:rPr lang="en-SG" smtClean="0"/>
              <a:t>15/4/2026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C81D1448-F56A-427E-B4D3-154671AD8545}" type="datetimeFigureOut">
              <a:rPr lang="en-SG" smtClean="0"/>
              <a:t>15/4/2026</a:t>
            </a:fld>
            <a:endParaRPr lang="en-SG"/>
          </a:p>
        </p:txBody>
      </p:sp>
      <p:sp>
        <p:nvSpPr>
          <p:cNvPr id="5" name="Footer Placeholder 4"/>
          <p:cNvSpPr>
            <a:spLocks noGrp="1"/>
          </p:cNvSpPr>
          <p:nvPr>
            <p:ph type="ftr" sz="quarter" idx="11"/>
          </p:nvPr>
        </p:nvSpPr>
        <p:spPr>
          <a:xfrm>
            <a:off x="800100" y="6172200"/>
            <a:ext cx="4000500" cy="457200"/>
          </a:xfrm>
        </p:spPr>
        <p:txBody>
          <a:bodyPr/>
          <a:lstStyle/>
          <a:p>
            <a:endParaRPr lang="en-SG"/>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C5804EC2-4BFC-4480-AE2A-23FA0465B8FA}" type="slidenum">
              <a:rPr lang="en-SG" smtClean="0"/>
              <a:t>‹#›</a:t>
            </a:fld>
            <a:endParaRPr lang="en-SG"/>
          </a:p>
        </p:txBody>
      </p:sp>
    </p:spTree>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C81D1448-F56A-427E-B4D3-154671AD8545}" type="datetimeFigureOut">
              <a:rPr lang="en-SG" smtClean="0"/>
              <a:t>15/4/2026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C5804EC2-4BFC-4480-AE2A-23FA0465B8FA}" type="slidenum">
              <a:rPr lang="en-SG" smtClean="0"/>
              <a:t>‹#›</a:t>
            </a:fld>
            <a:endParaRPr lang="en-SG"/>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C81D1448-F56A-427E-B4D3-154671AD8545}" type="datetimeFigureOut">
              <a:rPr lang="en-SG" smtClean="0"/>
              <a:t>15/4/2026</a:t>
            </a:fld>
            <a:endParaRPr lang="en-SG"/>
          </a:p>
        </p:txBody>
      </p:sp>
      <p:sp>
        <p:nvSpPr>
          <p:cNvPr id="8" name="Footer Placeholder 7"/>
          <p:cNvSpPr>
            <a:spLocks noGrp="1"/>
          </p:cNvSpPr>
          <p:nvPr>
            <p:ph type="ftr" sz="quarter" idx="11"/>
          </p:nvPr>
        </p:nvSpPr>
        <p:spPr/>
        <p:txBody>
          <a:bodyPr/>
          <a:lstStyle/>
          <a:p>
            <a:endParaRPr lang="en-SG"/>
          </a:p>
        </p:txBody>
      </p:sp>
      <p:sp>
        <p:nvSpPr>
          <p:cNvPr id="9" name="Slide Number Placeholder 8"/>
          <p:cNvSpPr>
            <a:spLocks noGrp="1"/>
          </p:cNvSpPr>
          <p:nvPr>
            <p:ph type="sldNum" sz="quarter" idx="12"/>
          </p:nvPr>
        </p:nvSpPr>
        <p:spPr/>
        <p:txBody>
          <a:bodyPr/>
          <a:lstStyle/>
          <a:p>
            <a:fld id="{C5804EC2-4BFC-4480-AE2A-23FA0465B8FA}" type="slidenum">
              <a:rPr lang="en-SG" smtClean="0"/>
              <a:t>‹#›</a:t>
            </a:fld>
            <a:endParaRPr lang="en-SG"/>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C81D1448-F56A-427E-B4D3-154671AD8545}" type="datetimeFigureOut">
              <a:rPr lang="en-SG" smtClean="0"/>
              <a:t>15/4/2026</a:t>
            </a:fld>
            <a:endParaRPr lang="en-SG"/>
          </a:p>
        </p:txBody>
      </p:sp>
      <p:sp>
        <p:nvSpPr>
          <p:cNvPr id="4" name="Footer Placeholder 3"/>
          <p:cNvSpPr>
            <a:spLocks noGrp="1"/>
          </p:cNvSpPr>
          <p:nvPr>
            <p:ph type="ftr" sz="quarter" idx="11"/>
          </p:nvPr>
        </p:nvSpPr>
        <p:spPr/>
        <p:txBody>
          <a:bodyPr/>
          <a:lstStyle/>
          <a:p>
            <a:endParaRPr lang="en-SG"/>
          </a:p>
        </p:txBody>
      </p:sp>
      <p:sp>
        <p:nvSpPr>
          <p:cNvPr id="5" name="Slide Number Placeholder 4"/>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81D1448-F56A-427E-B4D3-154671AD8545}" type="datetimeFigureOut">
              <a:rPr lang="en-SG" smtClean="0"/>
              <a:t>15/4/2026</a:t>
            </a:fld>
            <a:endParaRPr lang="en-SG"/>
          </a:p>
        </p:txBody>
      </p:sp>
      <p:sp>
        <p:nvSpPr>
          <p:cNvPr id="3" name="Footer Placeholder 2"/>
          <p:cNvSpPr>
            <a:spLocks noGrp="1"/>
          </p:cNvSpPr>
          <p:nvPr>
            <p:ph type="ftr" sz="quarter" idx="11"/>
          </p:nvPr>
        </p:nvSpPr>
        <p:spPr/>
        <p:txBody>
          <a:bodyPr/>
          <a:lstStyle/>
          <a:p>
            <a:endParaRPr lang="en-SG"/>
          </a:p>
        </p:txBody>
      </p:sp>
      <p:sp>
        <p:nvSpPr>
          <p:cNvPr id="4" name="Slide Number Placeholder 3"/>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C81D1448-F56A-427E-B4D3-154671AD8545}" type="datetimeFigureOut">
              <a:rPr lang="en-SG" smtClean="0"/>
              <a:t>15/4/2026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C5804EC2-4BFC-4480-AE2A-23FA0465B8FA}" type="slidenum">
              <a:rPr lang="en-SG" smtClean="0"/>
              <a:t>‹#›</a:t>
            </a:fld>
            <a:endParaRPr lang="en-SG"/>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C81D1448-F56A-427E-B4D3-154671AD8545}" type="datetimeFigureOut">
              <a:rPr lang="en-SG" smtClean="0"/>
              <a:t>15/4/2026</a:t>
            </a:fld>
            <a:endParaRPr lang="en-SG"/>
          </a:p>
        </p:txBody>
      </p:sp>
      <p:sp>
        <p:nvSpPr>
          <p:cNvPr id="6" name="Footer Placeholder 5"/>
          <p:cNvSpPr>
            <a:spLocks noGrp="1"/>
          </p:cNvSpPr>
          <p:nvPr>
            <p:ph type="ftr" sz="quarter" idx="11"/>
          </p:nvPr>
        </p:nvSpPr>
        <p:spPr>
          <a:xfrm>
            <a:off x="914400" y="6172200"/>
            <a:ext cx="3886200" cy="457200"/>
          </a:xfrm>
        </p:spPr>
        <p:txBody>
          <a:bodyPr/>
          <a:lstStyle/>
          <a:p>
            <a:endParaRPr lang="en-SG"/>
          </a:p>
        </p:txBody>
      </p:sp>
      <p:sp>
        <p:nvSpPr>
          <p:cNvPr id="7" name="Slide Number Placeholder 6"/>
          <p:cNvSpPr>
            <a:spLocks noGrp="1"/>
          </p:cNvSpPr>
          <p:nvPr>
            <p:ph type="sldNum" sz="quarter" idx="12"/>
          </p:nvPr>
        </p:nvSpPr>
        <p:spPr>
          <a:xfrm>
            <a:off x="146304" y="6208776"/>
            <a:ext cx="457200" cy="457200"/>
          </a:xfrm>
        </p:spPr>
        <p:txBody>
          <a:bodyPr/>
          <a:lstStyle/>
          <a:p>
            <a:fld id="{C5804EC2-4BFC-4480-AE2A-23FA0465B8FA}" type="slidenum">
              <a:rPr lang="en-SG" smtClean="0"/>
              <a:t>‹#›</a:t>
            </a:fld>
            <a:endParaRPr lang="en-SG"/>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smtClean="0"/>
              <a:t>Click icon to add picture</a:t>
            </a:r>
            <a:endParaRPr kumimoji="0"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81D1448-F56A-427E-B4D3-154671AD8545}" type="datetimeFigureOut">
              <a:rPr lang="en-SG" smtClean="0"/>
              <a:t>15/4/2026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81D1448-F56A-427E-B4D3-154671AD8545}" type="datetimeFigureOut">
              <a:rPr lang="en-SG" smtClean="0"/>
              <a:t>15/4/2026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C81D1448-F56A-427E-B4D3-154671AD8545}" type="datetimeFigureOut">
              <a:rPr lang="en-SG" smtClean="0"/>
              <a:t>15/4/2026</a:t>
            </a:fld>
            <a:endParaRPr lang="en-SG"/>
          </a:p>
        </p:txBody>
      </p:sp>
      <p:sp>
        <p:nvSpPr>
          <p:cNvPr id="19" name="Footer Placeholder 18"/>
          <p:cNvSpPr>
            <a:spLocks noGrp="1"/>
          </p:cNvSpPr>
          <p:nvPr>
            <p:ph type="ftr" sz="quarter" idx="11"/>
          </p:nvPr>
        </p:nvSpPr>
        <p:spPr/>
        <p:txBody>
          <a:bodyPr/>
          <a:lstStyle/>
          <a:p>
            <a:endParaRPr lang="en-SG"/>
          </a:p>
        </p:txBody>
      </p:sp>
      <p:sp>
        <p:nvSpPr>
          <p:cNvPr id="27" name="Slide Number Placeholder 26"/>
          <p:cNvSpPr>
            <a:spLocks noGrp="1"/>
          </p:cNvSpPr>
          <p:nvPr>
            <p:ph type="sldNum" sz="quarter" idx="12"/>
          </p:nvPr>
        </p:nvSpPr>
        <p:spPr/>
        <p:txBody>
          <a:bodyPr/>
          <a:lstStyle/>
          <a:p>
            <a:fld id="{C5804EC2-4BFC-4480-AE2A-23FA0465B8FA}" type="slidenum">
              <a:rPr lang="en-SG" smtClean="0"/>
              <a:t>‹#›</a:t>
            </a:fld>
            <a:endParaRPr lang="en-SG"/>
          </a:p>
        </p:txBody>
      </p:sp>
    </p:spTree>
  </p:cSld>
  <p:clrMapOvr>
    <a:overrideClrMapping bg1="dk1" tx1="lt1" bg2="dk2" tx2="lt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81D1448-F56A-427E-B4D3-154671AD8545}" type="datetimeFigureOut">
              <a:rPr lang="en-SG" smtClean="0"/>
              <a:t>15/4/2026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C81D1448-F56A-427E-B4D3-154671AD8545}" type="datetimeFigureOut">
              <a:rPr lang="en-SG" smtClean="0"/>
              <a:t>15/4/2026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Tree>
  </p:cSld>
  <p:clrMapOvr>
    <a:overrideClrMapping bg1="dk1" tx1="lt1" bg2="dk2" tx2="lt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C81D1448-F56A-427E-B4D3-154671AD8545}" type="datetimeFigureOut">
              <a:rPr lang="en-SG" smtClean="0"/>
              <a:t>15/4/2026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C81D1448-F56A-427E-B4D3-154671AD8545}" type="datetimeFigureOut">
              <a:rPr lang="en-SG" smtClean="0"/>
              <a:t>15/4/2026</a:t>
            </a:fld>
            <a:endParaRPr lang="en-SG"/>
          </a:p>
        </p:txBody>
      </p:sp>
      <p:sp>
        <p:nvSpPr>
          <p:cNvPr id="8" name="Footer Placeholder 7"/>
          <p:cNvSpPr>
            <a:spLocks noGrp="1"/>
          </p:cNvSpPr>
          <p:nvPr>
            <p:ph type="ftr" sz="quarter" idx="11"/>
          </p:nvPr>
        </p:nvSpPr>
        <p:spPr/>
        <p:txBody>
          <a:bodyPr/>
          <a:lstStyle/>
          <a:p>
            <a:endParaRPr lang="en-SG"/>
          </a:p>
        </p:txBody>
      </p:sp>
      <p:sp>
        <p:nvSpPr>
          <p:cNvPr id="9" name="Slide Number Placeholder 8"/>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C81D1448-F56A-427E-B4D3-154671AD8545}" type="datetimeFigureOut">
              <a:rPr lang="en-SG" smtClean="0"/>
              <a:t>15/4/2026</a:t>
            </a:fld>
            <a:endParaRPr lang="en-SG"/>
          </a:p>
        </p:txBody>
      </p:sp>
      <p:sp>
        <p:nvSpPr>
          <p:cNvPr id="4" name="Footer Placeholder 3"/>
          <p:cNvSpPr>
            <a:spLocks noGrp="1"/>
          </p:cNvSpPr>
          <p:nvPr>
            <p:ph type="ftr" sz="quarter" idx="11"/>
          </p:nvPr>
        </p:nvSpPr>
        <p:spPr/>
        <p:txBody>
          <a:bodyPr/>
          <a:lstStyle/>
          <a:p>
            <a:endParaRPr lang="en-SG"/>
          </a:p>
        </p:txBody>
      </p:sp>
      <p:sp>
        <p:nvSpPr>
          <p:cNvPr id="5" name="Slide Number Placeholder 4"/>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81D1448-F56A-427E-B4D3-154671AD8545}" type="datetimeFigureOut">
              <a:rPr lang="en-SG" smtClean="0"/>
              <a:t>15/4/2026</a:t>
            </a:fld>
            <a:endParaRPr lang="en-SG"/>
          </a:p>
        </p:txBody>
      </p:sp>
      <p:sp>
        <p:nvSpPr>
          <p:cNvPr id="3" name="Footer Placeholder 2"/>
          <p:cNvSpPr>
            <a:spLocks noGrp="1"/>
          </p:cNvSpPr>
          <p:nvPr>
            <p:ph type="ftr" sz="quarter" idx="11"/>
          </p:nvPr>
        </p:nvSpPr>
        <p:spPr/>
        <p:txBody>
          <a:bodyPr/>
          <a:lstStyle/>
          <a:p>
            <a:endParaRPr lang="en-SG"/>
          </a:p>
        </p:txBody>
      </p:sp>
      <p:sp>
        <p:nvSpPr>
          <p:cNvPr id="4" name="Slide Number Placeholder 3"/>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C81D1448-F56A-427E-B4D3-154671AD8545}" type="datetimeFigureOut">
              <a:rPr lang="en-SG" smtClean="0"/>
              <a:t>15/4/2026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C81D1448-F56A-427E-B4D3-154671AD8545}" type="datetimeFigureOut">
              <a:rPr lang="en-SG" smtClean="0"/>
              <a:t>15/4/2026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a:xfrm>
            <a:off x="8077200" y="6356350"/>
            <a:ext cx="609600" cy="365125"/>
          </a:xfrm>
        </p:spPr>
        <p:txBody>
          <a:bodyPr/>
          <a:lstStyle/>
          <a:p>
            <a:fld id="{C5804EC2-4BFC-4480-AE2A-23FA0465B8FA}" type="slidenum">
              <a:rPr lang="en-SG" smtClean="0"/>
              <a:t>‹#›</a:t>
            </a:fld>
            <a:endParaRPr lang="en-SG"/>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81D1448-F56A-427E-B4D3-154671AD8545}" type="datetimeFigureOut">
              <a:rPr lang="en-SG" smtClean="0"/>
              <a:t>15/4/2026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81D1448-F56A-427E-B4D3-154671AD8545}" type="datetimeFigureOut">
              <a:rPr lang="en-SG" smtClean="0"/>
              <a:t>15/4/2026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0"/>
            <a:ext cx="8229600" cy="1600200"/>
          </a:xfrm>
          <a:prstGeom prst="rect">
            <a:avLst/>
          </a:prstGeom>
        </p:spPr>
        <p:txBody>
          <a:bodyPr vert="horz" lIns="91440" tIns="45720" rIns="91440" bIns="45720" rtlCol="0" anchor="b">
            <a:no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2"/>
          </p:nvPr>
        </p:nvSpPr>
        <p:spPr>
          <a:xfrm>
            <a:off x="6363347" y="6356350"/>
            <a:ext cx="2085975" cy="365125"/>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fld id="{C81D1448-F56A-427E-B4D3-154671AD8545}" type="datetimeFigureOut">
              <a:rPr lang="en-SG" smtClean="0"/>
              <a:t>15/4/2026</a:t>
            </a:fld>
            <a:endParaRPr lang="en-SG"/>
          </a:p>
        </p:txBody>
      </p:sp>
      <p:sp>
        <p:nvSpPr>
          <p:cNvPr id="5" name="Footer Placeholder 4"/>
          <p:cNvSpPr>
            <a:spLocks noGrp="1"/>
          </p:cNvSpPr>
          <p:nvPr>
            <p:ph type="ftr" sz="quarter" idx="3"/>
          </p:nvPr>
        </p:nvSpPr>
        <p:spPr>
          <a:xfrm>
            <a:off x="659165" y="6356350"/>
            <a:ext cx="2847975" cy="365125"/>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itchFamily="34" charset="0"/>
              </a:defRPr>
            </a:lvl1pPr>
          </a:lstStyle>
          <a:p>
            <a:endParaRPr lang="en-SG"/>
          </a:p>
        </p:txBody>
      </p:sp>
      <p:sp>
        <p:nvSpPr>
          <p:cNvPr id="6" name="Slide Number Placeholder 5"/>
          <p:cNvSpPr>
            <a:spLocks noGrp="1"/>
          </p:cNvSpPr>
          <p:nvPr>
            <p:ph type="sldNum" sz="quarter" idx="4"/>
          </p:nvPr>
        </p:nvSpPr>
        <p:spPr>
          <a:xfrm>
            <a:off x="8543278" y="6356350"/>
            <a:ext cx="561975" cy="365125"/>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fld id="{C5804EC2-4BFC-4480-AE2A-23FA0465B8FA}" type="slidenum">
              <a:rPr lang="en-SG" smtClean="0"/>
              <a:t>‹#›</a:t>
            </a:fld>
            <a:endParaRPr lang="en-SG"/>
          </a:p>
        </p:txBody>
      </p:sp>
      <p:sp>
        <p:nvSpPr>
          <p:cNvPr id="7" name="Oval 6"/>
          <p:cNvSpPr/>
          <p:nvPr/>
        </p:nvSpPr>
        <p:spPr>
          <a:xfrm>
            <a:off x="8457760"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Oval 7"/>
          <p:cNvSpPr/>
          <p:nvPr/>
        </p:nvSpPr>
        <p:spPr>
          <a:xfrm>
            <a:off x="569119"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C81D1448-F56A-427E-B4D3-154671AD8545}" type="datetimeFigureOut">
              <a:rPr lang="en-SG" smtClean="0"/>
              <a:t>15/4/2026</a:t>
            </a:fld>
            <a:endParaRPr lang="en-SG"/>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SG"/>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C5804EC2-4BFC-4480-AE2A-23FA0465B8FA}" type="slidenum">
              <a:rPr lang="en-SG" smtClean="0"/>
              <a:t>‹#›</a:t>
            </a:fld>
            <a:endParaRPr lang="en-SG"/>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C81D1448-F56A-427E-B4D3-154671AD8545}" type="datetimeFigureOut">
              <a:rPr lang="en-SG" smtClean="0"/>
              <a:t>15/4/2026</a:t>
            </a:fld>
            <a:endParaRPr lang="en-SG"/>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SG"/>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C5804EC2-4BFC-4480-AE2A-23FA0465B8FA}" type="slidenum">
              <a:rPr lang="en-SG" smtClean="0"/>
              <a:t>‹#›</a:t>
            </a:fld>
            <a:endParaRPr lang="en-SG"/>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3568" y="404664"/>
            <a:ext cx="7772400" cy="1470025"/>
          </a:xfrm>
        </p:spPr>
        <p:txBody>
          <a:bodyPr/>
          <a:lstStyle/>
          <a:p>
            <a:r>
              <a:rPr lang="en-SG" dirty="0" smtClean="0"/>
              <a:t>Scenario</a:t>
            </a:r>
            <a:endParaRPr lang="en-SG" dirty="0"/>
          </a:p>
        </p:txBody>
      </p:sp>
      <p:sp>
        <p:nvSpPr>
          <p:cNvPr id="3" name="Subtitle 2"/>
          <p:cNvSpPr>
            <a:spLocks noGrp="1"/>
          </p:cNvSpPr>
          <p:nvPr>
            <p:ph type="subTitle" idx="1"/>
          </p:nvPr>
        </p:nvSpPr>
        <p:spPr>
          <a:xfrm>
            <a:off x="683568" y="2011288"/>
            <a:ext cx="7776864" cy="3865984"/>
          </a:xfrm>
        </p:spPr>
        <p:txBody>
          <a:bodyPr>
            <a:noAutofit/>
          </a:bodyPr>
          <a:lstStyle/>
          <a:p>
            <a:pPr algn="l"/>
            <a:r>
              <a:rPr lang="en-GB" sz="1200" dirty="0">
                <a:solidFill>
                  <a:schemeClr val="tx1"/>
                </a:solidFill>
              </a:rPr>
              <a:t>You are a cybersecurity analyst working for a multimedia company that offers web design services, graphic design, and social media marketing solutions to small businesses. Your organization recently experienced a </a:t>
            </a:r>
            <a:r>
              <a:rPr lang="en-GB" sz="1200" dirty="0" err="1">
                <a:solidFill>
                  <a:schemeClr val="tx1"/>
                </a:solidFill>
              </a:rPr>
              <a:t>DoS</a:t>
            </a:r>
            <a:r>
              <a:rPr lang="en-GB" sz="1200" dirty="0">
                <a:solidFill>
                  <a:schemeClr val="tx1"/>
                </a:solidFill>
              </a:rPr>
              <a:t> attack, which compromised the internal network for two hours until it was resolved.</a:t>
            </a:r>
          </a:p>
          <a:p>
            <a:pPr algn="l"/>
            <a:endParaRPr lang="en-GB" sz="1200" dirty="0" smtClean="0">
              <a:solidFill>
                <a:schemeClr val="tx1"/>
              </a:solidFill>
            </a:endParaRPr>
          </a:p>
          <a:p>
            <a:pPr algn="l"/>
            <a:r>
              <a:rPr lang="en-GB" sz="1200" dirty="0" smtClean="0">
                <a:solidFill>
                  <a:schemeClr val="tx1"/>
                </a:solidFill>
              </a:rPr>
              <a:t>During </a:t>
            </a:r>
            <a:r>
              <a:rPr lang="en-GB" sz="1200" dirty="0">
                <a:solidFill>
                  <a:schemeClr val="tx1"/>
                </a:solidFill>
              </a:rPr>
              <a:t>the attack, your organization’s network services suddenly stopped responding due to an incoming flood of ICMP packets. Normal internal network traffic could not access any network resources. The incident management team responded by blocking incoming ICMP packets, stopping all non-critical network services offline, and restoring critical network services. </a:t>
            </a:r>
          </a:p>
          <a:p>
            <a:pPr algn="l"/>
            <a:endParaRPr lang="en-GB" sz="1200" dirty="0" smtClean="0">
              <a:solidFill>
                <a:schemeClr val="tx1"/>
              </a:solidFill>
            </a:endParaRPr>
          </a:p>
          <a:p>
            <a:pPr algn="l"/>
            <a:r>
              <a:rPr lang="en-GB" sz="1200" dirty="0" smtClean="0">
                <a:solidFill>
                  <a:schemeClr val="tx1"/>
                </a:solidFill>
              </a:rPr>
              <a:t>The </a:t>
            </a:r>
            <a:r>
              <a:rPr lang="en-GB" sz="1200" dirty="0">
                <a:solidFill>
                  <a:schemeClr val="tx1"/>
                </a:solidFill>
              </a:rPr>
              <a:t>company’s cybersecurity team then investigated the security event. They found that a malicious actor had sent a flood of ICMP pings into the company’s network through an </a:t>
            </a:r>
            <a:r>
              <a:rPr lang="en-GB" sz="1200" dirty="0" err="1">
                <a:solidFill>
                  <a:schemeClr val="tx1"/>
                </a:solidFill>
              </a:rPr>
              <a:t>unconfigured</a:t>
            </a:r>
            <a:r>
              <a:rPr lang="en-GB" sz="1200" dirty="0">
                <a:solidFill>
                  <a:schemeClr val="tx1"/>
                </a:solidFill>
              </a:rPr>
              <a:t> firewall. This vulnerability allowed the malicious attacker to overwhelm the company’s network through a denial of service (</a:t>
            </a:r>
            <a:r>
              <a:rPr lang="en-GB" sz="1200" dirty="0" err="1">
                <a:solidFill>
                  <a:schemeClr val="tx1"/>
                </a:solidFill>
              </a:rPr>
              <a:t>DoS</a:t>
            </a:r>
            <a:r>
              <a:rPr lang="en-GB" sz="1200" dirty="0">
                <a:solidFill>
                  <a:schemeClr val="tx1"/>
                </a:solidFill>
              </a:rPr>
              <a:t>) attack. </a:t>
            </a:r>
          </a:p>
          <a:p>
            <a:pPr algn="l"/>
            <a:endParaRPr lang="en-GB" sz="1200" dirty="0" smtClean="0">
              <a:solidFill>
                <a:schemeClr val="tx1"/>
              </a:solidFill>
            </a:endParaRPr>
          </a:p>
          <a:p>
            <a:pPr algn="l"/>
            <a:r>
              <a:rPr lang="en-GB" sz="1200" dirty="0" smtClean="0">
                <a:solidFill>
                  <a:schemeClr val="tx1"/>
                </a:solidFill>
              </a:rPr>
              <a:t>To </a:t>
            </a:r>
            <a:r>
              <a:rPr lang="en-GB" sz="1200" dirty="0">
                <a:solidFill>
                  <a:schemeClr val="tx1"/>
                </a:solidFill>
              </a:rPr>
              <a:t>address this security event, the network security team implemented: </a:t>
            </a:r>
          </a:p>
          <a:p>
            <a:pPr marL="171450" indent="-171450" algn="l">
              <a:buFont typeface="Arial" panose="020B0604020202020204" pitchFamily="34" charset="0"/>
              <a:buChar char="•"/>
            </a:pPr>
            <a:r>
              <a:rPr lang="en-GB" sz="1200" dirty="0">
                <a:solidFill>
                  <a:schemeClr val="tx1"/>
                </a:solidFill>
              </a:rPr>
              <a:t>A new firewall rule to limit the rate of incoming ICMP packets</a:t>
            </a:r>
          </a:p>
          <a:p>
            <a:pPr marL="171450" indent="-171450" algn="l">
              <a:buFont typeface="Arial" panose="020B0604020202020204" pitchFamily="34" charset="0"/>
              <a:buChar char="•"/>
            </a:pPr>
            <a:r>
              <a:rPr lang="en-GB" sz="1200" dirty="0">
                <a:solidFill>
                  <a:schemeClr val="tx1"/>
                </a:solidFill>
              </a:rPr>
              <a:t>Source IP address verification on the firewall to check for spoofed IP addresses on incoming ICMP packets</a:t>
            </a:r>
          </a:p>
          <a:p>
            <a:pPr marL="171450" indent="-171450" algn="l">
              <a:buFont typeface="Arial" panose="020B0604020202020204" pitchFamily="34" charset="0"/>
              <a:buChar char="•"/>
            </a:pPr>
            <a:r>
              <a:rPr lang="en-GB" sz="1200" dirty="0" smtClean="0">
                <a:solidFill>
                  <a:schemeClr val="tx1"/>
                </a:solidFill>
              </a:rPr>
              <a:t>Network </a:t>
            </a:r>
            <a:r>
              <a:rPr lang="en-GB" sz="1200" dirty="0">
                <a:solidFill>
                  <a:schemeClr val="tx1"/>
                </a:solidFill>
              </a:rPr>
              <a:t>monitoring software to detect abnormal traffic patterns</a:t>
            </a:r>
          </a:p>
          <a:p>
            <a:pPr marL="171450" indent="-171450" algn="l">
              <a:buFont typeface="Arial" panose="020B0604020202020204" pitchFamily="34" charset="0"/>
              <a:buChar char="•"/>
            </a:pPr>
            <a:r>
              <a:rPr lang="en-GB" sz="1200" dirty="0">
                <a:solidFill>
                  <a:schemeClr val="tx1"/>
                </a:solidFill>
              </a:rPr>
              <a:t>An IDS/IPS system to filter out some ICMP traffic based on suspicious characteristics</a:t>
            </a:r>
          </a:p>
        </p:txBody>
      </p:sp>
    </p:spTree>
    <p:extLst>
      <p:ext uri="{BB962C8B-B14F-4D97-AF65-F5344CB8AC3E}">
        <p14:creationId xmlns:p14="http://schemas.microsoft.com/office/powerpoint/2010/main" val="191919235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8340" y="188640"/>
            <a:ext cx="8784976" cy="4247317"/>
          </a:xfrm>
          <a:prstGeom prst="rect">
            <a:avLst/>
          </a:prstGeom>
          <a:noFill/>
        </p:spPr>
        <p:txBody>
          <a:bodyPr wrap="square" rtlCol="0">
            <a:spAutoFit/>
          </a:bodyPr>
          <a:lstStyle/>
          <a:p>
            <a:r>
              <a:rPr lang="en-GB" dirty="0"/>
              <a:t>As a cybersecurity analyst, you are tasked with using this security event to create a plan to improve your company’s network security, following the National Institute of Standards and Technology (NIST) Cybersecurity Framework (CSF). You will use the CSF to help you navigate through the different steps of </a:t>
            </a:r>
            <a:r>
              <a:rPr lang="en-GB" dirty="0" err="1"/>
              <a:t>analyzing</a:t>
            </a:r>
            <a:r>
              <a:rPr lang="en-GB" dirty="0"/>
              <a:t> this cybersecurity event and integrate your analysis into a general security strategy. We have broken the analysis into different parts in the template below. You can explore them here:</a:t>
            </a:r>
          </a:p>
          <a:p>
            <a:pPr marL="285750" indent="-285750">
              <a:buFont typeface="Arial" panose="020B0604020202020204" pitchFamily="34" charset="0"/>
              <a:buChar char="•"/>
            </a:pPr>
            <a:r>
              <a:rPr lang="en-GB" b="1" dirty="0"/>
              <a:t>Identify</a:t>
            </a:r>
            <a:r>
              <a:rPr lang="en-GB" dirty="0"/>
              <a:t> security risks through regular audits of internal networks, systems, devices, and access privileges to identify potential gaps in security. </a:t>
            </a:r>
          </a:p>
          <a:p>
            <a:pPr marL="285750" indent="-285750">
              <a:buFont typeface="Arial" panose="020B0604020202020204" pitchFamily="34" charset="0"/>
              <a:buChar char="•"/>
            </a:pPr>
            <a:r>
              <a:rPr lang="en-GB" b="1" dirty="0"/>
              <a:t>Protect</a:t>
            </a:r>
            <a:r>
              <a:rPr lang="en-GB" dirty="0"/>
              <a:t> internal assets through the implementation of policies, procedures, training and tools that help mitigate cybersecurity threats. </a:t>
            </a:r>
          </a:p>
          <a:p>
            <a:pPr marL="285750" indent="-285750">
              <a:buFont typeface="Arial" panose="020B0604020202020204" pitchFamily="34" charset="0"/>
              <a:buChar char="•"/>
            </a:pPr>
            <a:r>
              <a:rPr lang="en-GB" b="1" dirty="0"/>
              <a:t>Detect</a:t>
            </a:r>
            <a:r>
              <a:rPr lang="en-GB" dirty="0"/>
              <a:t> potential security incidents and improve monitoring capabilities to increase the speed and efficiency of detections. </a:t>
            </a:r>
          </a:p>
          <a:p>
            <a:pPr marL="285750" indent="-285750">
              <a:buFont typeface="Arial" panose="020B0604020202020204" pitchFamily="34" charset="0"/>
              <a:buChar char="•"/>
            </a:pPr>
            <a:r>
              <a:rPr lang="en-GB" b="1" dirty="0"/>
              <a:t>Respond</a:t>
            </a:r>
            <a:r>
              <a:rPr lang="en-GB" dirty="0"/>
              <a:t> to contain, neutralize, and </a:t>
            </a:r>
            <a:r>
              <a:rPr lang="en-GB" dirty="0" err="1"/>
              <a:t>analyze</a:t>
            </a:r>
            <a:r>
              <a:rPr lang="en-GB" dirty="0"/>
              <a:t> security incidents; implement improvements to the security process. </a:t>
            </a:r>
          </a:p>
          <a:p>
            <a:pPr marL="285750" indent="-285750">
              <a:buFont typeface="Arial" panose="020B0604020202020204" pitchFamily="34" charset="0"/>
              <a:buChar char="•"/>
            </a:pPr>
            <a:r>
              <a:rPr lang="en-GB" b="1" dirty="0"/>
              <a:t>Recover</a:t>
            </a:r>
            <a:r>
              <a:rPr lang="en-GB" dirty="0"/>
              <a:t> affected systems to normal operation and restore systems data and/or assets that have been affected by an incident. </a:t>
            </a:r>
            <a:endParaRPr lang="en-GB" sz="1400" dirty="0"/>
          </a:p>
        </p:txBody>
      </p:sp>
    </p:spTree>
    <p:extLst>
      <p:ext uri="{BB962C8B-B14F-4D97-AF65-F5344CB8AC3E}">
        <p14:creationId xmlns:p14="http://schemas.microsoft.com/office/powerpoint/2010/main" val="29784805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23528" y="265286"/>
            <a:ext cx="8568952" cy="892552"/>
          </a:xfrm>
          <a:prstGeom prst="rect">
            <a:avLst/>
          </a:prstGeom>
          <a:noFill/>
        </p:spPr>
        <p:txBody>
          <a:bodyPr wrap="square" rtlCol="0">
            <a:spAutoFit/>
          </a:bodyPr>
          <a:lstStyle/>
          <a:p>
            <a:r>
              <a:rPr lang="en-GB" sz="1600" b="1" dirty="0"/>
              <a:t>Some questions to ask for each of the five core functions, include</a:t>
            </a:r>
            <a:r>
              <a:rPr lang="en-GB" sz="1600" b="1" dirty="0" smtClean="0"/>
              <a:t>:</a:t>
            </a:r>
          </a:p>
          <a:p>
            <a:endParaRPr lang="en-GB" dirty="0" smtClean="0"/>
          </a:p>
          <a:p>
            <a:endParaRPr lang="en-GB" dirty="0"/>
          </a:p>
        </p:txBody>
      </p:sp>
      <p:graphicFrame>
        <p:nvGraphicFramePr>
          <p:cNvPr id="2" name="Table 1"/>
          <p:cNvGraphicFramePr>
            <a:graphicFrameLocks noGrp="1"/>
          </p:cNvGraphicFramePr>
          <p:nvPr>
            <p:extLst>
              <p:ext uri="{D42A27DB-BD31-4B8C-83A1-F6EECF244321}">
                <p14:modId xmlns:p14="http://schemas.microsoft.com/office/powerpoint/2010/main" val="518151232"/>
              </p:ext>
            </p:extLst>
          </p:nvPr>
        </p:nvGraphicFramePr>
        <p:xfrm>
          <a:off x="395536" y="836712"/>
          <a:ext cx="8352928" cy="5654688"/>
        </p:xfrm>
        <a:graphic>
          <a:graphicData uri="http://schemas.openxmlformats.org/drawingml/2006/table">
            <a:tbl>
              <a:tblPr>
                <a:tableStyleId>{5C22544A-7EE6-4342-B048-85BDC9FD1C3A}</a:tableStyleId>
              </a:tblPr>
              <a:tblGrid>
                <a:gridCol w="720080"/>
                <a:gridCol w="7632848"/>
              </a:tblGrid>
              <a:tr h="849450">
                <a:tc>
                  <a:txBody>
                    <a:bodyPr/>
                    <a:lstStyle/>
                    <a:p>
                      <a:pPr>
                        <a:lnSpc>
                          <a:spcPct val="150000"/>
                        </a:lnSpc>
                        <a:spcAft>
                          <a:spcPts val="0"/>
                        </a:spcAft>
                      </a:pPr>
                      <a:r>
                        <a:rPr lang="en-SG" sz="1200" dirty="0">
                          <a:effectLst/>
                        </a:rPr>
                        <a:t>Identify</a:t>
                      </a:r>
                      <a:endParaRPr lang="en-SG" sz="1200" dirty="0">
                        <a:effectLst/>
                        <a:latin typeface="Open Sans"/>
                        <a:ea typeface="Open Sans"/>
                        <a:cs typeface="Open Sans"/>
                      </a:endParaRPr>
                    </a:p>
                  </a:txBody>
                  <a:tcPr marL="26751" marR="26751" marT="26751" marB="26751"/>
                </a:tc>
                <a:tc>
                  <a:txBody>
                    <a:bodyPr/>
                    <a:lstStyle/>
                    <a:p>
                      <a:pPr>
                        <a:lnSpc>
                          <a:spcPct val="115000"/>
                        </a:lnSpc>
                        <a:spcAft>
                          <a:spcPts val="0"/>
                        </a:spcAft>
                      </a:pPr>
                      <a:r>
                        <a:rPr lang="en-SG" sz="1200" dirty="0">
                          <a:effectLst/>
                        </a:rPr>
                        <a:t>Create an inventory of organizational systems, processes, assets, data, people, and capabilities that need to be secured:</a:t>
                      </a:r>
                    </a:p>
                    <a:p>
                      <a:pPr marL="342900" lvl="0" indent="-342900">
                        <a:lnSpc>
                          <a:spcPct val="115000"/>
                        </a:lnSpc>
                        <a:spcAft>
                          <a:spcPts val="0"/>
                        </a:spcAft>
                        <a:buFont typeface="Arial"/>
                        <a:buChar char="●"/>
                      </a:pPr>
                      <a:r>
                        <a:rPr lang="en-SG" sz="1200" u="none" strike="noStrike" dirty="0">
                          <a:effectLst/>
                        </a:rPr>
                        <a:t>Technology/Asset Management: Which hardware devices, operating systems, and software were affected? Trace the flow of the attack through the internal network.</a:t>
                      </a:r>
                    </a:p>
                    <a:p>
                      <a:pPr marL="342900" lvl="0" indent="-342900">
                        <a:lnSpc>
                          <a:spcPct val="115000"/>
                        </a:lnSpc>
                        <a:spcAft>
                          <a:spcPts val="0"/>
                        </a:spcAft>
                        <a:buFont typeface="Arial"/>
                        <a:buChar char="●"/>
                      </a:pPr>
                      <a:r>
                        <a:rPr lang="en-SG" sz="1200" u="none" strike="noStrike" dirty="0">
                          <a:effectLst/>
                        </a:rPr>
                        <a:t>Process/Business environment: Which business processes were affected in the attack? </a:t>
                      </a:r>
                    </a:p>
                    <a:p>
                      <a:pPr marL="342900" lvl="0" indent="-342900">
                        <a:lnSpc>
                          <a:spcPct val="115000"/>
                        </a:lnSpc>
                        <a:spcAft>
                          <a:spcPts val="0"/>
                        </a:spcAft>
                        <a:buFont typeface="Arial"/>
                        <a:buChar char="●"/>
                      </a:pPr>
                      <a:r>
                        <a:rPr lang="en-SG" sz="1200" u="none" strike="noStrike" dirty="0">
                          <a:effectLst/>
                        </a:rPr>
                        <a:t>People: Who needs access to the affected systems?  </a:t>
                      </a:r>
                      <a:endParaRPr lang="en-SG" sz="1200" u="none" strike="noStrike" dirty="0">
                        <a:effectLst/>
                        <a:latin typeface="Open Sans"/>
                        <a:ea typeface="Open Sans"/>
                        <a:cs typeface="Open Sans"/>
                      </a:endParaRPr>
                    </a:p>
                  </a:txBody>
                  <a:tcPr marL="26751" marR="26751" marT="26751" marB="26751"/>
                </a:tc>
              </a:tr>
              <a:tr h="1542641">
                <a:tc>
                  <a:txBody>
                    <a:bodyPr/>
                    <a:lstStyle/>
                    <a:p>
                      <a:pPr>
                        <a:lnSpc>
                          <a:spcPct val="150000"/>
                        </a:lnSpc>
                        <a:spcAft>
                          <a:spcPts val="0"/>
                        </a:spcAft>
                      </a:pPr>
                      <a:r>
                        <a:rPr lang="en-SG" sz="1200">
                          <a:effectLst/>
                        </a:rPr>
                        <a:t>Protect</a:t>
                      </a:r>
                      <a:endParaRPr lang="en-SG" sz="1200">
                        <a:effectLst/>
                        <a:latin typeface="Open Sans"/>
                        <a:ea typeface="Open Sans"/>
                        <a:cs typeface="Open Sans"/>
                      </a:endParaRPr>
                    </a:p>
                  </a:txBody>
                  <a:tcPr marL="26751" marR="26751" marT="26751" marB="26751"/>
                </a:tc>
                <a:tc>
                  <a:txBody>
                    <a:bodyPr/>
                    <a:lstStyle/>
                    <a:p>
                      <a:pPr>
                        <a:lnSpc>
                          <a:spcPct val="115000"/>
                        </a:lnSpc>
                        <a:spcAft>
                          <a:spcPts val="0"/>
                        </a:spcAft>
                      </a:pPr>
                      <a:r>
                        <a:rPr lang="en-SG" sz="1200" dirty="0">
                          <a:effectLst/>
                        </a:rPr>
                        <a:t>Develop and implement safeguards to protect the identified items and ensure delivery of services:</a:t>
                      </a:r>
                    </a:p>
                    <a:p>
                      <a:pPr marL="342900" lvl="0" indent="-342900">
                        <a:lnSpc>
                          <a:spcPct val="115000"/>
                        </a:lnSpc>
                        <a:spcAft>
                          <a:spcPts val="0"/>
                        </a:spcAft>
                        <a:buFont typeface="Arial"/>
                        <a:buChar char="●"/>
                      </a:pPr>
                      <a:r>
                        <a:rPr lang="en-SG" sz="1200" u="none" strike="noStrike" dirty="0">
                          <a:effectLst/>
                        </a:rPr>
                        <a:t>Access control: Who needs access to the affected items? How are non-trusted sources blocked from having access?</a:t>
                      </a:r>
                    </a:p>
                    <a:p>
                      <a:pPr marL="342900" lvl="0" indent="-342900">
                        <a:lnSpc>
                          <a:spcPct val="115000"/>
                        </a:lnSpc>
                        <a:spcAft>
                          <a:spcPts val="0"/>
                        </a:spcAft>
                        <a:buFont typeface="Arial"/>
                        <a:buChar char="●"/>
                      </a:pPr>
                      <a:r>
                        <a:rPr lang="en-SG" sz="1200" u="none" strike="noStrike" dirty="0">
                          <a:effectLst/>
                        </a:rPr>
                        <a:t>Awareness/Training: Who needs to be made aware of this attack and how to prevent it from happening again? </a:t>
                      </a:r>
                    </a:p>
                    <a:p>
                      <a:pPr marL="342900" lvl="0" indent="-342900">
                        <a:lnSpc>
                          <a:spcPct val="115000"/>
                        </a:lnSpc>
                        <a:spcAft>
                          <a:spcPts val="0"/>
                        </a:spcAft>
                        <a:buFont typeface="Arial"/>
                        <a:buChar char="●"/>
                      </a:pPr>
                      <a:r>
                        <a:rPr lang="en-SG" sz="1200" u="none" strike="noStrike" dirty="0">
                          <a:effectLst/>
                        </a:rPr>
                        <a:t>Data security: Is there any affected data that needs to be made more secure?</a:t>
                      </a:r>
                    </a:p>
                    <a:p>
                      <a:pPr marL="342900" lvl="0" indent="-342900">
                        <a:lnSpc>
                          <a:spcPct val="115000"/>
                        </a:lnSpc>
                        <a:spcAft>
                          <a:spcPts val="0"/>
                        </a:spcAft>
                        <a:buFont typeface="Arial"/>
                        <a:buChar char="●"/>
                      </a:pPr>
                      <a:r>
                        <a:rPr lang="en-SG" sz="1200" u="none" strike="noStrike" dirty="0">
                          <a:effectLst/>
                        </a:rPr>
                        <a:t>Information protection and procedures: Do any procedures need to be updated or added to protect data assets? </a:t>
                      </a:r>
                    </a:p>
                    <a:p>
                      <a:pPr marL="342900" lvl="0" indent="-342900">
                        <a:lnSpc>
                          <a:spcPct val="115000"/>
                        </a:lnSpc>
                        <a:spcAft>
                          <a:spcPts val="0"/>
                        </a:spcAft>
                        <a:buFont typeface="Arial"/>
                        <a:buChar char="●"/>
                      </a:pPr>
                      <a:r>
                        <a:rPr lang="en-SG" sz="1200" u="none" strike="noStrike" dirty="0">
                          <a:effectLst/>
                        </a:rPr>
                        <a:t>Maintenance: Do any of the affected hardware, operating systems, or software need to be updated? </a:t>
                      </a:r>
                    </a:p>
                    <a:p>
                      <a:pPr marL="342900" lvl="0" indent="-342900">
                        <a:lnSpc>
                          <a:spcPct val="115000"/>
                        </a:lnSpc>
                        <a:spcAft>
                          <a:spcPts val="0"/>
                        </a:spcAft>
                        <a:buFont typeface="Arial"/>
                        <a:buChar char="●"/>
                      </a:pPr>
                      <a:r>
                        <a:rPr lang="en-SG" sz="1200" u="none" strike="noStrike" dirty="0">
                          <a:effectLst/>
                        </a:rPr>
                        <a:t>Protective technology: Are there any protective technologies, like a firewall or an intrusion prevention system (IDS), that should be implemented to protect against future attacks? </a:t>
                      </a:r>
                      <a:endParaRPr lang="en-SG" sz="1200" u="none" strike="noStrike" dirty="0">
                        <a:effectLst/>
                        <a:latin typeface="Open Sans"/>
                        <a:ea typeface="Open Sans"/>
                        <a:cs typeface="Open Sans"/>
                      </a:endParaRPr>
                    </a:p>
                  </a:txBody>
                  <a:tcPr marL="26751" marR="26751" marT="26751" marB="26751"/>
                </a:tc>
              </a:tr>
              <a:tr h="886480">
                <a:tc>
                  <a:txBody>
                    <a:bodyPr/>
                    <a:lstStyle/>
                    <a:p>
                      <a:pPr>
                        <a:lnSpc>
                          <a:spcPct val="150000"/>
                        </a:lnSpc>
                        <a:spcAft>
                          <a:spcPts val="0"/>
                        </a:spcAft>
                      </a:pPr>
                      <a:r>
                        <a:rPr lang="en-SG" sz="1200">
                          <a:effectLst/>
                        </a:rPr>
                        <a:t>Detect</a:t>
                      </a:r>
                      <a:endParaRPr lang="en-SG" sz="1200">
                        <a:effectLst/>
                        <a:latin typeface="Open Sans"/>
                        <a:ea typeface="Open Sans"/>
                        <a:cs typeface="Open Sans"/>
                      </a:endParaRPr>
                    </a:p>
                  </a:txBody>
                  <a:tcPr marL="26751" marR="26751" marT="26751" marB="26751"/>
                </a:tc>
                <a:tc>
                  <a:txBody>
                    <a:bodyPr/>
                    <a:lstStyle/>
                    <a:p>
                      <a:pPr>
                        <a:lnSpc>
                          <a:spcPct val="115000"/>
                        </a:lnSpc>
                        <a:spcAft>
                          <a:spcPts val="0"/>
                        </a:spcAft>
                      </a:pPr>
                      <a:r>
                        <a:rPr lang="en-SG" sz="1200">
                          <a:effectLst/>
                        </a:rPr>
                        <a:t>Design and implement a system with tools needed for detecting threats and attacks:</a:t>
                      </a:r>
                    </a:p>
                    <a:p>
                      <a:pPr marL="342900" lvl="0" indent="-342900">
                        <a:lnSpc>
                          <a:spcPct val="115000"/>
                        </a:lnSpc>
                        <a:spcAft>
                          <a:spcPts val="0"/>
                        </a:spcAft>
                        <a:buFont typeface="Arial"/>
                        <a:buChar char="●"/>
                      </a:pPr>
                      <a:r>
                        <a:rPr lang="en-SG" sz="1200" u="none" strike="noStrike">
                          <a:effectLst/>
                        </a:rPr>
                        <a:t>Anomalies and events: What tools could be used to detect and alert IT security staff of anomalies and security events, such as a security information and event management system (SIEM) tool?</a:t>
                      </a:r>
                    </a:p>
                    <a:p>
                      <a:pPr marL="342900" lvl="0" indent="-342900">
                        <a:lnSpc>
                          <a:spcPct val="115000"/>
                        </a:lnSpc>
                        <a:spcAft>
                          <a:spcPts val="0"/>
                        </a:spcAft>
                        <a:buFont typeface="Arial"/>
                        <a:buChar char="●"/>
                      </a:pPr>
                      <a:r>
                        <a:rPr lang="en-SG" sz="1200" u="none" strike="noStrike">
                          <a:effectLst/>
                        </a:rPr>
                        <a:t>Security continuous monitoring: What tools or IT processes are needed to monitor the network for security events?</a:t>
                      </a:r>
                    </a:p>
                    <a:p>
                      <a:pPr marL="342900" lvl="0" indent="-342900">
                        <a:lnSpc>
                          <a:spcPct val="115000"/>
                        </a:lnSpc>
                        <a:spcAft>
                          <a:spcPts val="0"/>
                        </a:spcAft>
                        <a:buFont typeface="Arial"/>
                        <a:buChar char="●"/>
                      </a:pPr>
                      <a:r>
                        <a:rPr lang="en-SG" sz="1200" u="none" strike="noStrike">
                          <a:effectLst/>
                        </a:rPr>
                        <a:t>Detection process: What tools are needed to detect security events, such as an IDS?</a:t>
                      </a:r>
                      <a:endParaRPr lang="en-SG" sz="1200" u="none" strike="noStrike">
                        <a:effectLst/>
                        <a:latin typeface="Open Sans"/>
                        <a:ea typeface="Open Sans"/>
                        <a:cs typeface="Open Sans"/>
                      </a:endParaRPr>
                    </a:p>
                  </a:txBody>
                  <a:tcPr marL="26751" marR="26751" marT="26751" marB="26751"/>
                </a:tc>
              </a:tr>
              <a:tr h="1245559">
                <a:tc>
                  <a:txBody>
                    <a:bodyPr/>
                    <a:lstStyle/>
                    <a:p>
                      <a:pPr>
                        <a:lnSpc>
                          <a:spcPct val="150000"/>
                        </a:lnSpc>
                        <a:spcAft>
                          <a:spcPts val="0"/>
                        </a:spcAft>
                      </a:pPr>
                      <a:r>
                        <a:rPr lang="en-SG" sz="1200">
                          <a:effectLst/>
                        </a:rPr>
                        <a:t>Respond</a:t>
                      </a:r>
                      <a:endParaRPr lang="en-SG" sz="1200">
                        <a:effectLst/>
                        <a:latin typeface="Open Sans"/>
                        <a:ea typeface="Open Sans"/>
                        <a:cs typeface="Open Sans"/>
                      </a:endParaRPr>
                    </a:p>
                  </a:txBody>
                  <a:tcPr marL="26751" marR="26751" marT="26751" marB="26751"/>
                </a:tc>
                <a:tc>
                  <a:txBody>
                    <a:bodyPr/>
                    <a:lstStyle/>
                    <a:p>
                      <a:pPr>
                        <a:lnSpc>
                          <a:spcPct val="115000"/>
                        </a:lnSpc>
                        <a:spcAft>
                          <a:spcPts val="0"/>
                        </a:spcAft>
                      </a:pPr>
                      <a:r>
                        <a:rPr lang="en-SG" sz="1200" dirty="0">
                          <a:effectLst/>
                        </a:rPr>
                        <a:t>Design action plans for responding to threats and attacks:</a:t>
                      </a:r>
                    </a:p>
                    <a:p>
                      <a:pPr marL="342900" lvl="0" indent="-342900">
                        <a:lnSpc>
                          <a:spcPct val="115000"/>
                        </a:lnSpc>
                        <a:spcAft>
                          <a:spcPts val="0"/>
                        </a:spcAft>
                        <a:buFont typeface="Arial"/>
                        <a:buChar char="●"/>
                      </a:pPr>
                      <a:r>
                        <a:rPr lang="en-SG" sz="1200" u="none" strike="noStrike" dirty="0">
                          <a:effectLst/>
                        </a:rPr>
                        <a:t>Response planning: What action plans need to be implemented to respond to similar attacks in the future?</a:t>
                      </a:r>
                    </a:p>
                    <a:p>
                      <a:pPr marL="342900" lvl="0" indent="-342900">
                        <a:lnSpc>
                          <a:spcPct val="115000"/>
                        </a:lnSpc>
                        <a:spcAft>
                          <a:spcPts val="0"/>
                        </a:spcAft>
                        <a:buFont typeface="Arial"/>
                        <a:buChar char="●"/>
                      </a:pPr>
                      <a:r>
                        <a:rPr lang="en-SG" sz="1200" u="none" strike="noStrike" dirty="0">
                          <a:effectLst/>
                        </a:rPr>
                        <a:t>Communications: How will security event response procedures be communicated within the organization and with those directly affected by the attack, including end users and IT staff?</a:t>
                      </a:r>
                    </a:p>
                    <a:p>
                      <a:pPr marL="342900" lvl="0" indent="-342900">
                        <a:lnSpc>
                          <a:spcPct val="115000"/>
                        </a:lnSpc>
                        <a:spcAft>
                          <a:spcPts val="0"/>
                        </a:spcAft>
                        <a:buFont typeface="Arial"/>
                        <a:buChar char="●"/>
                      </a:pPr>
                      <a:r>
                        <a:rPr lang="en-SG" sz="1200" u="none" strike="noStrike" dirty="0">
                          <a:effectLst/>
                        </a:rPr>
                        <a:t>Analysis: What analysis steps should be followed in response to a similar attack?</a:t>
                      </a:r>
                    </a:p>
                    <a:p>
                      <a:pPr marL="342900" lvl="0" indent="-342900">
                        <a:lnSpc>
                          <a:spcPct val="115000"/>
                        </a:lnSpc>
                        <a:spcAft>
                          <a:spcPts val="0"/>
                        </a:spcAft>
                        <a:buFont typeface="Arial"/>
                        <a:buChar char="●"/>
                      </a:pPr>
                      <a:r>
                        <a:rPr lang="en-SG" sz="1200" u="none" strike="noStrike" dirty="0">
                          <a:effectLst/>
                        </a:rPr>
                        <a:t>Mitigation: What responding steps could be used to mitigate the impact of an attack, such as </a:t>
                      </a:r>
                      <a:r>
                        <a:rPr lang="en-SG" sz="1200" u="none" strike="noStrike" dirty="0" err="1">
                          <a:effectLst/>
                        </a:rPr>
                        <a:t>offlining</a:t>
                      </a:r>
                      <a:r>
                        <a:rPr lang="en-SG" sz="1200" u="none" strike="noStrike" dirty="0">
                          <a:effectLst/>
                        </a:rPr>
                        <a:t> or isolating affected resources?</a:t>
                      </a:r>
                    </a:p>
                    <a:p>
                      <a:pPr marL="342900" lvl="0" indent="-342900">
                        <a:lnSpc>
                          <a:spcPct val="115000"/>
                        </a:lnSpc>
                        <a:spcAft>
                          <a:spcPts val="0"/>
                        </a:spcAft>
                        <a:buFont typeface="Arial"/>
                        <a:buChar char="●"/>
                      </a:pPr>
                      <a:r>
                        <a:rPr lang="en-SG" sz="1200" u="none" strike="noStrike" dirty="0">
                          <a:effectLst/>
                        </a:rPr>
                        <a:t>Improvements: What improvements are needed to improve response procedures in the future?</a:t>
                      </a:r>
                      <a:endParaRPr lang="en-SG" sz="1200" u="none" strike="noStrike" dirty="0">
                        <a:effectLst/>
                        <a:latin typeface="Open Sans"/>
                        <a:ea typeface="Open Sans"/>
                        <a:cs typeface="Open Sans"/>
                      </a:endParaRPr>
                    </a:p>
                  </a:txBody>
                  <a:tcPr marL="26751" marR="26751" marT="26751" marB="26751"/>
                </a:tc>
              </a:tr>
            </a:tbl>
          </a:graphicData>
        </a:graphic>
      </p:graphicFrame>
    </p:spTree>
    <p:extLst>
      <p:ext uri="{BB962C8B-B14F-4D97-AF65-F5344CB8AC3E}">
        <p14:creationId xmlns:p14="http://schemas.microsoft.com/office/powerpoint/2010/main" val="393140029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23528" y="265286"/>
            <a:ext cx="8568952" cy="892552"/>
          </a:xfrm>
          <a:prstGeom prst="rect">
            <a:avLst/>
          </a:prstGeom>
          <a:noFill/>
        </p:spPr>
        <p:txBody>
          <a:bodyPr wrap="square" rtlCol="0">
            <a:spAutoFit/>
          </a:bodyPr>
          <a:lstStyle/>
          <a:p>
            <a:r>
              <a:rPr lang="en-GB" sz="1600" b="1" dirty="0"/>
              <a:t>Some questions to ask for each of the five core functions, include</a:t>
            </a:r>
            <a:r>
              <a:rPr lang="en-GB" sz="1600" b="1" dirty="0" smtClean="0"/>
              <a:t>:</a:t>
            </a:r>
          </a:p>
          <a:p>
            <a:endParaRPr lang="en-GB" dirty="0" smtClean="0"/>
          </a:p>
          <a:p>
            <a:endParaRPr lang="en-GB" dirty="0"/>
          </a:p>
        </p:txBody>
      </p:sp>
      <p:graphicFrame>
        <p:nvGraphicFramePr>
          <p:cNvPr id="2" name="Table 1"/>
          <p:cNvGraphicFramePr>
            <a:graphicFrameLocks noGrp="1"/>
          </p:cNvGraphicFramePr>
          <p:nvPr>
            <p:extLst>
              <p:ext uri="{D42A27DB-BD31-4B8C-83A1-F6EECF244321}">
                <p14:modId xmlns:p14="http://schemas.microsoft.com/office/powerpoint/2010/main" val="1620984603"/>
              </p:ext>
            </p:extLst>
          </p:nvPr>
        </p:nvGraphicFramePr>
        <p:xfrm>
          <a:off x="395536" y="836712"/>
          <a:ext cx="8352928" cy="1592326"/>
        </p:xfrm>
        <a:graphic>
          <a:graphicData uri="http://schemas.openxmlformats.org/drawingml/2006/table">
            <a:tbl>
              <a:tblPr>
                <a:tableStyleId>{5C22544A-7EE6-4342-B048-85BDC9FD1C3A}</a:tableStyleId>
              </a:tblPr>
              <a:tblGrid>
                <a:gridCol w="720080"/>
                <a:gridCol w="7632848"/>
              </a:tblGrid>
              <a:tr h="849450">
                <a:tc>
                  <a:txBody>
                    <a:bodyPr/>
                    <a:lstStyle/>
                    <a:p>
                      <a:pPr>
                        <a:lnSpc>
                          <a:spcPct val="150000"/>
                        </a:lnSpc>
                        <a:spcAft>
                          <a:spcPts val="0"/>
                        </a:spcAft>
                      </a:pPr>
                      <a:r>
                        <a:rPr lang="en-SG" sz="1200" dirty="0">
                          <a:effectLst/>
                          <a:latin typeface="+mn-lt"/>
                          <a:ea typeface="Open Sans"/>
                          <a:cs typeface="Open Sans"/>
                        </a:rPr>
                        <a:t>Recover</a:t>
                      </a:r>
                    </a:p>
                  </a:txBody>
                  <a:tcPr marL="63500" marR="63500" marT="63500" marB="63500"/>
                </a:tc>
                <a:tc>
                  <a:txBody>
                    <a:bodyPr/>
                    <a:lstStyle/>
                    <a:p>
                      <a:pPr>
                        <a:lnSpc>
                          <a:spcPct val="115000"/>
                        </a:lnSpc>
                        <a:spcAft>
                          <a:spcPts val="0"/>
                        </a:spcAft>
                      </a:pPr>
                      <a:r>
                        <a:rPr lang="en-SG" sz="1200" dirty="0">
                          <a:effectLst/>
                          <a:latin typeface="+mn-lt"/>
                          <a:ea typeface="Open Sans"/>
                          <a:cs typeface="Open Sans"/>
                        </a:rPr>
                        <a:t>Construct a plan and implement the framework for recovering and restoring affected systems and/or data:</a:t>
                      </a:r>
                    </a:p>
                    <a:p>
                      <a:pPr marL="342900" lvl="0" indent="-342900">
                        <a:lnSpc>
                          <a:spcPct val="115000"/>
                        </a:lnSpc>
                        <a:spcAft>
                          <a:spcPts val="0"/>
                        </a:spcAft>
                        <a:buFont typeface="Arial"/>
                        <a:buChar char="●"/>
                      </a:pPr>
                      <a:r>
                        <a:rPr lang="en-SG" sz="1200" u="none" strike="noStrike" dirty="0">
                          <a:effectLst/>
                          <a:latin typeface="+mn-lt"/>
                          <a:ea typeface="Open Sans"/>
                          <a:cs typeface="Open Sans"/>
                        </a:rPr>
                        <a:t>Recovery planning: How will resources be restored following an attack? </a:t>
                      </a:r>
                      <a:endParaRPr lang="en-SG" sz="1200" u="none" strike="noStrike" dirty="0" smtClean="0">
                        <a:effectLst/>
                        <a:latin typeface="+mn-lt"/>
                        <a:ea typeface="Open Sans"/>
                        <a:cs typeface="Open Sans"/>
                      </a:endParaRPr>
                    </a:p>
                    <a:p>
                      <a:pPr marL="342900" lvl="0" indent="-342900">
                        <a:lnSpc>
                          <a:spcPct val="115000"/>
                        </a:lnSpc>
                        <a:spcAft>
                          <a:spcPts val="0"/>
                        </a:spcAft>
                        <a:buFont typeface="Arial"/>
                        <a:buChar char="●"/>
                      </a:pPr>
                      <a:r>
                        <a:rPr lang="en-GB" sz="1200" u="none" strike="noStrike" dirty="0" smtClean="0">
                          <a:effectLst/>
                          <a:latin typeface="+mn-lt"/>
                          <a:ea typeface="Open Sans"/>
                          <a:cs typeface="Open Sans"/>
                        </a:rPr>
                        <a:t>What information do you need to be able to recover immediately? </a:t>
                      </a:r>
                    </a:p>
                    <a:p>
                      <a:pPr marL="342900" lvl="0" indent="-342900">
                        <a:lnSpc>
                          <a:spcPct val="115000"/>
                        </a:lnSpc>
                        <a:spcAft>
                          <a:spcPts val="0"/>
                        </a:spcAft>
                        <a:buFont typeface="Arial"/>
                        <a:buChar char="●"/>
                      </a:pPr>
                      <a:r>
                        <a:rPr lang="en-GB" sz="1200" u="none" strike="noStrike" dirty="0" smtClean="0">
                          <a:effectLst/>
                          <a:latin typeface="+mn-lt"/>
                          <a:ea typeface="Open Sans"/>
                          <a:cs typeface="Open Sans"/>
                        </a:rPr>
                        <a:t>What processes are in place to help the organization recover from the incident? </a:t>
                      </a:r>
                    </a:p>
                    <a:p>
                      <a:pPr marL="342900" lvl="0" indent="-342900">
                        <a:lnSpc>
                          <a:spcPct val="115000"/>
                        </a:lnSpc>
                        <a:spcAft>
                          <a:spcPts val="0"/>
                        </a:spcAft>
                        <a:buFont typeface="Arial"/>
                        <a:buChar char="●"/>
                      </a:pPr>
                      <a:r>
                        <a:rPr lang="en-SG" sz="1200" u="none" strike="noStrike" dirty="0" smtClean="0">
                          <a:effectLst/>
                          <a:latin typeface="+mn-lt"/>
                          <a:ea typeface="Open Sans"/>
                          <a:cs typeface="Open Sans"/>
                        </a:rPr>
                        <a:t>Improvements</a:t>
                      </a:r>
                      <a:r>
                        <a:rPr lang="en-SG" sz="1200" u="none" strike="noStrike" dirty="0">
                          <a:effectLst/>
                          <a:latin typeface="+mn-lt"/>
                          <a:ea typeface="Open Sans"/>
                          <a:cs typeface="Open Sans"/>
                        </a:rPr>
                        <a:t>: Do any improvements need to be made to the current recovery systems or processes?</a:t>
                      </a:r>
                    </a:p>
                    <a:p>
                      <a:pPr marL="342900" lvl="0" indent="-342900">
                        <a:lnSpc>
                          <a:spcPct val="115000"/>
                        </a:lnSpc>
                        <a:spcAft>
                          <a:spcPts val="0"/>
                        </a:spcAft>
                        <a:buFont typeface="Arial"/>
                        <a:buChar char="●"/>
                      </a:pPr>
                      <a:r>
                        <a:rPr lang="en-SG" sz="1200" u="none" strike="noStrike" dirty="0">
                          <a:effectLst/>
                          <a:latin typeface="+mn-lt"/>
                          <a:ea typeface="Open Sans"/>
                          <a:cs typeface="Open Sans"/>
                        </a:rPr>
                        <a:t>Communications: How will restoration procedures be communicated within the organization and with those directly affected by the attack, including end users and IT staff?</a:t>
                      </a:r>
                    </a:p>
                  </a:txBody>
                  <a:tcPr marL="63500" marR="63500" marT="63500" marB="63500"/>
                </a:tc>
              </a:tr>
            </a:tbl>
          </a:graphicData>
        </a:graphic>
      </p:graphicFrame>
    </p:spTree>
    <p:extLst>
      <p:ext uri="{BB962C8B-B14F-4D97-AF65-F5344CB8AC3E}">
        <p14:creationId xmlns:p14="http://schemas.microsoft.com/office/powerpoint/2010/main" val="287935661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764704"/>
            <a:ext cx="8229600" cy="432048"/>
          </a:xfrm>
        </p:spPr>
        <p:txBody>
          <a:bodyPr>
            <a:noAutofit/>
          </a:bodyPr>
          <a:lstStyle/>
          <a:p>
            <a:r>
              <a:rPr lang="en-SG" sz="2800" dirty="0"/>
              <a:t>Example of a Incident report analysis</a:t>
            </a:r>
          </a:p>
        </p:txBody>
      </p:sp>
      <p:graphicFrame>
        <p:nvGraphicFramePr>
          <p:cNvPr id="3" name="Table 2"/>
          <p:cNvGraphicFramePr>
            <a:graphicFrameLocks noGrp="1"/>
          </p:cNvGraphicFramePr>
          <p:nvPr>
            <p:extLst>
              <p:ext uri="{D42A27DB-BD31-4B8C-83A1-F6EECF244321}">
                <p14:modId xmlns:p14="http://schemas.microsoft.com/office/powerpoint/2010/main" val="721800424"/>
              </p:ext>
            </p:extLst>
          </p:nvPr>
        </p:nvGraphicFramePr>
        <p:xfrm>
          <a:off x="467544" y="1556792"/>
          <a:ext cx="8064896" cy="4568718"/>
        </p:xfrm>
        <a:graphic>
          <a:graphicData uri="http://schemas.openxmlformats.org/drawingml/2006/table">
            <a:tbl>
              <a:tblPr>
                <a:tableStyleId>{5C22544A-7EE6-4342-B048-85BDC9FD1C3A}</a:tableStyleId>
              </a:tblPr>
              <a:tblGrid>
                <a:gridCol w="864096"/>
                <a:gridCol w="7200800"/>
              </a:tblGrid>
              <a:tr h="1610810">
                <a:tc>
                  <a:txBody>
                    <a:bodyPr/>
                    <a:lstStyle/>
                    <a:p>
                      <a:pPr>
                        <a:lnSpc>
                          <a:spcPct val="150000"/>
                        </a:lnSpc>
                        <a:spcAft>
                          <a:spcPts val="0"/>
                        </a:spcAft>
                      </a:pPr>
                      <a:r>
                        <a:rPr lang="en-SG" sz="1200" dirty="0">
                          <a:effectLst/>
                        </a:rPr>
                        <a:t>Summary</a:t>
                      </a:r>
                      <a:endParaRPr lang="en-SG" sz="1200" dirty="0">
                        <a:effectLst/>
                        <a:latin typeface="Arial"/>
                        <a:ea typeface="Arial"/>
                      </a:endParaRPr>
                    </a:p>
                  </a:txBody>
                  <a:tcPr marL="29933" marR="29933" marT="29933" marB="29933"/>
                </a:tc>
                <a:tc>
                  <a:txBody>
                    <a:bodyPr/>
                    <a:lstStyle/>
                    <a:p>
                      <a:pPr>
                        <a:lnSpc>
                          <a:spcPct val="150000"/>
                        </a:lnSpc>
                        <a:spcAft>
                          <a:spcPts val="0"/>
                        </a:spcAft>
                      </a:pPr>
                      <a:r>
                        <a:rPr lang="en-SG" sz="1200">
                          <a:effectLst/>
                        </a:rPr>
                        <a:t>This morning, an intern reported to the IT department that she was unable to log in to her internal network account. Access logs indicate that her account has been actively accessing records in the customer database, even though she is locked out of that account. The intern indicated that she received an email this morning asking her to go to an external website to log in with her internal network credentials to retrieve a message. We believe this is the method used by a malicious actor to gain access to our network and customer database. A couple of other employees have noticed that several customer records are either missing or contain incorrect data. It appears that not only was customer data exposed to a malicious actor, but that some data was deleted or manipulated as well.</a:t>
                      </a:r>
                      <a:endParaRPr lang="en-SG" sz="1200">
                        <a:effectLst/>
                        <a:latin typeface="Arial"/>
                        <a:ea typeface="Arial"/>
                      </a:endParaRPr>
                    </a:p>
                  </a:txBody>
                  <a:tcPr marL="29933" marR="29933" marT="29933" marB="29933"/>
                </a:tc>
              </a:tr>
              <a:tr h="770757">
                <a:tc>
                  <a:txBody>
                    <a:bodyPr/>
                    <a:lstStyle/>
                    <a:p>
                      <a:pPr>
                        <a:lnSpc>
                          <a:spcPct val="150000"/>
                        </a:lnSpc>
                        <a:spcAft>
                          <a:spcPts val="0"/>
                        </a:spcAft>
                      </a:pPr>
                      <a:r>
                        <a:rPr lang="en-SG" sz="1200">
                          <a:effectLst/>
                        </a:rPr>
                        <a:t>Identify</a:t>
                      </a:r>
                      <a:endParaRPr lang="en-SG" sz="1200">
                        <a:effectLst/>
                        <a:latin typeface="Arial"/>
                        <a:ea typeface="Arial"/>
                      </a:endParaRPr>
                    </a:p>
                  </a:txBody>
                  <a:tcPr marL="29933" marR="29933" marT="29933" marB="29933"/>
                </a:tc>
                <a:tc>
                  <a:txBody>
                    <a:bodyPr/>
                    <a:lstStyle/>
                    <a:p>
                      <a:pPr>
                        <a:lnSpc>
                          <a:spcPct val="150000"/>
                        </a:lnSpc>
                        <a:spcAft>
                          <a:spcPts val="0"/>
                        </a:spcAft>
                      </a:pPr>
                      <a:r>
                        <a:rPr lang="en-SG" sz="1200" dirty="0">
                          <a:effectLst/>
                        </a:rPr>
                        <a:t>The incident management team audited the systems, devices, and access policies involved in the attack to identify the gaps in security. The team found that an intern’s login and password were obtained by a malicious attacker and used to access data from our customer database. Upon initial review, it appears that some customer data was deleted from the database. </a:t>
                      </a:r>
                      <a:endParaRPr lang="en-SG" sz="1200" dirty="0">
                        <a:effectLst/>
                        <a:latin typeface="Arial"/>
                        <a:ea typeface="Arial"/>
                      </a:endParaRPr>
                    </a:p>
                  </a:txBody>
                  <a:tcPr marL="29933" marR="29933" marT="29933" marB="29933"/>
                </a:tc>
              </a:tr>
              <a:tr h="770757">
                <a:tc>
                  <a:txBody>
                    <a:bodyPr/>
                    <a:lstStyle/>
                    <a:p>
                      <a:pPr>
                        <a:lnSpc>
                          <a:spcPct val="150000"/>
                        </a:lnSpc>
                        <a:spcAft>
                          <a:spcPts val="0"/>
                        </a:spcAft>
                      </a:pPr>
                      <a:r>
                        <a:rPr lang="en-SG" sz="1200">
                          <a:effectLst/>
                        </a:rPr>
                        <a:t>Protect</a:t>
                      </a:r>
                      <a:endParaRPr lang="en-SG" sz="1200">
                        <a:effectLst/>
                        <a:latin typeface="Arial"/>
                        <a:ea typeface="Arial"/>
                      </a:endParaRPr>
                    </a:p>
                  </a:txBody>
                  <a:tcPr marL="29933" marR="29933" marT="29933" marB="29933"/>
                </a:tc>
                <a:tc>
                  <a:txBody>
                    <a:bodyPr/>
                    <a:lstStyle/>
                    <a:p>
                      <a:pPr>
                        <a:lnSpc>
                          <a:spcPct val="150000"/>
                        </a:lnSpc>
                        <a:spcAft>
                          <a:spcPts val="0"/>
                        </a:spcAft>
                      </a:pPr>
                      <a:r>
                        <a:rPr lang="en-SG" sz="1200" dirty="0">
                          <a:effectLst/>
                        </a:rPr>
                        <a:t>The team has implemented new authentication policies to prevent future attacks: multi-factor authentication (MFA), login attempts limited to three tries, and training for all employees on how to protect login credentials. Additionally, we will implement a new protective firewall configuration and invest in an intrusion prevention system (IPS).</a:t>
                      </a:r>
                      <a:endParaRPr lang="en-SG" sz="1200" dirty="0">
                        <a:effectLst/>
                        <a:latin typeface="Arial"/>
                        <a:ea typeface="Arial"/>
                      </a:endParaRPr>
                    </a:p>
                  </a:txBody>
                  <a:tcPr marL="29933" marR="29933" marT="29933" marB="29933"/>
                </a:tc>
              </a:tr>
            </a:tbl>
          </a:graphicData>
        </a:graphic>
      </p:graphicFrame>
    </p:spTree>
    <p:extLst>
      <p:ext uri="{BB962C8B-B14F-4D97-AF65-F5344CB8AC3E}">
        <p14:creationId xmlns:p14="http://schemas.microsoft.com/office/powerpoint/2010/main" val="273960208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764704"/>
            <a:ext cx="8229600" cy="432048"/>
          </a:xfrm>
        </p:spPr>
        <p:txBody>
          <a:bodyPr>
            <a:noAutofit/>
          </a:bodyPr>
          <a:lstStyle/>
          <a:p>
            <a:r>
              <a:rPr lang="en-SG" sz="2800" dirty="0"/>
              <a:t>Example of a Incident report analysis</a:t>
            </a:r>
          </a:p>
        </p:txBody>
      </p:sp>
      <p:graphicFrame>
        <p:nvGraphicFramePr>
          <p:cNvPr id="4" name="Table 3"/>
          <p:cNvGraphicFramePr>
            <a:graphicFrameLocks noGrp="1"/>
          </p:cNvGraphicFramePr>
          <p:nvPr>
            <p:extLst>
              <p:ext uri="{D42A27DB-BD31-4B8C-83A1-F6EECF244321}">
                <p14:modId xmlns:p14="http://schemas.microsoft.com/office/powerpoint/2010/main" val="261678681"/>
              </p:ext>
            </p:extLst>
          </p:nvPr>
        </p:nvGraphicFramePr>
        <p:xfrm>
          <a:off x="457200" y="1556792"/>
          <a:ext cx="8064896" cy="2922798"/>
        </p:xfrm>
        <a:graphic>
          <a:graphicData uri="http://schemas.openxmlformats.org/drawingml/2006/table">
            <a:tbl>
              <a:tblPr>
                <a:tableStyleId>{5C22544A-7EE6-4342-B048-85BDC9FD1C3A}</a:tableStyleId>
              </a:tblPr>
              <a:tblGrid>
                <a:gridCol w="864096"/>
                <a:gridCol w="7200800"/>
              </a:tblGrid>
              <a:tr h="490739">
                <a:tc>
                  <a:txBody>
                    <a:bodyPr/>
                    <a:lstStyle/>
                    <a:p>
                      <a:pPr>
                        <a:lnSpc>
                          <a:spcPct val="150000"/>
                        </a:lnSpc>
                        <a:spcAft>
                          <a:spcPts val="0"/>
                        </a:spcAft>
                      </a:pPr>
                      <a:r>
                        <a:rPr lang="en-SG" sz="1200" dirty="0">
                          <a:effectLst/>
                        </a:rPr>
                        <a:t>Detect</a:t>
                      </a:r>
                      <a:endParaRPr lang="en-SG" sz="1200" dirty="0">
                        <a:effectLst/>
                        <a:latin typeface="Arial"/>
                        <a:ea typeface="Arial"/>
                      </a:endParaRPr>
                    </a:p>
                  </a:txBody>
                  <a:tcPr marL="29933" marR="29933" marT="29933" marB="29933"/>
                </a:tc>
                <a:tc>
                  <a:txBody>
                    <a:bodyPr/>
                    <a:lstStyle/>
                    <a:p>
                      <a:pPr>
                        <a:lnSpc>
                          <a:spcPct val="150000"/>
                        </a:lnSpc>
                        <a:spcAft>
                          <a:spcPts val="0"/>
                        </a:spcAft>
                      </a:pPr>
                      <a:r>
                        <a:rPr lang="en-SG" sz="1200" dirty="0">
                          <a:effectLst/>
                        </a:rPr>
                        <a:t>To detect new unauthorized access attacks in the future, the team will use a firewall logging tool and an intrusion detection system (IDS) to monitor all incoming traffic from the internet. </a:t>
                      </a:r>
                      <a:endParaRPr lang="en-SG" sz="1200" dirty="0">
                        <a:effectLst/>
                        <a:latin typeface="Arial"/>
                        <a:ea typeface="Arial"/>
                      </a:endParaRPr>
                    </a:p>
                  </a:txBody>
                  <a:tcPr marL="29933" marR="29933" marT="29933" marB="29933"/>
                </a:tc>
              </a:tr>
              <a:tr h="770757">
                <a:tc>
                  <a:txBody>
                    <a:bodyPr/>
                    <a:lstStyle/>
                    <a:p>
                      <a:pPr>
                        <a:lnSpc>
                          <a:spcPct val="150000"/>
                        </a:lnSpc>
                        <a:spcAft>
                          <a:spcPts val="0"/>
                        </a:spcAft>
                      </a:pPr>
                      <a:r>
                        <a:rPr lang="en-SG" sz="1200">
                          <a:effectLst/>
                        </a:rPr>
                        <a:t>Respond</a:t>
                      </a:r>
                      <a:endParaRPr lang="en-SG" sz="1200">
                        <a:effectLst/>
                        <a:latin typeface="Arial"/>
                        <a:ea typeface="Arial"/>
                      </a:endParaRPr>
                    </a:p>
                  </a:txBody>
                  <a:tcPr marL="29933" marR="29933" marT="29933" marB="29933"/>
                </a:tc>
                <a:tc>
                  <a:txBody>
                    <a:bodyPr/>
                    <a:lstStyle/>
                    <a:p>
                      <a:pPr>
                        <a:lnSpc>
                          <a:spcPct val="150000"/>
                        </a:lnSpc>
                        <a:spcAft>
                          <a:spcPts val="0"/>
                        </a:spcAft>
                      </a:pPr>
                      <a:r>
                        <a:rPr lang="en-SG" sz="1200" dirty="0">
                          <a:effectLst/>
                        </a:rPr>
                        <a:t>The team disabled the intern’s network account. We provided training to interns and employees on how to protect login credentials in the future. We informed upper management of this event and they will contact our customers by mail to inform them about the data breach. Management will also need to inform law enforcement and other organizations as required by local laws.</a:t>
                      </a:r>
                      <a:endParaRPr lang="en-SG" sz="1200" dirty="0">
                        <a:effectLst/>
                        <a:latin typeface="Arial"/>
                        <a:ea typeface="Arial"/>
                      </a:endParaRPr>
                    </a:p>
                  </a:txBody>
                  <a:tcPr marL="29933" marR="29933" marT="29933" marB="29933"/>
                </a:tc>
              </a:tr>
              <a:tr h="770757">
                <a:tc>
                  <a:txBody>
                    <a:bodyPr/>
                    <a:lstStyle/>
                    <a:p>
                      <a:pPr>
                        <a:lnSpc>
                          <a:spcPct val="150000"/>
                        </a:lnSpc>
                        <a:spcAft>
                          <a:spcPts val="0"/>
                        </a:spcAft>
                      </a:pPr>
                      <a:r>
                        <a:rPr lang="en-SG" sz="1200">
                          <a:effectLst/>
                        </a:rPr>
                        <a:t>Recover</a:t>
                      </a:r>
                      <a:endParaRPr lang="en-SG" sz="1200">
                        <a:effectLst/>
                        <a:latin typeface="Arial"/>
                        <a:ea typeface="Arial"/>
                      </a:endParaRPr>
                    </a:p>
                  </a:txBody>
                  <a:tcPr marL="29933" marR="29933" marT="29933" marB="29933"/>
                </a:tc>
                <a:tc>
                  <a:txBody>
                    <a:bodyPr/>
                    <a:lstStyle/>
                    <a:p>
                      <a:pPr>
                        <a:lnSpc>
                          <a:spcPct val="150000"/>
                        </a:lnSpc>
                        <a:spcAft>
                          <a:spcPts val="0"/>
                        </a:spcAft>
                      </a:pPr>
                      <a:r>
                        <a:rPr lang="en-SG" sz="1200" dirty="0">
                          <a:effectLst/>
                        </a:rPr>
                        <a:t>The team will recover the deleted data by restoring the database from last night’s full backup. We have informed staff that any customer information entered or changed this morning would not be recorded on the backup. So, they will need to re-enter that information into the database once it has been restored from last night’s backup.  </a:t>
                      </a:r>
                      <a:endParaRPr lang="en-SG" sz="1200" dirty="0">
                        <a:effectLst/>
                        <a:latin typeface="Arial"/>
                        <a:ea typeface="Arial"/>
                      </a:endParaRPr>
                    </a:p>
                  </a:txBody>
                  <a:tcPr marL="29933" marR="29933" marT="29933" marB="29933"/>
                </a:tc>
              </a:tr>
            </a:tbl>
          </a:graphicData>
        </a:graphic>
      </p:graphicFrame>
    </p:spTree>
    <p:extLst>
      <p:ext uri="{BB962C8B-B14F-4D97-AF65-F5344CB8AC3E}">
        <p14:creationId xmlns:p14="http://schemas.microsoft.com/office/powerpoint/2010/main" val="80357815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404664"/>
            <a:ext cx="8229600" cy="722344"/>
          </a:xfrm>
        </p:spPr>
        <p:txBody>
          <a:bodyPr>
            <a:noAutofit/>
          </a:bodyPr>
          <a:lstStyle/>
          <a:p>
            <a:r>
              <a:rPr lang="en-SG" sz="2800" dirty="0"/>
              <a:t>Incident report analysis</a:t>
            </a:r>
          </a:p>
        </p:txBody>
      </p:sp>
      <p:graphicFrame>
        <p:nvGraphicFramePr>
          <p:cNvPr id="6" name="Table 5"/>
          <p:cNvGraphicFramePr>
            <a:graphicFrameLocks noGrp="1"/>
          </p:cNvGraphicFramePr>
          <p:nvPr>
            <p:extLst>
              <p:ext uri="{D42A27DB-BD31-4B8C-83A1-F6EECF244321}">
                <p14:modId xmlns:p14="http://schemas.microsoft.com/office/powerpoint/2010/main" val="2303641467"/>
              </p:ext>
            </p:extLst>
          </p:nvPr>
        </p:nvGraphicFramePr>
        <p:xfrm>
          <a:off x="395536" y="1340768"/>
          <a:ext cx="8136904" cy="4201160"/>
        </p:xfrm>
        <a:graphic>
          <a:graphicData uri="http://schemas.openxmlformats.org/drawingml/2006/table">
            <a:tbl>
              <a:tblPr>
                <a:tableStyleId>{5C22544A-7EE6-4342-B048-85BDC9FD1C3A}</a:tableStyleId>
              </a:tblPr>
              <a:tblGrid>
                <a:gridCol w="864096"/>
                <a:gridCol w="7272808"/>
              </a:tblGrid>
              <a:tr h="266700">
                <a:tc>
                  <a:txBody>
                    <a:bodyPr/>
                    <a:lstStyle/>
                    <a:p>
                      <a:pPr>
                        <a:lnSpc>
                          <a:spcPct val="150000"/>
                        </a:lnSpc>
                        <a:spcAft>
                          <a:spcPts val="0"/>
                        </a:spcAft>
                      </a:pPr>
                      <a:r>
                        <a:rPr lang="en-SG" sz="1100" b="1" dirty="0">
                          <a:effectLst/>
                        </a:rPr>
                        <a:t>Summary</a:t>
                      </a:r>
                      <a:endParaRPr lang="en-SG" sz="1100" b="1" dirty="0">
                        <a:effectLst/>
                        <a:latin typeface="Arial"/>
                        <a:ea typeface="Arial"/>
                      </a:endParaRPr>
                    </a:p>
                  </a:txBody>
                  <a:tcPr marL="63500" marR="63500" marT="63500" marB="63500"/>
                </a:tc>
                <a:tc>
                  <a:txBody>
                    <a:bodyPr/>
                    <a:lstStyle/>
                    <a:p>
                      <a:pPr>
                        <a:lnSpc>
                          <a:spcPct val="150000"/>
                        </a:lnSpc>
                        <a:spcAft>
                          <a:spcPts val="0"/>
                        </a:spcAft>
                      </a:pPr>
                      <a:r>
                        <a:rPr kumimoji="0" lang="en-GB" sz="1100" b="0" i="0" kern="1200" dirty="0" smtClean="0">
                          <a:solidFill>
                            <a:schemeClr val="tx2"/>
                          </a:solidFill>
                          <a:effectLst/>
                          <a:latin typeface="+mn-lt"/>
                          <a:ea typeface="+mn-ea"/>
                          <a:cs typeface="+mn-cs"/>
                        </a:rPr>
                        <a:t>The company experienced a security event when all network services suddenly stopped responding. The cybersecurity team found the disruption was caused by a distributed denial of services (DDoS) attack through a flood of incoming ICMP packets. The team responded by blocking the attack and stopping all non-critical network services, so that critical network services could be restored.</a:t>
                      </a:r>
                      <a:endParaRPr lang="en-SG" sz="1100" dirty="0">
                        <a:solidFill>
                          <a:schemeClr val="tx2"/>
                        </a:solidFill>
                        <a:effectLst/>
                        <a:latin typeface="Arial"/>
                        <a:ea typeface="Arial"/>
                      </a:endParaRPr>
                    </a:p>
                  </a:txBody>
                  <a:tcPr marL="63500" marR="63500" marT="63500" marB="63500"/>
                </a:tc>
              </a:tr>
              <a:tr h="266700">
                <a:tc>
                  <a:txBody>
                    <a:bodyPr/>
                    <a:lstStyle/>
                    <a:p>
                      <a:pPr>
                        <a:lnSpc>
                          <a:spcPct val="150000"/>
                        </a:lnSpc>
                        <a:spcAft>
                          <a:spcPts val="0"/>
                        </a:spcAft>
                      </a:pPr>
                      <a:r>
                        <a:rPr lang="en-SG" sz="1100" dirty="0">
                          <a:effectLst/>
                        </a:rPr>
                        <a:t>Identify</a:t>
                      </a:r>
                      <a:endParaRPr lang="en-SG" sz="1100" dirty="0">
                        <a:effectLst/>
                        <a:latin typeface="Arial"/>
                        <a:ea typeface="Arial"/>
                      </a:endParaRPr>
                    </a:p>
                  </a:txBody>
                  <a:tcPr marL="63500" marR="63500" marT="63500" marB="63500"/>
                </a:tc>
                <a:tc>
                  <a:txBody>
                    <a:bodyPr/>
                    <a:lstStyle/>
                    <a:p>
                      <a:pPr>
                        <a:lnSpc>
                          <a:spcPct val="150000"/>
                        </a:lnSpc>
                        <a:spcAft>
                          <a:spcPts val="0"/>
                        </a:spcAft>
                      </a:pPr>
                      <a:r>
                        <a:rPr lang="en-SG" sz="1200" dirty="0">
                          <a:solidFill>
                            <a:schemeClr val="tx2"/>
                          </a:solidFill>
                          <a:effectLst/>
                        </a:rPr>
                        <a:t> </a:t>
                      </a:r>
                      <a:r>
                        <a:rPr kumimoji="0" lang="en-GB" sz="1200" b="0" i="0" kern="1200" dirty="0" smtClean="0">
                          <a:solidFill>
                            <a:schemeClr val="tx2"/>
                          </a:solidFill>
                          <a:effectLst/>
                          <a:latin typeface="+mn-lt"/>
                          <a:ea typeface="+mn-ea"/>
                          <a:cs typeface="+mn-cs"/>
                        </a:rPr>
                        <a:t>A malicious actor or actors targeted the company with an ICMP flood attack. The entire internal network was affected. All critical network resources needed to be secured and restored to a functioning state.</a:t>
                      </a:r>
                      <a:endParaRPr lang="en-SG" sz="1200" dirty="0">
                        <a:solidFill>
                          <a:schemeClr val="tx2"/>
                        </a:solidFill>
                        <a:effectLst/>
                        <a:latin typeface="Arial"/>
                        <a:ea typeface="Arial"/>
                      </a:endParaRPr>
                    </a:p>
                  </a:txBody>
                  <a:tcPr marL="63500" marR="63500" marT="63500" marB="63500"/>
                </a:tc>
              </a:tr>
              <a:tr h="266700">
                <a:tc>
                  <a:txBody>
                    <a:bodyPr/>
                    <a:lstStyle/>
                    <a:p>
                      <a:pPr>
                        <a:lnSpc>
                          <a:spcPct val="150000"/>
                        </a:lnSpc>
                        <a:spcAft>
                          <a:spcPts val="0"/>
                        </a:spcAft>
                      </a:pPr>
                      <a:r>
                        <a:rPr lang="en-SG" sz="1100">
                          <a:effectLst/>
                        </a:rPr>
                        <a:t>Protect</a:t>
                      </a:r>
                      <a:endParaRPr lang="en-SG" sz="1100">
                        <a:effectLst/>
                        <a:latin typeface="Arial"/>
                        <a:ea typeface="Arial"/>
                      </a:endParaRPr>
                    </a:p>
                  </a:txBody>
                  <a:tcPr marL="63500" marR="63500" marT="63500" marB="63500"/>
                </a:tc>
                <a:tc>
                  <a:txBody>
                    <a:bodyPr/>
                    <a:lstStyle/>
                    <a:p>
                      <a:pPr>
                        <a:lnSpc>
                          <a:spcPct val="150000"/>
                        </a:lnSpc>
                        <a:spcAft>
                          <a:spcPts val="0"/>
                        </a:spcAft>
                      </a:pPr>
                      <a:r>
                        <a:rPr kumimoji="0" lang="en-GB" sz="1100" b="0" i="0" kern="1200" dirty="0" smtClean="0">
                          <a:solidFill>
                            <a:schemeClr val="tx2"/>
                          </a:solidFill>
                          <a:effectLst/>
                          <a:latin typeface="+mn-lt"/>
                          <a:ea typeface="+mn-ea"/>
                          <a:cs typeface="+mn-cs"/>
                        </a:rPr>
                        <a:t>The cybersecurity team implemented a new firewall rule to limit the rate of incoming ICMP packets and an IDS/IPS system to filter out some ICMP traffic based on suspicious characteristics.</a:t>
                      </a:r>
                      <a:endParaRPr lang="en-SG" sz="1100" dirty="0">
                        <a:solidFill>
                          <a:schemeClr val="tx2"/>
                        </a:solidFill>
                        <a:effectLst/>
                        <a:latin typeface="Arial"/>
                        <a:ea typeface="Arial"/>
                      </a:endParaRPr>
                    </a:p>
                  </a:txBody>
                  <a:tcPr marL="63500" marR="63500" marT="63500" marB="63500"/>
                </a:tc>
              </a:tr>
              <a:tr h="400050">
                <a:tc>
                  <a:txBody>
                    <a:bodyPr/>
                    <a:lstStyle/>
                    <a:p>
                      <a:pPr>
                        <a:lnSpc>
                          <a:spcPct val="150000"/>
                        </a:lnSpc>
                        <a:spcAft>
                          <a:spcPts val="0"/>
                        </a:spcAft>
                      </a:pPr>
                      <a:r>
                        <a:rPr lang="en-SG" sz="1100">
                          <a:effectLst/>
                        </a:rPr>
                        <a:t>Detect</a:t>
                      </a:r>
                      <a:endParaRPr lang="en-SG" sz="1100">
                        <a:effectLst/>
                        <a:latin typeface="Arial"/>
                        <a:ea typeface="Arial"/>
                      </a:endParaRPr>
                    </a:p>
                  </a:txBody>
                  <a:tcPr marL="63500" marR="63500" marT="63500" marB="63500"/>
                </a:tc>
                <a:tc>
                  <a:txBody>
                    <a:bodyPr/>
                    <a:lstStyle/>
                    <a:p>
                      <a:pPr>
                        <a:lnSpc>
                          <a:spcPct val="150000"/>
                        </a:lnSpc>
                        <a:spcAft>
                          <a:spcPts val="0"/>
                        </a:spcAft>
                      </a:pPr>
                      <a:r>
                        <a:rPr kumimoji="0" lang="en-GB" sz="1100" b="0" i="0" kern="1200" dirty="0" smtClean="0">
                          <a:solidFill>
                            <a:schemeClr val="tx2"/>
                          </a:solidFill>
                          <a:effectLst/>
                          <a:latin typeface="+mn-lt"/>
                          <a:ea typeface="+mn-ea"/>
                          <a:cs typeface="+mn-cs"/>
                        </a:rPr>
                        <a:t>The cybersecurity team configured source IP address verification on the firewall to check for spoofed IP addresses on incoming ICMP packets and implemented network monitoring software to detect abnormal traffic patterns.</a:t>
                      </a:r>
                      <a:endParaRPr lang="en-SG" sz="1100" dirty="0">
                        <a:solidFill>
                          <a:schemeClr val="tx2"/>
                        </a:solidFill>
                        <a:effectLst/>
                        <a:latin typeface="Arial"/>
                        <a:ea typeface="Arial"/>
                      </a:endParaRPr>
                    </a:p>
                  </a:txBody>
                  <a:tcPr marL="63500" marR="63500" marT="63500" marB="63500"/>
                </a:tc>
              </a:tr>
              <a:tr h="266700">
                <a:tc>
                  <a:txBody>
                    <a:bodyPr/>
                    <a:lstStyle/>
                    <a:p>
                      <a:pPr>
                        <a:lnSpc>
                          <a:spcPct val="150000"/>
                        </a:lnSpc>
                        <a:spcAft>
                          <a:spcPts val="0"/>
                        </a:spcAft>
                      </a:pPr>
                      <a:r>
                        <a:rPr lang="en-SG" sz="1100">
                          <a:effectLst/>
                        </a:rPr>
                        <a:t>Respond</a:t>
                      </a:r>
                      <a:endParaRPr lang="en-SG" sz="1100">
                        <a:effectLst/>
                        <a:latin typeface="Arial"/>
                        <a:ea typeface="Arial"/>
                      </a:endParaRPr>
                    </a:p>
                  </a:txBody>
                  <a:tcPr marL="63500" marR="63500" marT="63500" marB="63500"/>
                </a:tc>
                <a:tc>
                  <a:txBody>
                    <a:bodyPr/>
                    <a:lstStyle/>
                    <a:p>
                      <a:pPr>
                        <a:lnSpc>
                          <a:spcPct val="150000"/>
                        </a:lnSpc>
                        <a:spcAft>
                          <a:spcPts val="0"/>
                        </a:spcAft>
                      </a:pPr>
                      <a:r>
                        <a:rPr lang="en-GB" sz="1100" dirty="0" smtClean="0">
                          <a:solidFill>
                            <a:schemeClr val="tx2"/>
                          </a:solidFill>
                          <a:effectLst/>
                        </a:rPr>
                        <a:t>For future security events, the cybersecurity team will isolate affected </a:t>
                      </a:r>
                      <a:r>
                        <a:rPr kumimoji="0" lang="en-GB" sz="1100" b="0" i="0" kern="1200" dirty="0" smtClean="0">
                          <a:solidFill>
                            <a:schemeClr val="tx2"/>
                          </a:solidFill>
                          <a:effectLst/>
                          <a:latin typeface="+mn-lt"/>
                          <a:ea typeface="+mn-ea"/>
                          <a:cs typeface="+mn-cs"/>
                        </a:rPr>
                        <a:t>systems to prevent further disruption to the network. They will attempt to restore any critical systems and services that were disrupted by the event. Then, the team will </a:t>
                      </a:r>
                      <a:r>
                        <a:rPr kumimoji="0" lang="en-GB" sz="1100" b="0" i="0" kern="1200" dirty="0" err="1" smtClean="0">
                          <a:solidFill>
                            <a:schemeClr val="tx2"/>
                          </a:solidFill>
                          <a:effectLst/>
                          <a:latin typeface="+mn-lt"/>
                          <a:ea typeface="+mn-ea"/>
                          <a:cs typeface="+mn-cs"/>
                        </a:rPr>
                        <a:t>analyze</a:t>
                      </a:r>
                      <a:r>
                        <a:rPr kumimoji="0" lang="en-GB" sz="1100" b="0" i="0" kern="1200" dirty="0" smtClean="0">
                          <a:solidFill>
                            <a:schemeClr val="tx2"/>
                          </a:solidFill>
                          <a:effectLst/>
                          <a:latin typeface="+mn-lt"/>
                          <a:ea typeface="+mn-ea"/>
                          <a:cs typeface="+mn-cs"/>
                        </a:rPr>
                        <a:t> network logs to check for suspicious and abnormal activity. The team will also report all incidents to upper management and appropriate legal authorities, if applicable.</a:t>
                      </a:r>
                      <a:endParaRPr lang="en-SG" sz="1100" dirty="0">
                        <a:solidFill>
                          <a:schemeClr val="tx2"/>
                        </a:solidFill>
                        <a:effectLst/>
                        <a:latin typeface="Arial"/>
                        <a:ea typeface="Arial"/>
                      </a:endParaRPr>
                    </a:p>
                  </a:txBody>
                  <a:tcPr marL="63500" marR="63500" marT="63500" marB="63500"/>
                </a:tc>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2198752318"/>
              </p:ext>
            </p:extLst>
          </p:nvPr>
        </p:nvGraphicFramePr>
        <p:xfrm>
          <a:off x="395536" y="5976384"/>
          <a:ext cx="8136904" cy="676021"/>
        </p:xfrm>
        <a:graphic>
          <a:graphicData uri="http://schemas.openxmlformats.org/drawingml/2006/table">
            <a:tbl>
              <a:tblPr>
                <a:tableStyleId>{5C22544A-7EE6-4342-B048-85BDC9FD1C3A}</a:tableStyleId>
              </a:tblPr>
              <a:tblGrid>
                <a:gridCol w="8136904"/>
              </a:tblGrid>
              <a:tr h="0">
                <a:tc>
                  <a:txBody>
                    <a:bodyPr/>
                    <a:lstStyle/>
                    <a:p>
                      <a:pPr>
                        <a:lnSpc>
                          <a:spcPct val="115000"/>
                        </a:lnSpc>
                        <a:spcAft>
                          <a:spcPts val="0"/>
                        </a:spcAft>
                      </a:pPr>
                      <a:r>
                        <a:rPr lang="en-SG" sz="1100" dirty="0">
                          <a:effectLst/>
                        </a:rPr>
                        <a:t>Reflections/Notes</a:t>
                      </a:r>
                      <a:r>
                        <a:rPr lang="en-SG" sz="1100" dirty="0" smtClean="0">
                          <a:effectLst/>
                        </a:rPr>
                        <a:t>:</a:t>
                      </a:r>
                    </a:p>
                    <a:p>
                      <a:pPr>
                        <a:lnSpc>
                          <a:spcPct val="115000"/>
                        </a:lnSpc>
                        <a:spcAft>
                          <a:spcPts val="0"/>
                        </a:spcAft>
                      </a:pPr>
                      <a:r>
                        <a:rPr kumimoji="0" lang="en-GB" sz="1050" b="0" i="1" kern="1200" dirty="0" smtClean="0">
                          <a:solidFill>
                            <a:schemeClr val="dk1"/>
                          </a:solidFill>
                          <a:effectLst/>
                          <a:latin typeface="+mn-lt"/>
                          <a:ea typeface="+mn-ea"/>
                          <a:cs typeface="+mn-cs"/>
                        </a:rPr>
                        <a:t>- Summary of the security event that occurred</a:t>
                      </a:r>
                      <a:r>
                        <a:rPr kumimoji="0" lang="en-GB" sz="1050" b="0" i="1" kern="1200" baseline="0" dirty="0" smtClean="0">
                          <a:solidFill>
                            <a:schemeClr val="dk1"/>
                          </a:solidFill>
                          <a:effectLst/>
                          <a:latin typeface="+mn-lt"/>
                          <a:ea typeface="+mn-ea"/>
                          <a:cs typeface="+mn-cs"/>
                        </a:rPr>
                        <a:t> should i</a:t>
                      </a:r>
                      <a:r>
                        <a:rPr kumimoji="0" lang="en-GB" sz="1050" b="0" i="1" kern="1200" dirty="0" smtClean="0">
                          <a:solidFill>
                            <a:schemeClr val="dk1"/>
                          </a:solidFill>
                          <a:effectLst/>
                          <a:latin typeface="+mn-lt"/>
                          <a:ea typeface="+mn-ea"/>
                          <a:cs typeface="+mn-cs"/>
                        </a:rPr>
                        <a:t>nclude information about the security event, its cause, the impact, and the response. You can also include information about targeted systems, the attack source, and the estimated impact. </a:t>
                      </a:r>
                      <a:endParaRPr lang="en-SG" sz="1050" i="1" dirty="0">
                        <a:effectLst/>
                        <a:latin typeface="Arial"/>
                        <a:ea typeface="Arial"/>
                      </a:endParaRPr>
                    </a:p>
                  </a:txBody>
                  <a:tcPr marL="63500" marR="63500" marT="63500" marB="63500"/>
                </a:tc>
              </a:tr>
            </a:tbl>
          </a:graphicData>
        </a:graphic>
      </p:graphicFrame>
    </p:spTree>
    <p:extLst>
      <p:ext uri="{BB962C8B-B14F-4D97-AF65-F5344CB8AC3E}">
        <p14:creationId xmlns:p14="http://schemas.microsoft.com/office/powerpoint/2010/main" val="421721489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404664"/>
            <a:ext cx="8229600" cy="722344"/>
          </a:xfrm>
        </p:spPr>
        <p:txBody>
          <a:bodyPr>
            <a:noAutofit/>
          </a:bodyPr>
          <a:lstStyle/>
          <a:p>
            <a:r>
              <a:rPr lang="en-SG" sz="2800" dirty="0"/>
              <a:t>Incident report analysis</a:t>
            </a:r>
          </a:p>
        </p:txBody>
      </p:sp>
      <p:graphicFrame>
        <p:nvGraphicFramePr>
          <p:cNvPr id="6" name="Table 5"/>
          <p:cNvGraphicFramePr>
            <a:graphicFrameLocks noGrp="1"/>
          </p:cNvGraphicFramePr>
          <p:nvPr>
            <p:extLst>
              <p:ext uri="{D42A27DB-BD31-4B8C-83A1-F6EECF244321}">
                <p14:modId xmlns:p14="http://schemas.microsoft.com/office/powerpoint/2010/main" val="974439666"/>
              </p:ext>
            </p:extLst>
          </p:nvPr>
        </p:nvGraphicFramePr>
        <p:xfrm>
          <a:off x="395536" y="1396628"/>
          <a:ext cx="8136904" cy="1384300"/>
        </p:xfrm>
        <a:graphic>
          <a:graphicData uri="http://schemas.openxmlformats.org/drawingml/2006/table">
            <a:tbl>
              <a:tblPr>
                <a:tableStyleId>{5C22544A-7EE6-4342-B048-85BDC9FD1C3A}</a:tableStyleId>
              </a:tblPr>
              <a:tblGrid>
                <a:gridCol w="864096"/>
                <a:gridCol w="7272808"/>
              </a:tblGrid>
              <a:tr h="266700">
                <a:tc>
                  <a:txBody>
                    <a:bodyPr/>
                    <a:lstStyle/>
                    <a:p>
                      <a:pPr>
                        <a:lnSpc>
                          <a:spcPct val="150000"/>
                        </a:lnSpc>
                        <a:spcAft>
                          <a:spcPts val="0"/>
                        </a:spcAft>
                      </a:pPr>
                      <a:r>
                        <a:rPr lang="en-SG" sz="1100" dirty="0">
                          <a:effectLst/>
                        </a:rPr>
                        <a:t>Recover</a:t>
                      </a:r>
                      <a:endParaRPr lang="en-SG" sz="1100" dirty="0">
                        <a:effectLst/>
                        <a:latin typeface="Arial"/>
                        <a:ea typeface="Arial"/>
                      </a:endParaRPr>
                    </a:p>
                  </a:txBody>
                  <a:tcPr marL="63500" marR="63500" marT="63500" marB="63500"/>
                </a:tc>
                <a:tc>
                  <a:txBody>
                    <a:bodyPr/>
                    <a:lstStyle/>
                    <a:p>
                      <a:pPr>
                        <a:lnSpc>
                          <a:spcPct val="150000"/>
                        </a:lnSpc>
                        <a:spcAft>
                          <a:spcPts val="0"/>
                        </a:spcAft>
                      </a:pPr>
                      <a:r>
                        <a:rPr kumimoji="0" lang="en-GB" sz="1100" b="0" i="0" kern="1200" dirty="0" smtClean="0">
                          <a:solidFill>
                            <a:schemeClr val="tx2"/>
                          </a:solidFill>
                          <a:effectLst/>
                          <a:latin typeface="+mn-lt"/>
                          <a:ea typeface="+mn-ea"/>
                          <a:cs typeface="+mn-cs"/>
                        </a:rPr>
                        <a:t>To recover from a DDoS attack by ICMP flooding, access to network services need to be restored to a normal functioning state. In the future, external ICMP flood attacks can be blocked at the firewall. Then, all non-critical network services should be stopped to reduce internal network traffic. Next, critical network services should be restored first. Finally, once the flood of ICMP packets have timed out, all non-critical network systems and services can be brought back online.</a:t>
                      </a:r>
                      <a:endParaRPr lang="en-SG" sz="1100" dirty="0">
                        <a:solidFill>
                          <a:schemeClr val="tx2"/>
                        </a:solidFill>
                        <a:effectLst/>
                        <a:latin typeface="Arial"/>
                        <a:ea typeface="Arial"/>
                      </a:endParaRPr>
                    </a:p>
                  </a:txBody>
                  <a:tcPr marL="63500" marR="63500" marT="63500" marB="63500"/>
                </a:tc>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1023153881"/>
              </p:ext>
            </p:extLst>
          </p:nvPr>
        </p:nvGraphicFramePr>
        <p:xfrm>
          <a:off x="395536" y="2996952"/>
          <a:ext cx="8136904" cy="687832"/>
        </p:xfrm>
        <a:graphic>
          <a:graphicData uri="http://schemas.openxmlformats.org/drawingml/2006/table">
            <a:tbl>
              <a:tblPr>
                <a:tableStyleId>{5C22544A-7EE6-4342-B048-85BDC9FD1C3A}</a:tableStyleId>
              </a:tblPr>
              <a:tblGrid>
                <a:gridCol w="8136904"/>
              </a:tblGrid>
              <a:tr h="0">
                <a:tc>
                  <a:txBody>
                    <a:bodyPr/>
                    <a:lstStyle/>
                    <a:p>
                      <a:pPr>
                        <a:lnSpc>
                          <a:spcPct val="115000"/>
                        </a:lnSpc>
                        <a:spcAft>
                          <a:spcPts val="0"/>
                        </a:spcAft>
                      </a:pPr>
                      <a:r>
                        <a:rPr lang="en-SG" sz="1100" dirty="0">
                          <a:effectLst/>
                        </a:rPr>
                        <a:t>Reflections/Notes</a:t>
                      </a:r>
                      <a:r>
                        <a:rPr lang="en-SG" sz="1100" dirty="0" smtClean="0">
                          <a:effectLst/>
                        </a:rPr>
                        <a:t>:</a:t>
                      </a:r>
                    </a:p>
                    <a:p>
                      <a:pPr>
                        <a:lnSpc>
                          <a:spcPct val="115000"/>
                        </a:lnSpc>
                        <a:spcAft>
                          <a:spcPts val="0"/>
                        </a:spcAft>
                      </a:pPr>
                      <a:r>
                        <a:rPr kumimoji="0" lang="en-GB" sz="1050" b="0" i="1" kern="1200" dirty="0" smtClean="0">
                          <a:solidFill>
                            <a:schemeClr val="dk1"/>
                          </a:solidFill>
                          <a:effectLst/>
                          <a:latin typeface="+mn-lt"/>
                          <a:ea typeface="+mn-ea"/>
                          <a:cs typeface="+mn-cs"/>
                        </a:rPr>
                        <a:t>- Summary of the security event that occurred</a:t>
                      </a:r>
                      <a:r>
                        <a:rPr kumimoji="0" lang="en-GB" sz="1050" b="0" i="1" kern="1200" baseline="0" dirty="0" smtClean="0">
                          <a:solidFill>
                            <a:schemeClr val="dk1"/>
                          </a:solidFill>
                          <a:effectLst/>
                          <a:latin typeface="+mn-lt"/>
                          <a:ea typeface="+mn-ea"/>
                          <a:cs typeface="+mn-cs"/>
                        </a:rPr>
                        <a:t> should i</a:t>
                      </a:r>
                      <a:r>
                        <a:rPr kumimoji="0" lang="en-GB" sz="1050" b="0" i="1" kern="1200" dirty="0" smtClean="0">
                          <a:solidFill>
                            <a:schemeClr val="dk1"/>
                          </a:solidFill>
                          <a:effectLst/>
                          <a:latin typeface="+mn-lt"/>
                          <a:ea typeface="+mn-ea"/>
                          <a:cs typeface="+mn-cs"/>
                        </a:rPr>
                        <a:t>nclude information about the security event, its cause, the impact, and the response. You can also include information about targeted systems, the attack source, and the estimated impact. </a:t>
                      </a:r>
                      <a:endParaRPr lang="en-SG" sz="1050" i="1" dirty="0">
                        <a:effectLst/>
                        <a:latin typeface="Arial"/>
                        <a:ea typeface="Arial"/>
                      </a:endParaRPr>
                    </a:p>
                  </a:txBody>
                  <a:tcPr marL="63500" marR="63500" marT="63500" marB="63500"/>
                </a:tc>
              </a:tr>
            </a:tbl>
          </a:graphicData>
        </a:graphic>
      </p:graphicFrame>
    </p:spTree>
    <p:extLst>
      <p:ext uri="{BB962C8B-B14F-4D97-AF65-F5344CB8AC3E}">
        <p14:creationId xmlns:p14="http://schemas.microsoft.com/office/powerpoint/2010/main" val="3138269519"/>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2.jpeg"/></Relationships>
</file>

<file path=ppt/theme/_rels/theme3.xml.rels><?xml version="1.0" encoding="UTF-8" standalone="yes"?>
<Relationships xmlns="http://schemas.openxmlformats.org/package/2006/relationships"><Relationship Id="rId1" Type="http://schemas.openxmlformats.org/officeDocument/2006/relationships/image" Target="../media/image3.jpeg"/></Relationships>
</file>

<file path=ppt/theme/theme1.xml><?xml version="1.0" encoding="utf-8"?>
<a:theme xmlns:a="http://schemas.openxmlformats.org/drawingml/2006/main" name="Executive">
  <a:themeElements>
    <a:clrScheme name="Executive">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Executive">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xecutiv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3.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448</TotalTime>
  <Words>1587</Words>
  <Application>Microsoft Office PowerPoint</Application>
  <PresentationFormat>On-screen Show (4:3)</PresentationFormat>
  <Paragraphs>84</Paragraphs>
  <Slides>8</Slides>
  <Notes>0</Notes>
  <HiddenSlides>0</HiddenSlides>
  <MMClips>0</MMClips>
  <ScaleCrop>false</ScaleCrop>
  <HeadingPairs>
    <vt:vector size="4" baseType="variant">
      <vt:variant>
        <vt:lpstr>Theme</vt:lpstr>
      </vt:variant>
      <vt:variant>
        <vt:i4>3</vt:i4>
      </vt:variant>
      <vt:variant>
        <vt:lpstr>Slide Titles</vt:lpstr>
      </vt:variant>
      <vt:variant>
        <vt:i4>8</vt:i4>
      </vt:variant>
    </vt:vector>
  </HeadingPairs>
  <TitlesOfParts>
    <vt:vector size="11" baseType="lpstr">
      <vt:lpstr>Executive</vt:lpstr>
      <vt:lpstr>Equity</vt:lpstr>
      <vt:lpstr>Flow</vt:lpstr>
      <vt:lpstr>Scenario</vt:lpstr>
      <vt:lpstr>PowerPoint Presentation</vt:lpstr>
      <vt:lpstr>PowerPoint Presentation</vt:lpstr>
      <vt:lpstr>PowerPoint Presentation</vt:lpstr>
      <vt:lpstr>Example of a Incident report analysis</vt:lpstr>
      <vt:lpstr>Example of a Incident report analysis</vt:lpstr>
      <vt:lpstr>Incident report analysis</vt:lpstr>
      <vt:lpstr>Incident report analysis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Scenario</dc:title>
  <dc:creator>ZhiQian Chua</dc:creator>
  <cp:lastModifiedBy>ZhiQian Chua</cp:lastModifiedBy>
  <cp:revision>27</cp:revision>
  <dcterms:created xsi:type="dcterms:W3CDTF">2026-04-11T03:58:54Z</dcterms:created>
  <dcterms:modified xsi:type="dcterms:W3CDTF">2026-04-14T18:43:49Z</dcterms:modified>
</cp:coreProperties>
</file>