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2" r:id="rId2"/>
    <p:sldMasterId id="2147483696" r:id="rId3"/>
    <p:sldMasterId id="2147483708" r:id="rId4"/>
  </p:sldMasterIdLst>
  <p:sldIdLst>
    <p:sldId id="256" r:id="rId5"/>
    <p:sldId id="257" r:id="rId6"/>
    <p:sldId id="258" r:id="rId7"/>
    <p:sldId id="260" r:id="rId8"/>
    <p:sldId id="259" r:id="rId9"/>
    <p:sldId id="261" r:id="rId1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10" d="100"/>
          <a:sy n="110" d="100"/>
        </p:scale>
        <p:origin x="-164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theme" Target="theme/theme1.xml"/><Relationship Id="rId3" Type="http://schemas.openxmlformats.org/officeDocument/2006/relationships/slideMaster" Target="slideMasters/slideMaster3.xml"/><Relationship Id="rId7" Type="http://schemas.openxmlformats.org/officeDocument/2006/relationships/slide" Target="slides/slide3.xml"/><Relationship Id="rId12" Type="http://schemas.openxmlformats.org/officeDocument/2006/relationships/viewProps" Target="view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presProps" Target="presProps.xml"/><Relationship Id="rId5" Type="http://schemas.openxmlformats.org/officeDocument/2006/relationships/slide" Target="slides/slide1.xml"/><Relationship Id="rId10" Type="http://schemas.openxmlformats.org/officeDocument/2006/relationships/slide" Target="slides/slide6.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609601"/>
            <a:ext cx="7772400" cy="4267200"/>
          </a:xfrm>
        </p:spPr>
        <p:txBody>
          <a:bodyPr anchor="b">
            <a:noAutofit/>
          </a:bodyPr>
          <a:lstStyle>
            <a:lvl1pPr>
              <a:lnSpc>
                <a:spcPct val="100000"/>
              </a:lnSpc>
              <a:defRPr sz="8000"/>
            </a:lvl1pPr>
          </a:lstStyle>
          <a:p>
            <a:r>
              <a:rPr lang="en-US" smtClean="0"/>
              <a:t>Click to edit Master title style</a:t>
            </a:r>
            <a:endParaRPr lang="en-US" dirty="0"/>
          </a:p>
        </p:txBody>
      </p:sp>
      <p:sp>
        <p:nvSpPr>
          <p:cNvPr id="3" name="Subtitle 2"/>
          <p:cNvSpPr>
            <a:spLocks noGrp="1"/>
          </p:cNvSpPr>
          <p:nvPr>
            <p:ph type="subTitle" idx="1"/>
          </p:nvPr>
        </p:nvSpPr>
        <p:spPr>
          <a:xfrm>
            <a:off x="1371600" y="4953000"/>
            <a:ext cx="6400800" cy="1219200"/>
          </a:xfrm>
        </p:spPr>
        <p:txBody>
          <a:bodyPr>
            <a:normAutofit/>
          </a:bodyPr>
          <a:lstStyle>
            <a:lvl1pPr marL="0" indent="0" algn="ctr">
              <a:buNone/>
              <a:defRPr sz="2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7" name="Date Placeholder 6"/>
          <p:cNvSpPr>
            <a:spLocks noGrp="1"/>
          </p:cNvSpPr>
          <p:nvPr>
            <p:ph type="dt" sz="half" idx="10"/>
          </p:nvPr>
        </p:nvSpPr>
        <p:spPr/>
        <p:txBody>
          <a:bodyPr/>
          <a:lstStyle/>
          <a:p>
            <a:fld id="{C81D1448-F56A-427E-B4D3-154671AD8545}" type="datetimeFigureOut">
              <a:rPr lang="en-SG" smtClean="0"/>
              <a:t>13/4/2026</a:t>
            </a:fld>
            <a:endParaRPr lang="en-SG"/>
          </a:p>
        </p:txBody>
      </p:sp>
      <p:sp>
        <p:nvSpPr>
          <p:cNvPr id="8" name="Slide Number Placeholder 7"/>
          <p:cNvSpPr>
            <a:spLocks noGrp="1"/>
          </p:cNvSpPr>
          <p:nvPr>
            <p:ph type="sldNum" sz="quarter" idx="11"/>
          </p:nvPr>
        </p:nvSpPr>
        <p:spPr/>
        <p:txBody>
          <a:bodyPr/>
          <a:lstStyle/>
          <a:p>
            <a:fld id="{C5804EC2-4BFC-4480-AE2A-23FA0465B8FA}" type="slidenum">
              <a:rPr lang="en-SG" smtClean="0"/>
              <a:t>‹#›</a:t>
            </a:fld>
            <a:endParaRPr lang="en-SG"/>
          </a:p>
        </p:txBody>
      </p:sp>
      <p:sp>
        <p:nvSpPr>
          <p:cNvPr id="9" name="Footer Placeholder 8"/>
          <p:cNvSpPr>
            <a:spLocks noGrp="1"/>
          </p:cNvSpPr>
          <p:nvPr>
            <p:ph type="ftr" sz="quarter" idx="12"/>
          </p:nvPr>
        </p:nvSpPr>
        <p:spPr/>
        <p:txBody>
          <a:bodyPr/>
          <a:lstStyle/>
          <a:p>
            <a:endParaRPr lang="en-SG"/>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lvl5pPr>
              <a:defRPr/>
            </a:lvl5pPr>
            <a:lvl6pPr>
              <a:defRPr/>
            </a:lvl6pPr>
            <a:lvl7pPr>
              <a:defRPr/>
            </a:lvl7pPr>
            <a:lvl8pPr>
              <a:defRPr/>
            </a:lvl8pPr>
            <a:lvl9pPr>
              <a:buFont typeface="Arial" pitchFamily="34" charset="0"/>
              <a:buChar char="•"/>
              <a:defRPr/>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Date Placeholder 3"/>
          <p:cNvSpPr>
            <a:spLocks noGrp="1"/>
          </p:cNvSpPr>
          <p:nvPr>
            <p:ph type="dt" sz="half" idx="10"/>
          </p:nvPr>
        </p:nvSpPr>
        <p:spPr/>
        <p:txBody>
          <a:bodyPr/>
          <a:lstStyle/>
          <a:p>
            <a:fld id="{C81D1448-F56A-427E-B4D3-154671AD8545}" type="datetimeFigureOut">
              <a:rPr lang="en-SG" smtClean="0"/>
              <a:t>13/4/2026</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C5804EC2-4BFC-4480-AE2A-23FA0465B8FA}" type="slidenum">
              <a:rPr lang="en-SG" smtClean="0"/>
              <a:t>‹#›</a:t>
            </a:fld>
            <a:endParaRPr lang="en-SG"/>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1371600"/>
            <a:ext cx="7772400" cy="2505075"/>
          </a:xfrm>
        </p:spPr>
        <p:txBody>
          <a:bodyPr anchor="b"/>
          <a:lstStyle>
            <a:lvl1pPr algn="ctr" defTabSz="914400" rtl="0" eaLnBrk="1" latinLnBrk="0" hangingPunct="1">
              <a:lnSpc>
                <a:spcPct val="100000"/>
              </a:lnSpc>
              <a:spcBef>
                <a:spcPct val="0"/>
              </a:spcBef>
              <a:buNone/>
              <a:defRPr lang="en-US" sz="4800" kern="1200" dirty="0" smtClean="0">
                <a:solidFill>
                  <a:schemeClr val="tx2"/>
                </a:solidFill>
                <a:effectLst>
                  <a:outerShdw blurRad="63500" dist="38100" dir="5400000" algn="t" rotWithShape="0">
                    <a:prstClr val="black">
                      <a:alpha val="25000"/>
                    </a:prstClr>
                  </a:outerShdw>
                </a:effectLst>
                <a:latin typeface="+mn-lt"/>
                <a:ea typeface="+mj-ea"/>
                <a:cs typeface="+mj-cs"/>
              </a:defRPr>
            </a:lvl1pPr>
          </a:lstStyle>
          <a:p>
            <a:r>
              <a:rPr lang="en-US" smtClean="0"/>
              <a:t>Click to edit Master title style</a:t>
            </a:r>
            <a:endParaRPr lang="en-US" dirty="0"/>
          </a:p>
        </p:txBody>
      </p:sp>
      <p:sp>
        <p:nvSpPr>
          <p:cNvPr id="3" name="Text Placeholder 2"/>
          <p:cNvSpPr>
            <a:spLocks noGrp="1"/>
          </p:cNvSpPr>
          <p:nvPr>
            <p:ph type="body" idx="1"/>
          </p:nvPr>
        </p:nvSpPr>
        <p:spPr>
          <a:xfrm>
            <a:off x="722313" y="4068763"/>
            <a:ext cx="7772400" cy="1131887"/>
          </a:xfrm>
        </p:spPr>
        <p:txBody>
          <a:bodyPr anchor="t"/>
          <a:lstStyle>
            <a:lvl1pPr marL="0" indent="0" algn="ctr">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C81D1448-F56A-427E-B4D3-154671AD8545}" type="datetimeFigureOut">
              <a:rPr lang="en-SG" smtClean="0"/>
              <a:t>13/4/2026</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C5804EC2-4BFC-4480-AE2A-23FA0465B8FA}" type="slidenum">
              <a:rPr lang="en-SG" smtClean="0"/>
              <a:t>‹#›</a:t>
            </a:fld>
            <a:endParaRPr lang="en-SG"/>
          </a:p>
        </p:txBody>
      </p:sp>
      <p:sp>
        <p:nvSpPr>
          <p:cNvPr id="7" name="Oval 6"/>
          <p:cNvSpPr/>
          <p:nvPr/>
        </p:nvSpPr>
        <p:spPr>
          <a:xfrm>
            <a:off x="4495800" y="3924300"/>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4695825" y="3924300"/>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4296728" y="3924300"/>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Content Placeholder 3"/>
          <p:cNvSpPr>
            <a:spLocks noGrp="1"/>
          </p:cNvSpPr>
          <p:nvPr>
            <p:ph sz="half" idx="2"/>
          </p:nvPr>
        </p:nvSpPr>
        <p:spPr>
          <a:xfrm>
            <a:off x="4648200" y="1600200"/>
            <a:ext cx="4038600" cy="4525963"/>
          </a:xfrm>
        </p:spPr>
        <p:txBody>
          <a:bodyPr/>
          <a:lstStyle>
            <a:lvl1pPr>
              <a:defRPr sz="24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5" name="Date Placeholder 4"/>
          <p:cNvSpPr>
            <a:spLocks noGrp="1"/>
          </p:cNvSpPr>
          <p:nvPr>
            <p:ph type="dt" sz="half" idx="10"/>
          </p:nvPr>
        </p:nvSpPr>
        <p:spPr/>
        <p:txBody>
          <a:bodyPr/>
          <a:lstStyle/>
          <a:p>
            <a:fld id="{C81D1448-F56A-427E-B4D3-154671AD8545}" type="datetimeFigureOut">
              <a:rPr lang="en-SG" smtClean="0"/>
              <a:t>13/4/2026</a:t>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p:txBody>
          <a:bodyPr/>
          <a:lstStyle/>
          <a:p>
            <a:fld id="{C5804EC2-4BFC-4480-AE2A-23FA0465B8FA}" type="slidenum">
              <a:rPr lang="en-SG" smtClean="0"/>
              <a:t>‹#›</a:t>
            </a:fld>
            <a:endParaRPr lang="en-SG"/>
          </a:p>
        </p:txBody>
      </p:sp>
      <p:sp>
        <p:nvSpPr>
          <p:cNvPr id="9" name="Content Placeholder 8"/>
          <p:cNvSpPr>
            <a:spLocks noGrp="1"/>
          </p:cNvSpPr>
          <p:nvPr>
            <p:ph sz="quarter" idx="13"/>
          </p:nvPr>
        </p:nvSpPr>
        <p:spPr>
          <a:xfrm>
            <a:off x="365760" y="1600200"/>
            <a:ext cx="4041648" cy="452628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600200"/>
            <a:ext cx="4040188" cy="609600"/>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5" name="Text Placeholder 4"/>
          <p:cNvSpPr>
            <a:spLocks noGrp="1"/>
          </p:cNvSpPr>
          <p:nvPr>
            <p:ph type="body" sz="quarter" idx="3"/>
          </p:nvPr>
        </p:nvSpPr>
        <p:spPr>
          <a:xfrm>
            <a:off x="4648200" y="1600200"/>
            <a:ext cx="4041775" cy="609600"/>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7" name="Date Placeholder 6"/>
          <p:cNvSpPr>
            <a:spLocks noGrp="1"/>
          </p:cNvSpPr>
          <p:nvPr>
            <p:ph type="dt" sz="half" idx="10"/>
          </p:nvPr>
        </p:nvSpPr>
        <p:spPr/>
        <p:txBody>
          <a:bodyPr/>
          <a:lstStyle/>
          <a:p>
            <a:fld id="{C81D1448-F56A-427E-B4D3-154671AD8545}" type="datetimeFigureOut">
              <a:rPr lang="en-SG" smtClean="0"/>
              <a:t>13/4/2026</a:t>
            </a:fld>
            <a:endParaRPr lang="en-SG"/>
          </a:p>
        </p:txBody>
      </p:sp>
      <p:sp>
        <p:nvSpPr>
          <p:cNvPr id="8" name="Footer Placeholder 7"/>
          <p:cNvSpPr>
            <a:spLocks noGrp="1"/>
          </p:cNvSpPr>
          <p:nvPr>
            <p:ph type="ftr" sz="quarter" idx="11"/>
          </p:nvPr>
        </p:nvSpPr>
        <p:spPr/>
        <p:txBody>
          <a:bodyPr/>
          <a:lstStyle/>
          <a:p>
            <a:endParaRPr lang="en-SG"/>
          </a:p>
        </p:txBody>
      </p:sp>
      <p:sp>
        <p:nvSpPr>
          <p:cNvPr id="9" name="Slide Number Placeholder 8"/>
          <p:cNvSpPr>
            <a:spLocks noGrp="1"/>
          </p:cNvSpPr>
          <p:nvPr>
            <p:ph type="sldNum" sz="quarter" idx="12"/>
          </p:nvPr>
        </p:nvSpPr>
        <p:spPr/>
        <p:txBody>
          <a:bodyPr/>
          <a:lstStyle/>
          <a:p>
            <a:fld id="{C5804EC2-4BFC-4480-AE2A-23FA0465B8FA}" type="slidenum">
              <a:rPr lang="en-SG" smtClean="0"/>
              <a:t>‹#›</a:t>
            </a:fld>
            <a:endParaRPr lang="en-SG"/>
          </a:p>
        </p:txBody>
      </p:sp>
      <p:sp>
        <p:nvSpPr>
          <p:cNvPr id="11" name="Content Placeholder 10"/>
          <p:cNvSpPr>
            <a:spLocks noGrp="1"/>
          </p:cNvSpPr>
          <p:nvPr>
            <p:ph sz="quarter" idx="13"/>
          </p:nvPr>
        </p:nvSpPr>
        <p:spPr>
          <a:xfrm>
            <a:off x="457200" y="2212848"/>
            <a:ext cx="4041648" cy="391363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3" name="Content Placeholder 12"/>
          <p:cNvSpPr>
            <a:spLocks noGrp="1"/>
          </p:cNvSpPr>
          <p:nvPr>
            <p:ph sz="quarter" idx="14"/>
          </p:nvPr>
        </p:nvSpPr>
        <p:spPr>
          <a:xfrm>
            <a:off x="4672584" y="2212848"/>
            <a:ext cx="4041648" cy="391318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C81D1448-F56A-427E-B4D3-154671AD8545}" type="datetimeFigureOut">
              <a:rPr lang="en-SG" smtClean="0"/>
              <a:t>13/4/2026</a:t>
            </a:fld>
            <a:endParaRPr lang="en-SG"/>
          </a:p>
        </p:txBody>
      </p:sp>
      <p:sp>
        <p:nvSpPr>
          <p:cNvPr id="4" name="Footer Placeholder 3"/>
          <p:cNvSpPr>
            <a:spLocks noGrp="1"/>
          </p:cNvSpPr>
          <p:nvPr>
            <p:ph type="ftr" sz="quarter" idx="11"/>
          </p:nvPr>
        </p:nvSpPr>
        <p:spPr/>
        <p:txBody>
          <a:bodyPr/>
          <a:lstStyle/>
          <a:p>
            <a:endParaRPr lang="en-SG"/>
          </a:p>
        </p:txBody>
      </p:sp>
      <p:sp>
        <p:nvSpPr>
          <p:cNvPr id="5" name="Slide Number Placeholder 4"/>
          <p:cNvSpPr>
            <a:spLocks noGrp="1"/>
          </p:cNvSpPr>
          <p:nvPr>
            <p:ph type="sldNum" sz="quarter" idx="12"/>
          </p:nvPr>
        </p:nvSpPr>
        <p:spPr/>
        <p:txBody>
          <a:bodyPr/>
          <a:lstStyle/>
          <a:p>
            <a:fld id="{C5804EC2-4BFC-4480-AE2A-23FA0465B8FA}" type="slidenum">
              <a:rPr lang="en-SG" smtClean="0"/>
              <a:t>‹#›</a:t>
            </a:fld>
            <a:endParaRPr lang="en-SG"/>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81D1448-F56A-427E-B4D3-154671AD8545}" type="datetimeFigureOut">
              <a:rPr lang="en-SG" smtClean="0"/>
              <a:t>13/4/2026</a:t>
            </a:fld>
            <a:endParaRPr lang="en-SG"/>
          </a:p>
        </p:txBody>
      </p:sp>
      <p:sp>
        <p:nvSpPr>
          <p:cNvPr id="3" name="Footer Placeholder 2"/>
          <p:cNvSpPr>
            <a:spLocks noGrp="1"/>
          </p:cNvSpPr>
          <p:nvPr>
            <p:ph type="ftr" sz="quarter" idx="11"/>
          </p:nvPr>
        </p:nvSpPr>
        <p:spPr/>
        <p:txBody>
          <a:bodyPr/>
          <a:lstStyle/>
          <a:p>
            <a:endParaRPr lang="en-SG"/>
          </a:p>
        </p:txBody>
      </p:sp>
      <p:sp>
        <p:nvSpPr>
          <p:cNvPr id="4" name="Slide Number Placeholder 3"/>
          <p:cNvSpPr>
            <a:spLocks noGrp="1"/>
          </p:cNvSpPr>
          <p:nvPr>
            <p:ph type="sldNum" sz="quarter" idx="12"/>
          </p:nvPr>
        </p:nvSpPr>
        <p:spPr/>
        <p:txBody>
          <a:bodyPr/>
          <a:lstStyle/>
          <a:p>
            <a:fld id="{C5804EC2-4BFC-4480-AE2A-23FA0465B8FA}" type="slidenum">
              <a:rPr lang="en-SG" smtClean="0"/>
              <a:t>‹#›</a:t>
            </a:fld>
            <a:endParaRPr lang="en-SG"/>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07087" y="266700"/>
            <a:ext cx="3008313" cy="2095500"/>
          </a:xfrm>
        </p:spPr>
        <p:txBody>
          <a:bodyPr anchor="b"/>
          <a:lstStyle>
            <a:lvl1pPr algn="ctr">
              <a:lnSpc>
                <a:spcPct val="100000"/>
              </a:lnSpc>
              <a:defRPr sz="2800" b="0">
                <a:effectLst>
                  <a:outerShdw blurRad="50800" dist="25400" dir="5400000" algn="t" rotWithShape="0">
                    <a:prstClr val="black">
                      <a:alpha val="25000"/>
                    </a:prstClr>
                  </a:outerShdw>
                </a:effectLst>
              </a:defRPr>
            </a:lvl1pPr>
          </a:lstStyle>
          <a:p>
            <a:r>
              <a:rPr lang="en-US" smtClean="0"/>
              <a:t>Click to edit Master title style</a:t>
            </a:r>
            <a:endParaRPr lang="en-US" dirty="0"/>
          </a:p>
        </p:txBody>
      </p:sp>
      <p:sp>
        <p:nvSpPr>
          <p:cNvPr id="3" name="Content Placeholder 2"/>
          <p:cNvSpPr>
            <a:spLocks noGrp="1"/>
          </p:cNvSpPr>
          <p:nvPr>
            <p:ph idx="1"/>
          </p:nvPr>
        </p:nvSpPr>
        <p:spPr>
          <a:xfrm>
            <a:off x="719137" y="273050"/>
            <a:ext cx="4995863"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5907087" y="2438400"/>
            <a:ext cx="3008313" cy="3687763"/>
          </a:xfrm>
        </p:spPr>
        <p:txBody>
          <a:bodyPr>
            <a:normAutofit/>
          </a:bodyPr>
          <a:lstStyle>
            <a:lvl1pPr marL="0" indent="0" algn="ctr">
              <a:lnSpc>
                <a:spcPct val="125000"/>
              </a:lnSpc>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81D1448-F56A-427E-B4D3-154671AD8545}" type="datetimeFigureOut">
              <a:rPr lang="en-SG" smtClean="0"/>
              <a:t>13/4/2026</a:t>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p:txBody>
          <a:bodyPr/>
          <a:lstStyle/>
          <a:p>
            <a:fld id="{C5804EC2-4BFC-4480-AE2A-23FA0465B8FA}" type="slidenum">
              <a:rPr lang="en-SG" smtClean="0"/>
              <a:t>‹#›</a:t>
            </a:fld>
            <a:endParaRPr lang="en-SG"/>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79576" y="228600"/>
            <a:ext cx="5711824" cy="895350"/>
          </a:xfrm>
        </p:spPr>
        <p:txBody>
          <a:bodyPr anchor="b"/>
          <a:lstStyle>
            <a:lvl1pPr algn="ctr">
              <a:lnSpc>
                <a:spcPct val="100000"/>
              </a:lnSpc>
              <a:defRPr sz="2800" b="0"/>
            </a:lvl1pPr>
          </a:lstStyle>
          <a:p>
            <a:r>
              <a:rPr lang="en-US" smtClean="0"/>
              <a:t>Click to edit Master title style</a:t>
            </a:r>
            <a:endParaRPr lang="en-US" dirty="0"/>
          </a:p>
        </p:txBody>
      </p:sp>
      <p:sp>
        <p:nvSpPr>
          <p:cNvPr id="3" name="Picture Placeholder 2"/>
          <p:cNvSpPr>
            <a:spLocks noGrp="1"/>
          </p:cNvSpPr>
          <p:nvPr>
            <p:ph type="pic" idx="1"/>
          </p:nvPr>
        </p:nvSpPr>
        <p:spPr>
          <a:xfrm>
            <a:off x="1508126" y="1143000"/>
            <a:ext cx="6054724" cy="4541044"/>
          </a:xfrm>
          <a:ln w="76200">
            <a:solidFill>
              <a:schemeClr val="bg1"/>
            </a:solidFill>
          </a:ln>
          <a:effectLst>
            <a:outerShdw blurRad="88900" dist="50800" dir="5400000" algn="ctr" rotWithShape="0">
              <a:srgbClr val="000000">
                <a:alpha val="25000"/>
              </a:srgbClr>
            </a:outerShdw>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679576" y="5810250"/>
            <a:ext cx="5711824" cy="5334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81D1448-F56A-427E-B4D3-154671AD8545}" type="datetimeFigureOut">
              <a:rPr lang="en-SG" smtClean="0"/>
              <a:t>13/4/2026</a:t>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p:txBody>
          <a:bodyPr/>
          <a:lstStyle/>
          <a:p>
            <a:fld id="{C5804EC2-4BFC-4480-AE2A-23FA0465B8FA}" type="slidenum">
              <a:rPr lang="en-SG" smtClean="0"/>
              <a:t>‹#›</a:t>
            </a:fld>
            <a:endParaRPr lang="en-SG"/>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81D1448-F56A-427E-B4D3-154671AD8545}" type="datetimeFigureOut">
              <a:rPr lang="en-SG" smtClean="0"/>
              <a:t>13/4/2026</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C5804EC2-4BFC-4480-AE2A-23FA0465B8FA}" type="slidenum">
              <a:rPr lang="en-SG" smtClean="0"/>
              <a:t>‹#›</a:t>
            </a:fld>
            <a:endParaRPr lang="en-SG"/>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81D1448-F56A-427E-B4D3-154671AD8545}" type="datetimeFigureOut">
              <a:rPr lang="en-SG" smtClean="0"/>
              <a:t>13/4/2026</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C5804EC2-4BFC-4480-AE2A-23FA0465B8FA}" type="slidenum">
              <a:rPr lang="en-SG" smtClean="0"/>
              <a:t>‹#›</a:t>
            </a:fld>
            <a:endParaRPr lang="en-SG"/>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SG"/>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SG"/>
          </a:p>
        </p:txBody>
      </p:sp>
      <p:sp>
        <p:nvSpPr>
          <p:cNvPr id="4" name="Date Placeholder 3"/>
          <p:cNvSpPr>
            <a:spLocks noGrp="1"/>
          </p:cNvSpPr>
          <p:nvPr>
            <p:ph type="dt" sz="half" idx="10"/>
          </p:nvPr>
        </p:nvSpPr>
        <p:spPr/>
        <p:txBody>
          <a:bodyPr/>
          <a:lstStyle/>
          <a:p>
            <a:fld id="{C81D1448-F56A-427E-B4D3-154671AD8545}" type="datetimeFigureOut">
              <a:rPr lang="en-SG" smtClean="0"/>
              <a:t>13/4/2026</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C5804EC2-4BFC-4480-AE2A-23FA0465B8FA}" type="slidenum">
              <a:rPr lang="en-SG" smtClean="0"/>
              <a:t>‹#›</a:t>
            </a:fld>
            <a:endParaRPr lang="en-SG"/>
          </a:p>
        </p:txBody>
      </p:sp>
    </p:spTree>
    <p:extLst>
      <p:ext uri="{BB962C8B-B14F-4D97-AF65-F5344CB8AC3E}">
        <p14:creationId xmlns:p14="http://schemas.microsoft.com/office/powerpoint/2010/main" val="128215174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SG"/>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SG"/>
          </a:p>
        </p:txBody>
      </p:sp>
      <p:sp>
        <p:nvSpPr>
          <p:cNvPr id="4" name="Date Placeholder 3"/>
          <p:cNvSpPr>
            <a:spLocks noGrp="1"/>
          </p:cNvSpPr>
          <p:nvPr>
            <p:ph type="dt" sz="half" idx="10"/>
          </p:nvPr>
        </p:nvSpPr>
        <p:spPr/>
        <p:txBody>
          <a:bodyPr/>
          <a:lstStyle/>
          <a:p>
            <a:fld id="{C81D1448-F56A-427E-B4D3-154671AD8545}" type="datetimeFigureOut">
              <a:rPr lang="en-SG" smtClean="0"/>
              <a:t>13/4/2026</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C5804EC2-4BFC-4480-AE2A-23FA0465B8FA}" type="slidenum">
              <a:rPr lang="en-SG" smtClean="0"/>
              <a:t>‹#›</a:t>
            </a:fld>
            <a:endParaRPr lang="en-SG"/>
          </a:p>
        </p:txBody>
      </p:sp>
    </p:spTree>
    <p:extLst>
      <p:ext uri="{BB962C8B-B14F-4D97-AF65-F5344CB8AC3E}">
        <p14:creationId xmlns:p14="http://schemas.microsoft.com/office/powerpoint/2010/main" val="40124183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SG"/>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C81D1448-F56A-427E-B4D3-154671AD8545}" type="datetimeFigureOut">
              <a:rPr lang="en-SG" smtClean="0"/>
              <a:t>13/4/2026</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C5804EC2-4BFC-4480-AE2A-23FA0465B8FA}" type="slidenum">
              <a:rPr lang="en-SG" smtClean="0"/>
              <a:t>‹#›</a:t>
            </a:fld>
            <a:endParaRPr lang="en-SG"/>
          </a:p>
        </p:txBody>
      </p:sp>
    </p:spTree>
    <p:extLst>
      <p:ext uri="{BB962C8B-B14F-4D97-AF65-F5344CB8AC3E}">
        <p14:creationId xmlns:p14="http://schemas.microsoft.com/office/powerpoint/2010/main" val="189936908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SG"/>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SG"/>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SG"/>
          </a:p>
        </p:txBody>
      </p:sp>
      <p:sp>
        <p:nvSpPr>
          <p:cNvPr id="5" name="Date Placeholder 4"/>
          <p:cNvSpPr>
            <a:spLocks noGrp="1"/>
          </p:cNvSpPr>
          <p:nvPr>
            <p:ph type="dt" sz="half" idx="10"/>
          </p:nvPr>
        </p:nvSpPr>
        <p:spPr/>
        <p:txBody>
          <a:bodyPr/>
          <a:lstStyle/>
          <a:p>
            <a:fld id="{C81D1448-F56A-427E-B4D3-154671AD8545}" type="datetimeFigureOut">
              <a:rPr lang="en-SG" smtClean="0"/>
              <a:t>13/4/2026</a:t>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p:txBody>
          <a:bodyPr/>
          <a:lstStyle/>
          <a:p>
            <a:fld id="{C5804EC2-4BFC-4480-AE2A-23FA0465B8FA}" type="slidenum">
              <a:rPr lang="en-SG" smtClean="0"/>
              <a:t>‹#›</a:t>
            </a:fld>
            <a:endParaRPr lang="en-SG"/>
          </a:p>
        </p:txBody>
      </p:sp>
    </p:spTree>
    <p:extLst>
      <p:ext uri="{BB962C8B-B14F-4D97-AF65-F5344CB8AC3E}">
        <p14:creationId xmlns:p14="http://schemas.microsoft.com/office/powerpoint/2010/main" val="327216323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SG"/>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SG"/>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SG"/>
          </a:p>
        </p:txBody>
      </p:sp>
      <p:sp>
        <p:nvSpPr>
          <p:cNvPr id="7" name="Date Placeholder 6"/>
          <p:cNvSpPr>
            <a:spLocks noGrp="1"/>
          </p:cNvSpPr>
          <p:nvPr>
            <p:ph type="dt" sz="half" idx="10"/>
          </p:nvPr>
        </p:nvSpPr>
        <p:spPr/>
        <p:txBody>
          <a:bodyPr/>
          <a:lstStyle/>
          <a:p>
            <a:fld id="{C81D1448-F56A-427E-B4D3-154671AD8545}" type="datetimeFigureOut">
              <a:rPr lang="en-SG" smtClean="0"/>
              <a:t>13/4/2026</a:t>
            </a:fld>
            <a:endParaRPr lang="en-SG"/>
          </a:p>
        </p:txBody>
      </p:sp>
      <p:sp>
        <p:nvSpPr>
          <p:cNvPr id="8" name="Footer Placeholder 7"/>
          <p:cNvSpPr>
            <a:spLocks noGrp="1"/>
          </p:cNvSpPr>
          <p:nvPr>
            <p:ph type="ftr" sz="quarter" idx="11"/>
          </p:nvPr>
        </p:nvSpPr>
        <p:spPr/>
        <p:txBody>
          <a:bodyPr/>
          <a:lstStyle/>
          <a:p>
            <a:endParaRPr lang="en-SG"/>
          </a:p>
        </p:txBody>
      </p:sp>
      <p:sp>
        <p:nvSpPr>
          <p:cNvPr id="9" name="Slide Number Placeholder 8"/>
          <p:cNvSpPr>
            <a:spLocks noGrp="1"/>
          </p:cNvSpPr>
          <p:nvPr>
            <p:ph type="sldNum" sz="quarter" idx="12"/>
          </p:nvPr>
        </p:nvSpPr>
        <p:spPr/>
        <p:txBody>
          <a:bodyPr/>
          <a:lstStyle/>
          <a:p>
            <a:fld id="{C5804EC2-4BFC-4480-AE2A-23FA0465B8FA}" type="slidenum">
              <a:rPr lang="en-SG" smtClean="0"/>
              <a:t>‹#›</a:t>
            </a:fld>
            <a:endParaRPr lang="en-SG"/>
          </a:p>
        </p:txBody>
      </p:sp>
    </p:spTree>
    <p:extLst>
      <p:ext uri="{BB962C8B-B14F-4D97-AF65-F5344CB8AC3E}">
        <p14:creationId xmlns:p14="http://schemas.microsoft.com/office/powerpoint/2010/main" val="427120988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SG"/>
          </a:p>
        </p:txBody>
      </p:sp>
      <p:sp>
        <p:nvSpPr>
          <p:cNvPr id="3" name="Date Placeholder 2"/>
          <p:cNvSpPr>
            <a:spLocks noGrp="1"/>
          </p:cNvSpPr>
          <p:nvPr>
            <p:ph type="dt" sz="half" idx="10"/>
          </p:nvPr>
        </p:nvSpPr>
        <p:spPr/>
        <p:txBody>
          <a:bodyPr/>
          <a:lstStyle/>
          <a:p>
            <a:fld id="{C81D1448-F56A-427E-B4D3-154671AD8545}" type="datetimeFigureOut">
              <a:rPr lang="en-SG" smtClean="0"/>
              <a:t>13/4/2026</a:t>
            </a:fld>
            <a:endParaRPr lang="en-SG"/>
          </a:p>
        </p:txBody>
      </p:sp>
      <p:sp>
        <p:nvSpPr>
          <p:cNvPr id="4" name="Footer Placeholder 3"/>
          <p:cNvSpPr>
            <a:spLocks noGrp="1"/>
          </p:cNvSpPr>
          <p:nvPr>
            <p:ph type="ftr" sz="quarter" idx="11"/>
          </p:nvPr>
        </p:nvSpPr>
        <p:spPr/>
        <p:txBody>
          <a:bodyPr/>
          <a:lstStyle/>
          <a:p>
            <a:endParaRPr lang="en-SG"/>
          </a:p>
        </p:txBody>
      </p:sp>
      <p:sp>
        <p:nvSpPr>
          <p:cNvPr id="5" name="Slide Number Placeholder 4"/>
          <p:cNvSpPr>
            <a:spLocks noGrp="1"/>
          </p:cNvSpPr>
          <p:nvPr>
            <p:ph type="sldNum" sz="quarter" idx="12"/>
          </p:nvPr>
        </p:nvSpPr>
        <p:spPr/>
        <p:txBody>
          <a:bodyPr/>
          <a:lstStyle/>
          <a:p>
            <a:fld id="{C5804EC2-4BFC-4480-AE2A-23FA0465B8FA}" type="slidenum">
              <a:rPr lang="en-SG" smtClean="0"/>
              <a:t>‹#›</a:t>
            </a:fld>
            <a:endParaRPr lang="en-SG"/>
          </a:p>
        </p:txBody>
      </p:sp>
    </p:spTree>
    <p:extLst>
      <p:ext uri="{BB962C8B-B14F-4D97-AF65-F5344CB8AC3E}">
        <p14:creationId xmlns:p14="http://schemas.microsoft.com/office/powerpoint/2010/main" val="261925304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81D1448-F56A-427E-B4D3-154671AD8545}" type="datetimeFigureOut">
              <a:rPr lang="en-SG" smtClean="0"/>
              <a:t>13/4/2026</a:t>
            </a:fld>
            <a:endParaRPr lang="en-SG"/>
          </a:p>
        </p:txBody>
      </p:sp>
      <p:sp>
        <p:nvSpPr>
          <p:cNvPr id="3" name="Footer Placeholder 2"/>
          <p:cNvSpPr>
            <a:spLocks noGrp="1"/>
          </p:cNvSpPr>
          <p:nvPr>
            <p:ph type="ftr" sz="quarter" idx="11"/>
          </p:nvPr>
        </p:nvSpPr>
        <p:spPr/>
        <p:txBody>
          <a:bodyPr/>
          <a:lstStyle/>
          <a:p>
            <a:endParaRPr lang="en-SG"/>
          </a:p>
        </p:txBody>
      </p:sp>
      <p:sp>
        <p:nvSpPr>
          <p:cNvPr id="4" name="Slide Number Placeholder 3"/>
          <p:cNvSpPr>
            <a:spLocks noGrp="1"/>
          </p:cNvSpPr>
          <p:nvPr>
            <p:ph type="sldNum" sz="quarter" idx="12"/>
          </p:nvPr>
        </p:nvSpPr>
        <p:spPr/>
        <p:txBody>
          <a:bodyPr/>
          <a:lstStyle/>
          <a:p>
            <a:fld id="{C5804EC2-4BFC-4480-AE2A-23FA0465B8FA}" type="slidenum">
              <a:rPr lang="en-SG" smtClean="0"/>
              <a:t>‹#›</a:t>
            </a:fld>
            <a:endParaRPr lang="en-SG"/>
          </a:p>
        </p:txBody>
      </p:sp>
    </p:spTree>
    <p:extLst>
      <p:ext uri="{BB962C8B-B14F-4D97-AF65-F5344CB8AC3E}">
        <p14:creationId xmlns:p14="http://schemas.microsoft.com/office/powerpoint/2010/main" val="209874207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SG"/>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SG"/>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81D1448-F56A-427E-B4D3-154671AD8545}" type="datetimeFigureOut">
              <a:rPr lang="en-SG" smtClean="0"/>
              <a:t>13/4/2026</a:t>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p:txBody>
          <a:bodyPr/>
          <a:lstStyle/>
          <a:p>
            <a:fld id="{C5804EC2-4BFC-4480-AE2A-23FA0465B8FA}" type="slidenum">
              <a:rPr lang="en-SG" smtClean="0"/>
              <a:t>‹#›</a:t>
            </a:fld>
            <a:endParaRPr lang="en-SG"/>
          </a:p>
        </p:txBody>
      </p:sp>
    </p:spTree>
    <p:extLst>
      <p:ext uri="{BB962C8B-B14F-4D97-AF65-F5344CB8AC3E}">
        <p14:creationId xmlns:p14="http://schemas.microsoft.com/office/powerpoint/2010/main" val="185975109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SG"/>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SG"/>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81D1448-F56A-427E-B4D3-154671AD8545}" type="datetimeFigureOut">
              <a:rPr lang="en-SG" smtClean="0"/>
              <a:t>13/4/2026</a:t>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p:txBody>
          <a:bodyPr/>
          <a:lstStyle/>
          <a:p>
            <a:fld id="{C5804EC2-4BFC-4480-AE2A-23FA0465B8FA}" type="slidenum">
              <a:rPr lang="en-SG" smtClean="0"/>
              <a:t>‹#›</a:t>
            </a:fld>
            <a:endParaRPr lang="en-SG"/>
          </a:p>
        </p:txBody>
      </p:sp>
    </p:spTree>
    <p:extLst>
      <p:ext uri="{BB962C8B-B14F-4D97-AF65-F5344CB8AC3E}">
        <p14:creationId xmlns:p14="http://schemas.microsoft.com/office/powerpoint/2010/main" val="77665800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SG"/>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SG"/>
          </a:p>
        </p:txBody>
      </p:sp>
      <p:sp>
        <p:nvSpPr>
          <p:cNvPr id="4" name="Date Placeholder 3"/>
          <p:cNvSpPr>
            <a:spLocks noGrp="1"/>
          </p:cNvSpPr>
          <p:nvPr>
            <p:ph type="dt" sz="half" idx="10"/>
          </p:nvPr>
        </p:nvSpPr>
        <p:spPr/>
        <p:txBody>
          <a:bodyPr/>
          <a:lstStyle/>
          <a:p>
            <a:fld id="{C81D1448-F56A-427E-B4D3-154671AD8545}" type="datetimeFigureOut">
              <a:rPr lang="en-SG" smtClean="0"/>
              <a:t>13/4/2026</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C5804EC2-4BFC-4480-AE2A-23FA0465B8FA}" type="slidenum">
              <a:rPr lang="en-SG" smtClean="0"/>
              <a:t>‹#›</a:t>
            </a:fld>
            <a:endParaRPr lang="en-SG"/>
          </a:p>
        </p:txBody>
      </p:sp>
    </p:spTree>
    <p:extLst>
      <p:ext uri="{BB962C8B-B14F-4D97-AF65-F5344CB8AC3E}">
        <p14:creationId xmlns:p14="http://schemas.microsoft.com/office/powerpoint/2010/main" val="132425365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SG"/>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SG"/>
          </a:p>
        </p:txBody>
      </p:sp>
      <p:sp>
        <p:nvSpPr>
          <p:cNvPr id="4" name="Date Placeholder 3"/>
          <p:cNvSpPr>
            <a:spLocks noGrp="1"/>
          </p:cNvSpPr>
          <p:nvPr>
            <p:ph type="dt" sz="half" idx="10"/>
          </p:nvPr>
        </p:nvSpPr>
        <p:spPr/>
        <p:txBody>
          <a:bodyPr/>
          <a:lstStyle/>
          <a:p>
            <a:fld id="{C81D1448-F56A-427E-B4D3-154671AD8545}" type="datetimeFigureOut">
              <a:rPr lang="en-SG" smtClean="0"/>
              <a:t>13/4/2026</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C5804EC2-4BFC-4480-AE2A-23FA0465B8FA}" type="slidenum">
              <a:rPr lang="en-SG" smtClean="0"/>
              <a:t>‹#›</a:t>
            </a:fld>
            <a:endParaRPr lang="en-SG"/>
          </a:p>
        </p:txBody>
      </p:sp>
    </p:spTree>
    <p:extLst>
      <p:ext uri="{BB962C8B-B14F-4D97-AF65-F5344CB8AC3E}">
        <p14:creationId xmlns:p14="http://schemas.microsoft.com/office/powerpoint/2010/main" val="28047148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3">
        <a:schemeClr val="bg1"/>
      </p:bgRef>
    </p:bg>
    <p:spTree>
      <p:nvGrpSpPr>
        <p:cNvPr id="1" name=""/>
        <p:cNvGrpSpPr/>
        <p:nvPr/>
      </p:nvGrpSpPr>
      <p:grpSpPr>
        <a:xfrm>
          <a:off x="0" y="0"/>
          <a:ext cx="0" cy="0"/>
          <a:chOff x="0" y="0"/>
          <a:chExt cx="0" cy="0"/>
        </a:xfrm>
      </p:grpSpPr>
      <p:sp>
        <p:nvSpPr>
          <p:cNvPr id="12" name="Rectangle 11"/>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3" name="Rounded Rectangle 12"/>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p:txBody>
          <a:bodyPr/>
          <a:lstStyle/>
          <a:p>
            <a:fld id="{C81D1448-F56A-427E-B4D3-154671AD8545}" type="datetimeFigureOut">
              <a:rPr lang="en-SG" smtClean="0"/>
              <a:t>13/4/2026</a:t>
            </a:fld>
            <a:endParaRPr lang="en-SG"/>
          </a:p>
        </p:txBody>
      </p:sp>
      <p:sp>
        <p:nvSpPr>
          <p:cNvPr id="17" name="Footer Placeholder 16"/>
          <p:cNvSpPr>
            <a:spLocks noGrp="1"/>
          </p:cNvSpPr>
          <p:nvPr>
            <p:ph type="ftr" sz="quarter" idx="11"/>
          </p:nvPr>
        </p:nvSpPr>
        <p:spPr/>
        <p:txBody>
          <a:bodyPr/>
          <a:lstStyle/>
          <a:p>
            <a:endParaRPr lang="en-SG"/>
          </a:p>
        </p:txBody>
      </p:sp>
      <p:sp>
        <p:nvSpPr>
          <p:cNvPr id="29" name="Slide Number Placeholder 28"/>
          <p:cNvSpPr>
            <a:spLocks noGrp="1"/>
          </p:cNvSpPr>
          <p:nvPr>
            <p:ph type="sldNum" sz="quarter" idx="12"/>
          </p:nvPr>
        </p:nvSpPr>
        <p:spPr/>
        <p:txBody>
          <a:bodyPr lIns="0" tIns="0" rIns="0" bIns="0">
            <a:noAutofit/>
          </a:bodyPr>
          <a:lstStyle>
            <a:lvl1pPr>
              <a:defRPr sz="1400">
                <a:solidFill>
                  <a:srgbClr val="FFFFFF"/>
                </a:solidFill>
              </a:defRPr>
            </a:lvl1pPr>
          </a:lstStyle>
          <a:p>
            <a:fld id="{C5804EC2-4BFC-4480-AE2A-23FA0465B8FA}" type="slidenum">
              <a:rPr lang="en-SG" smtClean="0"/>
              <a:t>‹#›</a:t>
            </a:fld>
            <a:endParaRPr lang="en-SG"/>
          </a:p>
        </p:txBody>
      </p:sp>
      <p:sp>
        <p:nvSpPr>
          <p:cNvPr id="7" name="Rectangle 6"/>
          <p:cNvSpPr/>
          <p:nvPr/>
        </p:nvSpPr>
        <p:spPr>
          <a:xfrm>
            <a:off x="62931" y="1449303"/>
            <a:ext cx="9021537"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62931" y="1396720"/>
            <a:ext cx="9021537"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62931" y="2976649"/>
            <a:ext cx="9021537"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fld id="{C81D1448-F56A-427E-B4D3-154671AD8545}" type="datetimeFigureOut">
              <a:rPr lang="en-SG" smtClean="0"/>
              <a:t>13/4/2026</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C5804EC2-4BFC-4480-AE2A-23FA0465B8FA}" type="slidenum">
              <a:rPr lang="en-SG" smtClean="0"/>
              <a:t>‹#›</a:t>
            </a:fld>
            <a:endParaRPr lang="en-SG"/>
          </a:p>
        </p:txBody>
      </p:sp>
      <p:sp>
        <p:nvSpPr>
          <p:cNvPr id="8" name="Content Placeholder 7"/>
          <p:cNvSpPr>
            <a:spLocks noGrp="1"/>
          </p:cNvSpPr>
          <p:nvPr>
            <p:ph sz="quarter" idx="1"/>
          </p:nvPr>
        </p:nvSpPr>
        <p:spPr>
          <a:xfrm>
            <a:off x="914400" y="1447800"/>
            <a:ext cx="777240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11" name="Rectangle 10"/>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0" name="Rounded Rectangle 9"/>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722313" y="952500"/>
            <a:ext cx="7772400" cy="1362075"/>
          </a:xfrm>
        </p:spPr>
        <p:txBody>
          <a:bodyPr anchor="b" anchorCtr="0"/>
          <a:lstStyle>
            <a:lvl1pPr algn="l">
              <a:buNone/>
              <a:defRPr sz="4000" b="0" cap="none"/>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722313" y="2547938"/>
            <a:ext cx="77724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C81D1448-F56A-427E-B4D3-154671AD8545}" type="datetimeFigureOut">
              <a:rPr lang="en-SG" smtClean="0"/>
              <a:t>13/4/2026</a:t>
            </a:fld>
            <a:endParaRPr lang="en-SG"/>
          </a:p>
        </p:txBody>
      </p:sp>
      <p:sp>
        <p:nvSpPr>
          <p:cNvPr id="5" name="Footer Placeholder 4"/>
          <p:cNvSpPr>
            <a:spLocks noGrp="1"/>
          </p:cNvSpPr>
          <p:nvPr>
            <p:ph type="ftr" sz="quarter" idx="11"/>
          </p:nvPr>
        </p:nvSpPr>
        <p:spPr>
          <a:xfrm>
            <a:off x="800100" y="6172200"/>
            <a:ext cx="4000500" cy="457200"/>
          </a:xfrm>
        </p:spPr>
        <p:txBody>
          <a:bodyPr/>
          <a:lstStyle/>
          <a:p>
            <a:endParaRPr lang="en-SG"/>
          </a:p>
        </p:txBody>
      </p:sp>
      <p:sp>
        <p:nvSpPr>
          <p:cNvPr id="7" name="Rectangle 6"/>
          <p:cNvSpPr/>
          <p:nvPr/>
        </p:nvSpPr>
        <p:spPr>
          <a:xfrm flipV="1">
            <a:off x="69412" y="2376830"/>
            <a:ext cx="9013515"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69146" y="2341475"/>
            <a:ext cx="9013781"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68306" y="2468880"/>
            <a:ext cx="9014621"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146304" y="6208776"/>
            <a:ext cx="457200" cy="457200"/>
          </a:xfrm>
        </p:spPr>
        <p:txBody>
          <a:bodyPr/>
          <a:lstStyle/>
          <a:p>
            <a:fld id="{C5804EC2-4BFC-4480-AE2A-23FA0465B8FA}" type="slidenum">
              <a:rPr lang="en-SG" smtClean="0"/>
              <a:t>‹#›</a:t>
            </a:fld>
            <a:endParaRPr lang="en-SG"/>
          </a:p>
        </p:txBody>
      </p:sp>
    </p:spTree>
  </p:cSld>
  <p:clrMapOvr>
    <a:overrideClrMapping bg1="lt1" tx1="dk1" bg2="lt2" tx2="dk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C81D1448-F56A-427E-B4D3-154671AD8545}" type="datetimeFigureOut">
              <a:rPr lang="en-SG" smtClean="0"/>
              <a:t>13/4/2026</a:t>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p:txBody>
          <a:bodyPr/>
          <a:lstStyle/>
          <a:p>
            <a:fld id="{C5804EC2-4BFC-4480-AE2A-23FA0465B8FA}" type="slidenum">
              <a:rPr lang="en-SG" smtClean="0"/>
              <a:t>‹#›</a:t>
            </a:fld>
            <a:endParaRPr lang="en-SG"/>
          </a:p>
        </p:txBody>
      </p:sp>
      <p:sp>
        <p:nvSpPr>
          <p:cNvPr id="9" name="Content Placeholder 8"/>
          <p:cNvSpPr>
            <a:spLocks noGrp="1"/>
          </p:cNvSpPr>
          <p:nvPr>
            <p:ph sz="quarter" idx="1"/>
          </p:nvPr>
        </p:nvSpPr>
        <p:spPr>
          <a:xfrm>
            <a:off x="914400" y="1447800"/>
            <a:ext cx="374904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933950" y="1447800"/>
            <a:ext cx="374904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7772400" cy="1143000"/>
          </a:xfrm>
        </p:spPr>
        <p:txBody>
          <a:bodyPr anchor="b" anchorCtr="0"/>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9144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9530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7" name="Date Placeholder 6"/>
          <p:cNvSpPr>
            <a:spLocks noGrp="1"/>
          </p:cNvSpPr>
          <p:nvPr>
            <p:ph type="dt" sz="half" idx="10"/>
          </p:nvPr>
        </p:nvSpPr>
        <p:spPr/>
        <p:txBody>
          <a:bodyPr/>
          <a:lstStyle/>
          <a:p>
            <a:fld id="{C81D1448-F56A-427E-B4D3-154671AD8545}" type="datetimeFigureOut">
              <a:rPr lang="en-SG" smtClean="0"/>
              <a:t>13/4/2026</a:t>
            </a:fld>
            <a:endParaRPr lang="en-SG"/>
          </a:p>
        </p:txBody>
      </p:sp>
      <p:sp>
        <p:nvSpPr>
          <p:cNvPr id="8" name="Footer Placeholder 7"/>
          <p:cNvSpPr>
            <a:spLocks noGrp="1"/>
          </p:cNvSpPr>
          <p:nvPr>
            <p:ph type="ftr" sz="quarter" idx="11"/>
          </p:nvPr>
        </p:nvSpPr>
        <p:spPr/>
        <p:txBody>
          <a:bodyPr/>
          <a:lstStyle/>
          <a:p>
            <a:endParaRPr lang="en-SG"/>
          </a:p>
        </p:txBody>
      </p:sp>
      <p:sp>
        <p:nvSpPr>
          <p:cNvPr id="9" name="Slide Number Placeholder 8"/>
          <p:cNvSpPr>
            <a:spLocks noGrp="1"/>
          </p:cNvSpPr>
          <p:nvPr>
            <p:ph type="sldNum" sz="quarter" idx="12"/>
          </p:nvPr>
        </p:nvSpPr>
        <p:spPr/>
        <p:txBody>
          <a:bodyPr/>
          <a:lstStyle/>
          <a:p>
            <a:fld id="{C5804EC2-4BFC-4480-AE2A-23FA0465B8FA}" type="slidenum">
              <a:rPr lang="en-SG" smtClean="0"/>
              <a:t>‹#›</a:t>
            </a:fld>
            <a:endParaRPr lang="en-SG"/>
          </a:p>
        </p:txBody>
      </p:sp>
      <p:sp>
        <p:nvSpPr>
          <p:cNvPr id="11" name="Content Placeholder 10"/>
          <p:cNvSpPr>
            <a:spLocks noGrp="1"/>
          </p:cNvSpPr>
          <p:nvPr>
            <p:ph sz="half" idx="2"/>
          </p:nvPr>
        </p:nvSpPr>
        <p:spPr>
          <a:xfrm>
            <a:off x="914400" y="2247900"/>
            <a:ext cx="3733800" cy="38862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half" idx="4"/>
          </p:nvPr>
        </p:nvSpPr>
        <p:spPr>
          <a:xfrm>
            <a:off x="4953000" y="2247900"/>
            <a:ext cx="3733800" cy="38862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C81D1448-F56A-427E-B4D3-154671AD8545}" type="datetimeFigureOut">
              <a:rPr lang="en-SG" smtClean="0"/>
              <a:t>13/4/2026</a:t>
            </a:fld>
            <a:endParaRPr lang="en-SG"/>
          </a:p>
        </p:txBody>
      </p:sp>
      <p:sp>
        <p:nvSpPr>
          <p:cNvPr id="4" name="Footer Placeholder 3"/>
          <p:cNvSpPr>
            <a:spLocks noGrp="1"/>
          </p:cNvSpPr>
          <p:nvPr>
            <p:ph type="ftr" sz="quarter" idx="11"/>
          </p:nvPr>
        </p:nvSpPr>
        <p:spPr/>
        <p:txBody>
          <a:bodyPr/>
          <a:lstStyle/>
          <a:p>
            <a:endParaRPr lang="en-SG"/>
          </a:p>
        </p:txBody>
      </p:sp>
      <p:sp>
        <p:nvSpPr>
          <p:cNvPr id="5" name="Slide Number Placeholder 4"/>
          <p:cNvSpPr>
            <a:spLocks noGrp="1"/>
          </p:cNvSpPr>
          <p:nvPr>
            <p:ph type="sldNum" sz="quarter" idx="12"/>
          </p:nvPr>
        </p:nvSpPr>
        <p:spPr/>
        <p:txBody>
          <a:bodyPr/>
          <a:lstStyle/>
          <a:p>
            <a:fld id="{C5804EC2-4BFC-4480-AE2A-23FA0465B8FA}" type="slidenum">
              <a:rPr lang="en-SG" smtClean="0"/>
              <a:t>‹#›</a:t>
            </a:fld>
            <a:endParaRPr lang="en-SG"/>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81D1448-F56A-427E-B4D3-154671AD8545}" type="datetimeFigureOut">
              <a:rPr lang="en-SG" smtClean="0"/>
              <a:t>13/4/2026</a:t>
            </a:fld>
            <a:endParaRPr lang="en-SG"/>
          </a:p>
        </p:txBody>
      </p:sp>
      <p:sp>
        <p:nvSpPr>
          <p:cNvPr id="3" name="Footer Placeholder 2"/>
          <p:cNvSpPr>
            <a:spLocks noGrp="1"/>
          </p:cNvSpPr>
          <p:nvPr>
            <p:ph type="ftr" sz="quarter" idx="11"/>
          </p:nvPr>
        </p:nvSpPr>
        <p:spPr/>
        <p:txBody>
          <a:bodyPr/>
          <a:lstStyle/>
          <a:p>
            <a:endParaRPr lang="en-SG"/>
          </a:p>
        </p:txBody>
      </p:sp>
      <p:sp>
        <p:nvSpPr>
          <p:cNvPr id="4" name="Slide Number Placeholder 3"/>
          <p:cNvSpPr>
            <a:spLocks noGrp="1"/>
          </p:cNvSpPr>
          <p:nvPr>
            <p:ph type="sldNum" sz="quarter" idx="12"/>
          </p:nvPr>
        </p:nvSpPr>
        <p:spPr/>
        <p:txBody>
          <a:bodyPr/>
          <a:lstStyle/>
          <a:p>
            <a:fld id="{C5804EC2-4BFC-4480-AE2A-23FA0465B8FA}" type="slidenum">
              <a:rPr lang="en-SG" smtClean="0"/>
              <a:t>‹#›</a:t>
            </a:fld>
            <a:endParaRPr lang="en-SG"/>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9" name="Rounded Rectangle 8"/>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914400" y="273050"/>
            <a:ext cx="7772400" cy="1143000"/>
          </a:xfrm>
        </p:spPr>
        <p:txBody>
          <a:bodyPr anchor="b" anchorCtr="0"/>
          <a:lstStyle>
            <a:lvl1pPr algn="l">
              <a:buNone/>
              <a:defRPr sz="4000" b="0"/>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C81D1448-F56A-427E-B4D3-154671AD8545}" type="datetimeFigureOut">
              <a:rPr lang="en-SG" smtClean="0"/>
              <a:t>13/4/2026</a:t>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p:txBody>
          <a:bodyPr/>
          <a:lstStyle/>
          <a:p>
            <a:fld id="{C5804EC2-4BFC-4480-AE2A-23FA0465B8FA}" type="slidenum">
              <a:rPr lang="en-SG" smtClean="0"/>
              <a:t>‹#›</a:t>
            </a:fld>
            <a:endParaRPr lang="en-SG"/>
          </a:p>
        </p:txBody>
      </p:sp>
      <p:sp>
        <p:nvSpPr>
          <p:cNvPr id="11" name="Content Placeholder 10"/>
          <p:cNvSpPr>
            <a:spLocks noGrp="1"/>
          </p:cNvSpPr>
          <p:nvPr>
            <p:ph sz="quarter" idx="1"/>
          </p:nvPr>
        </p:nvSpPr>
        <p:spPr>
          <a:xfrm>
            <a:off x="2971800" y="1600200"/>
            <a:ext cx="5715000" cy="44958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C81D1448-F56A-427E-B4D3-154671AD8545}" type="datetimeFigureOut">
              <a:rPr lang="en-SG" smtClean="0"/>
              <a:t>13/4/2026</a:t>
            </a:fld>
            <a:endParaRPr lang="en-SG"/>
          </a:p>
        </p:txBody>
      </p:sp>
      <p:sp>
        <p:nvSpPr>
          <p:cNvPr id="6" name="Footer Placeholder 5"/>
          <p:cNvSpPr>
            <a:spLocks noGrp="1"/>
          </p:cNvSpPr>
          <p:nvPr>
            <p:ph type="ftr" sz="quarter" idx="11"/>
          </p:nvPr>
        </p:nvSpPr>
        <p:spPr>
          <a:xfrm>
            <a:off x="914400" y="6172200"/>
            <a:ext cx="3886200" cy="457200"/>
          </a:xfrm>
        </p:spPr>
        <p:txBody>
          <a:bodyPr/>
          <a:lstStyle/>
          <a:p>
            <a:endParaRPr lang="en-SG"/>
          </a:p>
        </p:txBody>
      </p:sp>
      <p:sp>
        <p:nvSpPr>
          <p:cNvPr id="7" name="Slide Number Placeholder 6"/>
          <p:cNvSpPr>
            <a:spLocks noGrp="1"/>
          </p:cNvSpPr>
          <p:nvPr>
            <p:ph type="sldNum" sz="quarter" idx="12"/>
          </p:nvPr>
        </p:nvSpPr>
        <p:spPr>
          <a:xfrm>
            <a:off x="146304" y="6208776"/>
            <a:ext cx="457200" cy="457200"/>
          </a:xfrm>
        </p:spPr>
        <p:txBody>
          <a:bodyPr/>
          <a:lstStyle/>
          <a:p>
            <a:fld id="{C5804EC2-4BFC-4480-AE2A-23FA0465B8FA}" type="slidenum">
              <a:rPr lang="en-SG" smtClean="0"/>
              <a:t>‹#›</a:t>
            </a:fld>
            <a:endParaRPr lang="en-SG"/>
          </a:p>
        </p:txBody>
      </p:sp>
      <p:sp>
        <p:nvSpPr>
          <p:cNvPr id="11" name="Rectangle 10"/>
          <p:cNvSpPr/>
          <p:nvPr/>
        </p:nvSpPr>
        <p:spPr>
          <a:xfrm flipV="1">
            <a:off x="68307" y="4683555"/>
            <a:ext cx="900684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68508" y="4650474"/>
            <a:ext cx="9006639"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p:nvPr/>
        </p:nvSpPr>
        <p:spPr>
          <a:xfrm>
            <a:off x="68510" y="4773224"/>
            <a:ext cx="9006637"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en-US" smtClean="0"/>
              <a:t>Click icon to add picture</a:t>
            </a:r>
            <a:endParaRPr kumimoji="0" lang="en-US" dirty="0"/>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C81D1448-F56A-427E-B4D3-154671AD8545}" type="datetimeFigureOut">
              <a:rPr lang="en-SG" smtClean="0"/>
              <a:t>13/4/2026</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C5804EC2-4BFC-4480-AE2A-23FA0465B8FA}" type="slidenum">
              <a:rPr lang="en-SG" smtClean="0"/>
              <a:t>‹#›</a:t>
            </a:fld>
            <a:endParaRPr lang="en-SG"/>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1"/>
            <a:ext cx="201168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914400" y="274640"/>
            <a:ext cx="55626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C81D1448-F56A-427E-B4D3-154671AD8545}" type="datetimeFigureOut">
              <a:rPr lang="en-SG" smtClean="0"/>
              <a:t>13/4/2026</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C5804EC2-4BFC-4480-AE2A-23FA0465B8FA}" type="slidenum">
              <a:rPr lang="en-SG" smtClean="0"/>
              <a:t>‹#›</a:t>
            </a:fld>
            <a:endParaRPr lang="en-SG"/>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C81D1448-F56A-427E-B4D3-154671AD8545}" type="datetimeFigureOut">
              <a:rPr lang="en-SG" smtClean="0"/>
              <a:t>13/4/2026</a:t>
            </a:fld>
            <a:endParaRPr lang="en-SG"/>
          </a:p>
        </p:txBody>
      </p:sp>
      <p:sp>
        <p:nvSpPr>
          <p:cNvPr id="19" name="Footer Placeholder 18"/>
          <p:cNvSpPr>
            <a:spLocks noGrp="1"/>
          </p:cNvSpPr>
          <p:nvPr>
            <p:ph type="ftr" sz="quarter" idx="11"/>
          </p:nvPr>
        </p:nvSpPr>
        <p:spPr/>
        <p:txBody>
          <a:bodyPr/>
          <a:lstStyle/>
          <a:p>
            <a:endParaRPr lang="en-SG"/>
          </a:p>
        </p:txBody>
      </p:sp>
      <p:sp>
        <p:nvSpPr>
          <p:cNvPr id="27" name="Slide Number Placeholder 26"/>
          <p:cNvSpPr>
            <a:spLocks noGrp="1"/>
          </p:cNvSpPr>
          <p:nvPr>
            <p:ph type="sldNum" sz="quarter" idx="12"/>
          </p:nvPr>
        </p:nvSpPr>
        <p:spPr/>
        <p:txBody>
          <a:bodyPr/>
          <a:lstStyle/>
          <a:p>
            <a:fld id="{C5804EC2-4BFC-4480-AE2A-23FA0465B8FA}" type="slidenum">
              <a:rPr lang="en-SG" smtClean="0"/>
              <a:t>‹#›</a:t>
            </a:fld>
            <a:endParaRPr lang="en-SG"/>
          </a:p>
        </p:txBody>
      </p:sp>
    </p:spTree>
  </p:cSld>
  <p:clrMapOvr>
    <a:overrideClrMapping bg1="dk1" tx1="lt1" bg2="dk2" tx2="lt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C81D1448-F56A-427E-B4D3-154671AD8545}" type="datetimeFigureOut">
              <a:rPr lang="en-SG" smtClean="0"/>
              <a:t>13/4/2026</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C5804EC2-4BFC-4480-AE2A-23FA0465B8FA}" type="slidenum">
              <a:rPr lang="en-SG" smtClean="0"/>
              <a:t>‹#›</a:t>
            </a:fld>
            <a:endParaRPr lang="en-SG"/>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C81D1448-F56A-427E-B4D3-154671AD8545}" type="datetimeFigureOut">
              <a:rPr lang="en-SG" smtClean="0"/>
              <a:t>13/4/2026</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C5804EC2-4BFC-4480-AE2A-23FA0465B8FA}" type="slidenum">
              <a:rPr lang="en-SG" smtClean="0"/>
              <a:t>‹#›</a:t>
            </a:fld>
            <a:endParaRPr lang="en-SG"/>
          </a:p>
        </p:txBody>
      </p:sp>
    </p:spTree>
  </p:cSld>
  <p:clrMapOvr>
    <a:overrideClrMapping bg1="dk1" tx1="lt1" bg2="dk2" tx2="lt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C81D1448-F56A-427E-B4D3-154671AD8545}" type="datetimeFigureOut">
              <a:rPr lang="en-SG" smtClean="0"/>
              <a:t>13/4/2026</a:t>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p:txBody>
          <a:bodyPr/>
          <a:lstStyle/>
          <a:p>
            <a:fld id="{C5804EC2-4BFC-4480-AE2A-23FA0465B8FA}" type="slidenum">
              <a:rPr lang="en-SG" smtClean="0"/>
              <a:t>‹#›</a:t>
            </a:fld>
            <a:endParaRPr lang="en-SG"/>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C81D1448-F56A-427E-B4D3-154671AD8545}" type="datetimeFigureOut">
              <a:rPr lang="en-SG" smtClean="0"/>
              <a:t>13/4/2026</a:t>
            </a:fld>
            <a:endParaRPr lang="en-SG"/>
          </a:p>
        </p:txBody>
      </p:sp>
      <p:sp>
        <p:nvSpPr>
          <p:cNvPr id="8" name="Footer Placeholder 7"/>
          <p:cNvSpPr>
            <a:spLocks noGrp="1"/>
          </p:cNvSpPr>
          <p:nvPr>
            <p:ph type="ftr" sz="quarter" idx="11"/>
          </p:nvPr>
        </p:nvSpPr>
        <p:spPr/>
        <p:txBody>
          <a:bodyPr/>
          <a:lstStyle/>
          <a:p>
            <a:endParaRPr lang="en-SG"/>
          </a:p>
        </p:txBody>
      </p:sp>
      <p:sp>
        <p:nvSpPr>
          <p:cNvPr id="9" name="Slide Number Placeholder 8"/>
          <p:cNvSpPr>
            <a:spLocks noGrp="1"/>
          </p:cNvSpPr>
          <p:nvPr>
            <p:ph type="sldNum" sz="quarter" idx="12"/>
          </p:nvPr>
        </p:nvSpPr>
        <p:spPr/>
        <p:txBody>
          <a:bodyPr/>
          <a:lstStyle/>
          <a:p>
            <a:fld id="{C5804EC2-4BFC-4480-AE2A-23FA0465B8FA}" type="slidenum">
              <a:rPr lang="en-SG" smtClean="0"/>
              <a:t>‹#›</a:t>
            </a:fld>
            <a:endParaRPr lang="en-SG"/>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C81D1448-F56A-427E-B4D3-154671AD8545}" type="datetimeFigureOut">
              <a:rPr lang="en-SG" smtClean="0"/>
              <a:t>13/4/2026</a:t>
            </a:fld>
            <a:endParaRPr lang="en-SG"/>
          </a:p>
        </p:txBody>
      </p:sp>
      <p:sp>
        <p:nvSpPr>
          <p:cNvPr id="4" name="Footer Placeholder 3"/>
          <p:cNvSpPr>
            <a:spLocks noGrp="1"/>
          </p:cNvSpPr>
          <p:nvPr>
            <p:ph type="ftr" sz="quarter" idx="11"/>
          </p:nvPr>
        </p:nvSpPr>
        <p:spPr/>
        <p:txBody>
          <a:bodyPr/>
          <a:lstStyle/>
          <a:p>
            <a:endParaRPr lang="en-SG"/>
          </a:p>
        </p:txBody>
      </p:sp>
      <p:sp>
        <p:nvSpPr>
          <p:cNvPr id="5" name="Slide Number Placeholder 4"/>
          <p:cNvSpPr>
            <a:spLocks noGrp="1"/>
          </p:cNvSpPr>
          <p:nvPr>
            <p:ph type="sldNum" sz="quarter" idx="12"/>
          </p:nvPr>
        </p:nvSpPr>
        <p:spPr/>
        <p:txBody>
          <a:bodyPr/>
          <a:lstStyle/>
          <a:p>
            <a:fld id="{C5804EC2-4BFC-4480-AE2A-23FA0465B8FA}" type="slidenum">
              <a:rPr lang="en-SG" smtClean="0"/>
              <a:t>‹#›</a:t>
            </a:fld>
            <a:endParaRPr lang="en-SG"/>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81D1448-F56A-427E-B4D3-154671AD8545}" type="datetimeFigureOut">
              <a:rPr lang="en-SG" smtClean="0"/>
              <a:t>13/4/2026</a:t>
            </a:fld>
            <a:endParaRPr lang="en-SG"/>
          </a:p>
        </p:txBody>
      </p:sp>
      <p:sp>
        <p:nvSpPr>
          <p:cNvPr id="3" name="Footer Placeholder 2"/>
          <p:cNvSpPr>
            <a:spLocks noGrp="1"/>
          </p:cNvSpPr>
          <p:nvPr>
            <p:ph type="ftr" sz="quarter" idx="11"/>
          </p:nvPr>
        </p:nvSpPr>
        <p:spPr/>
        <p:txBody>
          <a:bodyPr/>
          <a:lstStyle/>
          <a:p>
            <a:endParaRPr lang="en-SG"/>
          </a:p>
        </p:txBody>
      </p:sp>
      <p:sp>
        <p:nvSpPr>
          <p:cNvPr id="4" name="Slide Number Placeholder 3"/>
          <p:cNvSpPr>
            <a:spLocks noGrp="1"/>
          </p:cNvSpPr>
          <p:nvPr>
            <p:ph type="sldNum" sz="quarter" idx="12"/>
          </p:nvPr>
        </p:nvSpPr>
        <p:spPr/>
        <p:txBody>
          <a:bodyPr/>
          <a:lstStyle/>
          <a:p>
            <a:fld id="{C5804EC2-4BFC-4480-AE2A-23FA0465B8FA}" type="slidenum">
              <a:rPr lang="en-SG" smtClean="0"/>
              <a:t>‹#›</a:t>
            </a:fld>
            <a:endParaRPr lang="en-SG"/>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C81D1448-F56A-427E-B4D3-154671AD8545}" type="datetimeFigureOut">
              <a:rPr lang="en-SG" smtClean="0"/>
              <a:t>13/4/2026</a:t>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p:txBody>
          <a:bodyPr/>
          <a:lstStyle/>
          <a:p>
            <a:fld id="{C5804EC2-4BFC-4480-AE2A-23FA0465B8FA}" type="slidenum">
              <a:rPr lang="en-SG" smtClean="0"/>
              <a:t>‹#›</a:t>
            </a:fld>
            <a:endParaRPr lang="en-SG"/>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C81D1448-F56A-427E-B4D3-154671AD8545}" type="datetimeFigureOut">
              <a:rPr lang="en-SG" smtClean="0"/>
              <a:t>13/4/2026</a:t>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a:xfrm>
            <a:off x="8077200" y="6356350"/>
            <a:ext cx="609600" cy="365125"/>
          </a:xfrm>
        </p:spPr>
        <p:txBody>
          <a:bodyPr/>
          <a:lstStyle/>
          <a:p>
            <a:fld id="{C5804EC2-4BFC-4480-AE2A-23FA0465B8FA}" type="slidenum">
              <a:rPr lang="en-SG" smtClean="0"/>
              <a:t>‹#›</a:t>
            </a:fld>
            <a:endParaRPr lang="en-SG"/>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smtClean="0"/>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C81D1448-F56A-427E-B4D3-154671AD8545}" type="datetimeFigureOut">
              <a:rPr lang="en-SG" smtClean="0"/>
              <a:t>13/4/2026</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C5804EC2-4BFC-4480-AE2A-23FA0465B8FA}" type="slidenum">
              <a:rPr lang="en-SG" smtClean="0"/>
              <a:t>‹#›</a:t>
            </a:fld>
            <a:endParaRPr lang="en-SG"/>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C81D1448-F56A-427E-B4D3-154671AD8545}" type="datetimeFigureOut">
              <a:rPr lang="en-SG" smtClean="0"/>
              <a:t>13/4/2026</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C5804EC2-4BFC-4480-AE2A-23FA0465B8FA}" type="slidenum">
              <a:rPr lang="en-SG" smtClean="0"/>
              <a:t>‹#›</a:t>
            </a:fld>
            <a:endParaRPr lang="en-SG"/>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0"/>
            <a:ext cx="8229600" cy="1600200"/>
          </a:xfrm>
          <a:prstGeom prst="rect">
            <a:avLst/>
          </a:prstGeom>
        </p:spPr>
        <p:txBody>
          <a:bodyPr vert="horz" lIns="91440" tIns="45720" rIns="91440" bIns="45720" rtlCol="0" anchor="b">
            <a:noAutofit/>
          </a:bodyPr>
          <a:lstStyle/>
          <a:p>
            <a:r>
              <a:rPr lang="en-US" smtClean="0"/>
              <a:t>Click to edit Master title style</a:t>
            </a: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Date Placeholder 3"/>
          <p:cNvSpPr>
            <a:spLocks noGrp="1"/>
          </p:cNvSpPr>
          <p:nvPr>
            <p:ph type="dt" sz="half" idx="2"/>
          </p:nvPr>
        </p:nvSpPr>
        <p:spPr>
          <a:xfrm>
            <a:off x="6363347" y="6356350"/>
            <a:ext cx="2085975" cy="365125"/>
          </a:xfrm>
          <a:prstGeom prst="rect">
            <a:avLst/>
          </a:prstGeom>
        </p:spPr>
        <p:txBody>
          <a:bodyPr vert="horz" lIns="91440" tIns="45720" rIns="45720" bIns="45720" rtlCol="0" anchor="ctr"/>
          <a:lstStyle>
            <a:lvl1pPr algn="r">
              <a:defRPr sz="1200">
                <a:solidFill>
                  <a:schemeClr val="tx1">
                    <a:lumMod val="65000"/>
                    <a:lumOff val="35000"/>
                  </a:schemeClr>
                </a:solidFill>
                <a:latin typeface="Century Gothic" pitchFamily="34" charset="0"/>
              </a:defRPr>
            </a:lvl1pPr>
          </a:lstStyle>
          <a:p>
            <a:fld id="{C81D1448-F56A-427E-B4D3-154671AD8545}" type="datetimeFigureOut">
              <a:rPr lang="en-SG" smtClean="0"/>
              <a:t>13/4/2026</a:t>
            </a:fld>
            <a:endParaRPr lang="en-SG"/>
          </a:p>
        </p:txBody>
      </p:sp>
      <p:sp>
        <p:nvSpPr>
          <p:cNvPr id="5" name="Footer Placeholder 4"/>
          <p:cNvSpPr>
            <a:spLocks noGrp="1"/>
          </p:cNvSpPr>
          <p:nvPr>
            <p:ph type="ftr" sz="quarter" idx="3"/>
          </p:nvPr>
        </p:nvSpPr>
        <p:spPr>
          <a:xfrm>
            <a:off x="659165" y="6356350"/>
            <a:ext cx="2847975" cy="365125"/>
          </a:xfrm>
          <a:prstGeom prst="rect">
            <a:avLst/>
          </a:prstGeom>
        </p:spPr>
        <p:txBody>
          <a:bodyPr vert="horz" lIns="45720" tIns="45720" rIns="91440" bIns="45720" rtlCol="0" anchor="ctr"/>
          <a:lstStyle>
            <a:lvl1pPr algn="l">
              <a:defRPr sz="1200">
                <a:solidFill>
                  <a:schemeClr val="tx1">
                    <a:lumMod val="65000"/>
                    <a:lumOff val="35000"/>
                  </a:schemeClr>
                </a:solidFill>
                <a:latin typeface="Century Gothic" pitchFamily="34" charset="0"/>
              </a:defRPr>
            </a:lvl1pPr>
          </a:lstStyle>
          <a:p>
            <a:endParaRPr lang="en-SG"/>
          </a:p>
        </p:txBody>
      </p:sp>
      <p:sp>
        <p:nvSpPr>
          <p:cNvPr id="6" name="Slide Number Placeholder 5"/>
          <p:cNvSpPr>
            <a:spLocks noGrp="1"/>
          </p:cNvSpPr>
          <p:nvPr>
            <p:ph type="sldNum" sz="quarter" idx="4"/>
          </p:nvPr>
        </p:nvSpPr>
        <p:spPr>
          <a:xfrm>
            <a:off x="8543278" y="6356350"/>
            <a:ext cx="561975" cy="365125"/>
          </a:xfrm>
          <a:prstGeom prst="rect">
            <a:avLst/>
          </a:prstGeom>
        </p:spPr>
        <p:txBody>
          <a:bodyPr vert="horz" lIns="27432" tIns="45720" rIns="45720" bIns="45720" rtlCol="0" anchor="ctr"/>
          <a:lstStyle>
            <a:lvl1pPr algn="l">
              <a:defRPr sz="1200">
                <a:solidFill>
                  <a:schemeClr val="tx1">
                    <a:lumMod val="65000"/>
                    <a:lumOff val="35000"/>
                  </a:schemeClr>
                </a:solidFill>
                <a:latin typeface="Century Gothic" pitchFamily="34" charset="0"/>
              </a:defRPr>
            </a:lvl1pPr>
          </a:lstStyle>
          <a:p>
            <a:fld id="{C5804EC2-4BFC-4480-AE2A-23FA0465B8FA}" type="slidenum">
              <a:rPr lang="en-SG" smtClean="0"/>
              <a:t>‹#›</a:t>
            </a:fld>
            <a:endParaRPr lang="en-SG"/>
          </a:p>
        </p:txBody>
      </p:sp>
      <p:sp>
        <p:nvSpPr>
          <p:cNvPr id="7" name="Oval 6"/>
          <p:cNvSpPr/>
          <p:nvPr/>
        </p:nvSpPr>
        <p:spPr>
          <a:xfrm>
            <a:off x="8457760" y="6499384"/>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sz="1800" kern="1200">
              <a:solidFill>
                <a:schemeClr val="lt1"/>
              </a:solidFill>
              <a:latin typeface="+mn-lt"/>
              <a:ea typeface="+mn-ea"/>
              <a:cs typeface="+mn-cs"/>
            </a:endParaRPr>
          </a:p>
        </p:txBody>
      </p:sp>
      <p:sp>
        <p:nvSpPr>
          <p:cNvPr id="8" name="Oval 7"/>
          <p:cNvSpPr/>
          <p:nvPr/>
        </p:nvSpPr>
        <p:spPr>
          <a:xfrm>
            <a:off x="569119" y="6499384"/>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lnSpc>
          <a:spcPts val="5800"/>
        </a:lnSpc>
        <a:spcBef>
          <a:spcPct val="0"/>
        </a:spcBef>
        <a:buNone/>
        <a:defRPr sz="5400" kern="1200">
          <a:solidFill>
            <a:schemeClr val="tx2"/>
          </a:solidFill>
          <a:effectLst>
            <a:outerShdw blurRad="63500" dist="38100" dir="5400000" algn="t" rotWithShape="0">
              <a:prstClr val="black">
                <a:alpha val="25000"/>
              </a:prstClr>
            </a:outerShdw>
          </a:effectLst>
          <a:latin typeface="+mn-lt"/>
          <a:ea typeface="+mj-ea"/>
          <a:cs typeface="+mj-cs"/>
        </a:defRPr>
      </a:lvl1pPr>
    </p:titleStyle>
    <p:bodyStyle>
      <a:lvl1pPr marL="342900" indent="-342900" algn="l" defTabSz="914400" rtl="0" eaLnBrk="1" latinLnBrk="0" hangingPunct="1">
        <a:spcBef>
          <a:spcPct val="20000"/>
        </a:spcBef>
        <a:buFont typeface="Arial" pitchFamily="34" charset="0"/>
        <a:buChar char="•"/>
        <a:defRPr sz="2400" kern="1200">
          <a:solidFill>
            <a:schemeClr val="tx1">
              <a:lumMod val="50000"/>
              <a:lumOff val="50000"/>
            </a:schemeClr>
          </a:solidFill>
          <a:latin typeface="+mj-lt"/>
          <a:ea typeface="+mn-ea"/>
          <a:cs typeface="+mn-cs"/>
        </a:defRPr>
      </a:lvl1pPr>
      <a:lvl2pPr marL="742950" indent="-28575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2pPr>
      <a:lvl3pPr marL="11430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3pPr>
      <a:lvl4pPr marL="16002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4pPr>
      <a:lvl5pPr marL="20574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5pPr>
      <a:lvl6pPr marL="25146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6pPr>
      <a:lvl7pPr marL="29718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7pPr>
      <a:lvl8pPr marL="34290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8pPr>
      <a:lvl9pPr marL="38862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SG"/>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SG"/>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81D1448-F56A-427E-B4D3-154671AD8545}" type="datetimeFigureOut">
              <a:rPr lang="en-SG" smtClean="0"/>
              <a:t>13/4/2026</a:t>
            </a:fld>
            <a:endParaRPr lang="en-SG"/>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SG"/>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5804EC2-4BFC-4480-AE2A-23FA0465B8FA}" type="slidenum">
              <a:rPr lang="en-SG" smtClean="0"/>
              <a:t>‹#›</a:t>
            </a:fld>
            <a:endParaRPr lang="en-SG"/>
          </a:p>
        </p:txBody>
      </p:sp>
    </p:spTree>
    <p:extLst>
      <p:ext uri="{BB962C8B-B14F-4D97-AF65-F5344CB8AC3E}">
        <p14:creationId xmlns:p14="http://schemas.microsoft.com/office/powerpoint/2010/main" val="4065449170"/>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8" name="Rounded Rectangle 7"/>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2" name="Title Placeholder 21"/>
          <p:cNvSpPr>
            <a:spLocks noGrp="1"/>
          </p:cNvSpPr>
          <p:nvPr>
            <p:ph type="title"/>
          </p:nvPr>
        </p:nvSpPr>
        <p:spPr>
          <a:xfrm>
            <a:off x="914400" y="274638"/>
            <a:ext cx="7772400" cy="1143000"/>
          </a:xfrm>
          <a:prstGeom prst="rect">
            <a:avLst/>
          </a:prstGeom>
        </p:spPr>
        <p:txBody>
          <a:bodyPr bIns="91440" anchor="b" anchorCtr="0">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914400" y="1447800"/>
            <a:ext cx="7772400" cy="4572000"/>
          </a:xfrm>
          <a:prstGeom prst="rect">
            <a:avLst/>
          </a:prstGeom>
        </p:spPr>
        <p:txBody>
          <a:bodyPr>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a:solidFill>
                  <a:schemeClr val="tx2"/>
                </a:solidFill>
              </a:defRPr>
            </a:lvl1pPr>
          </a:lstStyle>
          <a:p>
            <a:fld id="{C81D1448-F56A-427E-B4D3-154671AD8545}" type="datetimeFigureOut">
              <a:rPr lang="en-SG" smtClean="0"/>
              <a:t>13/4/2026</a:t>
            </a:fld>
            <a:endParaRPr lang="en-SG"/>
          </a:p>
        </p:txBody>
      </p:sp>
      <p:sp>
        <p:nvSpPr>
          <p:cNvPr id="3" name="Footer Placeholder 2"/>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defRPr>
            </a:lvl1pPr>
          </a:lstStyle>
          <a:p>
            <a:endParaRPr lang="en-SG"/>
          </a:p>
        </p:txBody>
      </p:sp>
      <p:sp>
        <p:nvSpPr>
          <p:cNvPr id="23" name="Slide Number Placeholder 22"/>
          <p:cNvSpPr>
            <a:spLocks noGrp="1"/>
          </p:cNvSpPr>
          <p:nvPr>
            <p:ph type="sldNum" sz="quarter" idx="4"/>
          </p:nvPr>
        </p:nvSpPr>
        <p:spPr>
          <a:xfrm>
            <a:off x="146304" y="6210300"/>
            <a:ext cx="4572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C5804EC2-4BFC-4480-AE2A-23FA0465B8FA}" type="slidenum">
              <a:rPr lang="en-SG" smtClean="0"/>
              <a:t>‹#›</a:t>
            </a:fld>
            <a:endParaRPr lang="en-SG"/>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C81D1448-F56A-427E-B4D3-154671AD8545}" type="datetimeFigureOut">
              <a:rPr lang="en-SG" smtClean="0"/>
              <a:t>13/4/2026</a:t>
            </a:fld>
            <a:endParaRPr lang="en-SG"/>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SG"/>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C5804EC2-4BFC-4480-AE2A-23FA0465B8FA}" type="slidenum">
              <a:rPr lang="en-SG" smtClean="0"/>
              <a:t>‹#›</a:t>
            </a:fld>
            <a:endParaRPr lang="en-SG"/>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3568" y="-171400"/>
            <a:ext cx="7772400" cy="1470025"/>
          </a:xfrm>
        </p:spPr>
        <p:txBody>
          <a:bodyPr/>
          <a:lstStyle/>
          <a:p>
            <a:r>
              <a:rPr lang="en-SG" dirty="0" smtClean="0"/>
              <a:t>Scenario</a:t>
            </a:r>
            <a:endParaRPr lang="en-SG" dirty="0"/>
          </a:p>
        </p:txBody>
      </p:sp>
      <p:sp>
        <p:nvSpPr>
          <p:cNvPr id="3" name="Subtitle 2"/>
          <p:cNvSpPr>
            <a:spLocks noGrp="1"/>
          </p:cNvSpPr>
          <p:nvPr>
            <p:ph type="subTitle" idx="1"/>
          </p:nvPr>
        </p:nvSpPr>
        <p:spPr>
          <a:xfrm>
            <a:off x="683568" y="1484784"/>
            <a:ext cx="7704856" cy="3865984"/>
          </a:xfrm>
        </p:spPr>
        <p:txBody>
          <a:bodyPr>
            <a:noAutofit/>
          </a:bodyPr>
          <a:lstStyle/>
          <a:p>
            <a:pPr algn="l"/>
            <a:r>
              <a:rPr lang="en-GB" sz="1500" dirty="0">
                <a:solidFill>
                  <a:schemeClr val="tx1"/>
                </a:solidFill>
              </a:rPr>
              <a:t>You are a cybersecurity analyst working at a company that specializes in providing IT services for clients. Several customers of clients reported that they were not able to access the client company website www.yummyrecipesforme.com, and saw the error “destination port unreachable” after waiting for the page to load. </a:t>
            </a:r>
            <a:endParaRPr lang="en-GB" sz="1500" dirty="0" smtClean="0">
              <a:solidFill>
                <a:schemeClr val="tx1"/>
              </a:solidFill>
            </a:endParaRPr>
          </a:p>
          <a:p>
            <a:pPr algn="l"/>
            <a:endParaRPr lang="en-GB" sz="1500" dirty="0">
              <a:solidFill>
                <a:schemeClr val="tx1"/>
              </a:solidFill>
            </a:endParaRPr>
          </a:p>
          <a:p>
            <a:pPr algn="l"/>
            <a:r>
              <a:rPr lang="en-GB" sz="1500" dirty="0">
                <a:solidFill>
                  <a:schemeClr val="tx1"/>
                </a:solidFill>
              </a:rPr>
              <a:t>You are tasked with </a:t>
            </a:r>
            <a:r>
              <a:rPr lang="en-GB" sz="1500" dirty="0" err="1">
                <a:solidFill>
                  <a:schemeClr val="tx1"/>
                </a:solidFill>
              </a:rPr>
              <a:t>analyzing</a:t>
            </a:r>
            <a:r>
              <a:rPr lang="en-GB" sz="1500" dirty="0">
                <a:solidFill>
                  <a:schemeClr val="tx1"/>
                </a:solidFill>
              </a:rPr>
              <a:t> the situation and determining which network protocol was affected during this incident. </a:t>
            </a:r>
            <a:endParaRPr lang="en-GB" sz="1500" dirty="0" smtClean="0">
              <a:solidFill>
                <a:schemeClr val="tx1"/>
              </a:solidFill>
            </a:endParaRPr>
          </a:p>
          <a:p>
            <a:pPr algn="l"/>
            <a:endParaRPr lang="en-GB" sz="1500" dirty="0">
              <a:solidFill>
                <a:schemeClr val="tx1"/>
              </a:solidFill>
            </a:endParaRPr>
          </a:p>
          <a:p>
            <a:pPr algn="l"/>
            <a:r>
              <a:rPr lang="en-GB" sz="1500" dirty="0" smtClean="0">
                <a:solidFill>
                  <a:schemeClr val="tx1"/>
                </a:solidFill>
              </a:rPr>
              <a:t>To </a:t>
            </a:r>
            <a:r>
              <a:rPr lang="en-GB" sz="1500" dirty="0">
                <a:solidFill>
                  <a:schemeClr val="tx1"/>
                </a:solidFill>
              </a:rPr>
              <a:t>start, you attempt to visit the website and you also receive the error “destination port unreachable</a:t>
            </a:r>
            <a:r>
              <a:rPr lang="en-GB" sz="1500" dirty="0" smtClean="0">
                <a:solidFill>
                  <a:schemeClr val="tx1"/>
                </a:solidFill>
              </a:rPr>
              <a:t>.”</a:t>
            </a:r>
          </a:p>
          <a:p>
            <a:pPr algn="l"/>
            <a:endParaRPr lang="en-GB" sz="1500" dirty="0">
              <a:solidFill>
                <a:schemeClr val="tx1"/>
              </a:solidFill>
            </a:endParaRPr>
          </a:p>
          <a:p>
            <a:pPr algn="l"/>
            <a:r>
              <a:rPr lang="en-GB" sz="1500" dirty="0" smtClean="0">
                <a:solidFill>
                  <a:schemeClr val="tx1"/>
                </a:solidFill>
              </a:rPr>
              <a:t>To </a:t>
            </a:r>
            <a:r>
              <a:rPr lang="en-GB" sz="1500" dirty="0">
                <a:solidFill>
                  <a:schemeClr val="tx1"/>
                </a:solidFill>
              </a:rPr>
              <a:t>troubleshoot the issue, you load your network </a:t>
            </a:r>
            <a:r>
              <a:rPr lang="en-GB" sz="1500" dirty="0" err="1">
                <a:solidFill>
                  <a:schemeClr val="tx1"/>
                </a:solidFill>
              </a:rPr>
              <a:t>analyzer</a:t>
            </a:r>
            <a:r>
              <a:rPr lang="en-GB" sz="1500" dirty="0">
                <a:solidFill>
                  <a:schemeClr val="tx1"/>
                </a:solidFill>
              </a:rPr>
              <a:t> tool, </a:t>
            </a:r>
            <a:r>
              <a:rPr lang="en-GB" sz="1500" dirty="0" err="1">
                <a:solidFill>
                  <a:schemeClr val="tx1"/>
                </a:solidFill>
              </a:rPr>
              <a:t>tcpdump</a:t>
            </a:r>
            <a:r>
              <a:rPr lang="en-GB" sz="1500" dirty="0">
                <a:solidFill>
                  <a:schemeClr val="tx1"/>
                </a:solidFill>
              </a:rPr>
              <a:t>, and attempt to load the webpage again. To load the webpage, your browser sends a query to a DNS server via the UDP protocol to retrieve the IP address for the website's domain name; this is part of the DNS protocol. Your browser then uses this IP address as the destination IP for sending an HTTPS request to the web server to display the webpage The </a:t>
            </a:r>
            <a:r>
              <a:rPr lang="en-GB" sz="1500" dirty="0" err="1">
                <a:solidFill>
                  <a:schemeClr val="tx1"/>
                </a:solidFill>
              </a:rPr>
              <a:t>analyzer</a:t>
            </a:r>
            <a:r>
              <a:rPr lang="en-GB" sz="1500" dirty="0">
                <a:solidFill>
                  <a:schemeClr val="tx1"/>
                </a:solidFill>
              </a:rPr>
              <a:t> shows that when you send UDP packets to the DNS server, you receive ICMP packets containing the error message: “</a:t>
            </a:r>
            <a:r>
              <a:rPr lang="en-GB" sz="1500" dirty="0" err="1">
                <a:solidFill>
                  <a:schemeClr val="tx1"/>
                </a:solidFill>
              </a:rPr>
              <a:t>udp</a:t>
            </a:r>
            <a:r>
              <a:rPr lang="en-GB" sz="1500" dirty="0">
                <a:solidFill>
                  <a:schemeClr val="tx1"/>
                </a:solidFill>
              </a:rPr>
              <a:t> port 53 unreachable.” </a:t>
            </a:r>
          </a:p>
          <a:p>
            <a:pPr algn="l"/>
            <a:endParaRPr lang="en-SG" sz="1500" dirty="0"/>
          </a:p>
        </p:txBody>
      </p:sp>
    </p:spTree>
    <p:extLst>
      <p:ext uri="{BB962C8B-B14F-4D97-AF65-F5344CB8AC3E}">
        <p14:creationId xmlns:p14="http://schemas.microsoft.com/office/powerpoint/2010/main" val="191919235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log from tcpdump packet data"/>
          <p:cNvPicPr>
            <a:picLocks noChangeAspect="1" noChangeArrowheads="1"/>
          </p:cNvPicPr>
          <p:nvPr/>
        </p:nvPicPr>
        <p:blipFill rotWithShape="1">
          <a:blip r:embed="rId2">
            <a:extLst>
              <a:ext uri="{28A0092B-C50C-407E-A947-70E740481C1C}">
                <a14:useLocalDpi xmlns:a14="http://schemas.microsoft.com/office/drawing/2010/main" val="0"/>
              </a:ext>
            </a:extLst>
          </a:blip>
          <a:srcRect b="3086"/>
          <a:stretch/>
        </p:blipFill>
        <p:spPr bwMode="auto">
          <a:xfrm>
            <a:off x="2915816" y="87284"/>
            <a:ext cx="4553262" cy="2191701"/>
          </a:xfrm>
          <a:prstGeom prst="rect">
            <a:avLst/>
          </a:prstGeom>
          <a:noFill/>
          <a:ln>
            <a:solidFill>
              <a:schemeClr val="tx2"/>
            </a:solidFill>
          </a:ln>
          <a:extLst>
            <a:ext uri="{909E8E84-426E-40DD-AFC4-6F175D3DCCD1}">
              <a14:hiddenFill xmlns:a14="http://schemas.microsoft.com/office/drawing/2010/main">
                <a:solidFill>
                  <a:srgbClr val="FFFFFF"/>
                </a:solidFill>
              </a14:hiddenFill>
            </a:ext>
          </a:extLst>
        </p:spPr>
      </p:pic>
      <p:sp>
        <p:nvSpPr>
          <p:cNvPr id="2" name="TextBox 1"/>
          <p:cNvSpPr txBox="1"/>
          <p:nvPr/>
        </p:nvSpPr>
        <p:spPr>
          <a:xfrm>
            <a:off x="168340" y="1884015"/>
            <a:ext cx="8784976" cy="5001369"/>
          </a:xfrm>
          <a:prstGeom prst="rect">
            <a:avLst/>
          </a:prstGeom>
          <a:noFill/>
        </p:spPr>
        <p:txBody>
          <a:bodyPr wrap="square" rtlCol="0">
            <a:spAutoFit/>
          </a:bodyPr>
          <a:lstStyle/>
          <a:p>
            <a:r>
              <a:rPr lang="en-GB" sz="1100" dirty="0">
                <a:latin typeface="Calibri" panose="020F0502020204030204" pitchFamily="34" charset="0"/>
                <a:ea typeface="Calibri" panose="020F0502020204030204" pitchFamily="34" charset="0"/>
                <a:cs typeface="Calibri" panose="020F0502020204030204" pitchFamily="34" charset="0"/>
              </a:rPr>
              <a:t>In the </a:t>
            </a:r>
            <a:r>
              <a:rPr lang="en-GB" sz="1100" dirty="0" err="1">
                <a:latin typeface="Calibri" panose="020F0502020204030204" pitchFamily="34" charset="0"/>
                <a:ea typeface="Calibri" panose="020F0502020204030204" pitchFamily="34" charset="0"/>
                <a:cs typeface="Calibri" panose="020F0502020204030204" pitchFamily="34" charset="0"/>
              </a:rPr>
              <a:t>tcpdump</a:t>
            </a:r>
            <a:r>
              <a:rPr lang="en-GB" sz="1100" dirty="0">
                <a:latin typeface="Calibri" panose="020F0502020204030204" pitchFamily="34" charset="0"/>
                <a:ea typeface="Calibri" panose="020F0502020204030204" pitchFamily="34" charset="0"/>
                <a:cs typeface="Calibri" panose="020F0502020204030204" pitchFamily="34" charset="0"/>
              </a:rPr>
              <a:t> </a:t>
            </a:r>
            <a:r>
              <a:rPr lang="en-GB" sz="1100" dirty="0" smtClean="0">
                <a:latin typeface="Calibri" panose="020F0502020204030204" pitchFamily="34" charset="0"/>
                <a:ea typeface="Calibri" panose="020F0502020204030204" pitchFamily="34" charset="0"/>
                <a:cs typeface="Calibri" panose="020F0502020204030204" pitchFamily="34" charset="0"/>
              </a:rPr>
              <a:t>log,</a:t>
            </a:r>
            <a:br>
              <a:rPr lang="en-GB" sz="1100" dirty="0" smtClean="0">
                <a:latin typeface="Calibri" panose="020F0502020204030204" pitchFamily="34" charset="0"/>
                <a:ea typeface="Calibri" panose="020F0502020204030204" pitchFamily="34" charset="0"/>
                <a:cs typeface="Calibri" panose="020F0502020204030204" pitchFamily="34" charset="0"/>
              </a:rPr>
            </a:br>
            <a:r>
              <a:rPr lang="en-GB" sz="1100" dirty="0" smtClean="0">
                <a:latin typeface="Calibri" panose="020F0502020204030204" pitchFamily="34" charset="0"/>
                <a:ea typeface="Calibri" panose="020F0502020204030204" pitchFamily="34" charset="0"/>
                <a:cs typeface="Calibri" panose="020F0502020204030204" pitchFamily="34" charset="0"/>
              </a:rPr>
              <a:t>you </a:t>
            </a:r>
            <a:r>
              <a:rPr lang="en-GB" sz="1100" dirty="0">
                <a:latin typeface="Calibri" panose="020F0502020204030204" pitchFamily="34" charset="0"/>
                <a:ea typeface="Calibri" panose="020F0502020204030204" pitchFamily="34" charset="0"/>
                <a:cs typeface="Calibri" panose="020F0502020204030204" pitchFamily="34" charset="0"/>
              </a:rPr>
              <a:t>find the following information</a:t>
            </a:r>
            <a:r>
              <a:rPr lang="en-GB" sz="1100" dirty="0" smtClean="0">
                <a:latin typeface="Calibri" panose="020F0502020204030204" pitchFamily="34" charset="0"/>
                <a:ea typeface="Calibri" panose="020F0502020204030204" pitchFamily="34" charset="0"/>
                <a:cs typeface="Calibri" panose="020F0502020204030204" pitchFamily="34" charset="0"/>
              </a:rPr>
              <a:t>:</a:t>
            </a:r>
            <a:br>
              <a:rPr lang="en-GB" sz="1100" dirty="0" smtClean="0">
                <a:latin typeface="Calibri" panose="020F0502020204030204" pitchFamily="34" charset="0"/>
                <a:ea typeface="Calibri" panose="020F0502020204030204" pitchFamily="34" charset="0"/>
                <a:cs typeface="Calibri" panose="020F0502020204030204" pitchFamily="34" charset="0"/>
              </a:rPr>
            </a:br>
            <a:endParaRPr lang="en-GB" sz="1100" dirty="0">
              <a:latin typeface="Calibri" panose="020F0502020204030204" pitchFamily="34" charset="0"/>
              <a:ea typeface="Calibri" panose="020F0502020204030204" pitchFamily="34" charset="0"/>
              <a:cs typeface="Calibri" panose="020F0502020204030204" pitchFamily="34" charset="0"/>
            </a:endParaRPr>
          </a:p>
          <a:p>
            <a:pPr marL="228600" indent="-228600">
              <a:buFont typeface="+mj-lt"/>
              <a:buAutoNum type="arabicPeriod"/>
            </a:pPr>
            <a:r>
              <a:rPr lang="en-GB" sz="1100" dirty="0" smtClean="0">
                <a:latin typeface="Calibri" panose="020F0502020204030204" pitchFamily="34" charset="0"/>
                <a:ea typeface="Calibri" panose="020F0502020204030204" pitchFamily="34" charset="0"/>
                <a:cs typeface="Calibri" panose="020F0502020204030204" pitchFamily="34" charset="0"/>
              </a:rPr>
              <a:t>The </a:t>
            </a:r>
            <a:r>
              <a:rPr lang="en-GB" sz="1100" dirty="0">
                <a:latin typeface="Calibri" panose="020F0502020204030204" pitchFamily="34" charset="0"/>
                <a:ea typeface="Calibri" panose="020F0502020204030204" pitchFamily="34" charset="0"/>
                <a:cs typeface="Calibri" panose="020F0502020204030204" pitchFamily="34" charset="0"/>
              </a:rPr>
              <a:t>first two lines of the log file show the initial outgoing request from your computer to the DNS server requesting the IP address of yummyrecipesforme.com. This request is sent in a UDP packet</a:t>
            </a:r>
            <a:r>
              <a:rPr lang="en-GB" sz="1100" dirty="0" smtClean="0">
                <a:latin typeface="Calibri" panose="020F0502020204030204" pitchFamily="34" charset="0"/>
                <a:ea typeface="Calibri" panose="020F0502020204030204" pitchFamily="34" charset="0"/>
                <a:cs typeface="Calibri" panose="020F0502020204030204" pitchFamily="34" charset="0"/>
              </a:rPr>
              <a:t>.</a:t>
            </a:r>
          </a:p>
          <a:p>
            <a:pPr marL="228600" indent="-228600">
              <a:buFont typeface="+mj-lt"/>
              <a:buAutoNum type="arabicPeriod"/>
            </a:pPr>
            <a:endParaRPr lang="en-GB" sz="1100" dirty="0">
              <a:latin typeface="Calibri" panose="020F0502020204030204" pitchFamily="34" charset="0"/>
              <a:ea typeface="Calibri" panose="020F0502020204030204" pitchFamily="34" charset="0"/>
              <a:cs typeface="Calibri" panose="020F0502020204030204" pitchFamily="34" charset="0"/>
            </a:endParaRPr>
          </a:p>
          <a:p>
            <a:pPr marL="228600" indent="-228600">
              <a:buFont typeface="+mj-lt"/>
              <a:buAutoNum type="arabicPeriod"/>
            </a:pPr>
            <a:r>
              <a:rPr lang="en-GB" sz="1100" dirty="0" smtClean="0">
                <a:latin typeface="Calibri" panose="020F0502020204030204" pitchFamily="34" charset="0"/>
                <a:ea typeface="Calibri" panose="020F0502020204030204" pitchFamily="34" charset="0"/>
                <a:cs typeface="Calibri" panose="020F0502020204030204" pitchFamily="34" charset="0"/>
              </a:rPr>
              <a:t>The </a:t>
            </a:r>
            <a:r>
              <a:rPr lang="en-GB" sz="1100" dirty="0">
                <a:latin typeface="Calibri" panose="020F0502020204030204" pitchFamily="34" charset="0"/>
                <a:ea typeface="Calibri" panose="020F0502020204030204" pitchFamily="34" charset="0"/>
                <a:cs typeface="Calibri" panose="020F0502020204030204" pitchFamily="34" charset="0"/>
              </a:rPr>
              <a:t>third and fourth lines of the log show the response to your UDP packet. In this case, the ICMP 203.0.113.2 line is the start of the error message indicating that the UDP packet was undeliverable to port 53 of the DNS server</a:t>
            </a:r>
            <a:r>
              <a:rPr lang="en-GB" sz="1100" dirty="0" smtClean="0">
                <a:latin typeface="Calibri" panose="020F0502020204030204" pitchFamily="34" charset="0"/>
                <a:ea typeface="Calibri" panose="020F0502020204030204" pitchFamily="34" charset="0"/>
                <a:cs typeface="Calibri" panose="020F0502020204030204" pitchFamily="34" charset="0"/>
              </a:rPr>
              <a:t>.</a:t>
            </a:r>
          </a:p>
          <a:p>
            <a:pPr marL="228600" indent="-228600">
              <a:buFont typeface="+mj-lt"/>
              <a:buAutoNum type="arabicPeriod"/>
            </a:pPr>
            <a:endParaRPr lang="en-GB" sz="1100" dirty="0">
              <a:latin typeface="Calibri" panose="020F0502020204030204" pitchFamily="34" charset="0"/>
              <a:ea typeface="Calibri" panose="020F0502020204030204" pitchFamily="34" charset="0"/>
              <a:cs typeface="Calibri" panose="020F0502020204030204" pitchFamily="34" charset="0"/>
            </a:endParaRPr>
          </a:p>
          <a:p>
            <a:pPr marL="228600" indent="-228600">
              <a:buFont typeface="+mj-lt"/>
              <a:buAutoNum type="arabicPeriod"/>
            </a:pPr>
            <a:r>
              <a:rPr lang="en-GB" sz="1100" dirty="0">
                <a:latin typeface="Calibri" panose="020F0502020204030204" pitchFamily="34" charset="0"/>
                <a:ea typeface="Calibri" panose="020F0502020204030204" pitchFamily="34" charset="0"/>
                <a:cs typeface="Calibri" panose="020F0502020204030204" pitchFamily="34" charset="0"/>
              </a:rPr>
              <a:t>In front of each request and response, you find timestamps that indicate when the incident happened. In the log, this is the first sequence of numbers displayed: 13:24:32.192571. This means the time is 1:24 p.m., 32.192571 seconds</a:t>
            </a:r>
            <a:r>
              <a:rPr lang="en-GB" sz="1100" dirty="0" smtClean="0">
                <a:latin typeface="Calibri" panose="020F0502020204030204" pitchFamily="34" charset="0"/>
                <a:ea typeface="Calibri" panose="020F0502020204030204" pitchFamily="34" charset="0"/>
                <a:cs typeface="Calibri" panose="020F0502020204030204" pitchFamily="34" charset="0"/>
              </a:rPr>
              <a:t>.</a:t>
            </a:r>
          </a:p>
          <a:p>
            <a:pPr marL="228600" indent="-228600">
              <a:buFont typeface="+mj-lt"/>
              <a:buAutoNum type="arabicPeriod"/>
            </a:pPr>
            <a:endParaRPr lang="en-GB" sz="1100" dirty="0">
              <a:latin typeface="Calibri" panose="020F0502020204030204" pitchFamily="34" charset="0"/>
              <a:ea typeface="Calibri" panose="020F0502020204030204" pitchFamily="34" charset="0"/>
              <a:cs typeface="Calibri" panose="020F0502020204030204" pitchFamily="34" charset="0"/>
            </a:endParaRPr>
          </a:p>
          <a:p>
            <a:pPr marL="228600" indent="-228600">
              <a:buFont typeface="+mj-lt"/>
              <a:buAutoNum type="arabicPeriod"/>
            </a:pPr>
            <a:r>
              <a:rPr lang="en-GB" sz="1100" dirty="0">
                <a:latin typeface="Calibri" panose="020F0502020204030204" pitchFamily="34" charset="0"/>
                <a:ea typeface="Calibri" panose="020F0502020204030204" pitchFamily="34" charset="0"/>
                <a:cs typeface="Calibri" panose="020F0502020204030204" pitchFamily="34" charset="0"/>
              </a:rPr>
              <a:t>After the timestamps, you will find the source and destination IP addresses. In the first line, where the UDP packet travels from your browser to the DNS server, this information is displayed as: 192.51.100.15 &gt; 203.0.113.2.domain. The IP address to the left of the greater than (&gt;) symbol is the source address, which in this example is your computer’s IP address. The IP address to the right of the greater than (&gt;) symbol is the destination IP address. In this case, it is the IP address for the DNS server: 203.0.113.2.domain. For the ICMP error response, the source address is 203.0.113.2 and the destination is your computers IP address 192.51.100.15</a:t>
            </a:r>
            <a:r>
              <a:rPr lang="en-GB" sz="1100" dirty="0" smtClean="0">
                <a:latin typeface="Calibri" panose="020F0502020204030204" pitchFamily="34" charset="0"/>
                <a:ea typeface="Calibri" panose="020F0502020204030204" pitchFamily="34" charset="0"/>
                <a:cs typeface="Calibri" panose="020F0502020204030204" pitchFamily="34" charset="0"/>
              </a:rPr>
              <a:t>.</a:t>
            </a:r>
          </a:p>
          <a:p>
            <a:pPr marL="228600" indent="-228600">
              <a:buFont typeface="+mj-lt"/>
              <a:buAutoNum type="arabicPeriod"/>
            </a:pPr>
            <a:endParaRPr lang="en-GB" sz="1100" dirty="0">
              <a:latin typeface="Calibri" panose="020F0502020204030204" pitchFamily="34" charset="0"/>
              <a:ea typeface="Calibri" panose="020F0502020204030204" pitchFamily="34" charset="0"/>
              <a:cs typeface="Calibri" panose="020F0502020204030204" pitchFamily="34" charset="0"/>
            </a:endParaRPr>
          </a:p>
          <a:p>
            <a:pPr marL="228600" indent="-228600">
              <a:buFont typeface="+mj-lt"/>
              <a:buAutoNum type="arabicPeriod"/>
            </a:pPr>
            <a:r>
              <a:rPr lang="en-GB" sz="1100" dirty="0">
                <a:latin typeface="Calibri" panose="020F0502020204030204" pitchFamily="34" charset="0"/>
                <a:ea typeface="Calibri" panose="020F0502020204030204" pitchFamily="34" charset="0"/>
                <a:cs typeface="Calibri" panose="020F0502020204030204" pitchFamily="34" charset="0"/>
              </a:rPr>
              <a:t>After the source and destination IP addresses, there can be a number of additional details like the protocol, port number of the source, and flags. In the first line of the error log, the query identification number appears as: 35084. The plus sign after the query identification number indicates there are flags associated with the UDP message. The "A?" indicates a flag associated with the DNS request for an A record, where an A record maps a domain name to an IP address. The third line displays the protocol of the response message to the browser: "ICMP," which is followed by an ICMP error message</a:t>
            </a:r>
            <a:r>
              <a:rPr lang="en-GB" sz="1100" dirty="0" smtClean="0">
                <a:latin typeface="Calibri" panose="020F0502020204030204" pitchFamily="34" charset="0"/>
                <a:ea typeface="Calibri" panose="020F0502020204030204" pitchFamily="34" charset="0"/>
                <a:cs typeface="Calibri" panose="020F0502020204030204" pitchFamily="34" charset="0"/>
              </a:rPr>
              <a:t>.</a:t>
            </a:r>
          </a:p>
          <a:p>
            <a:pPr marL="228600" indent="-228600">
              <a:buFont typeface="+mj-lt"/>
              <a:buAutoNum type="arabicPeriod"/>
            </a:pPr>
            <a:endParaRPr lang="en-GB" sz="1100" dirty="0">
              <a:latin typeface="Calibri" panose="020F0502020204030204" pitchFamily="34" charset="0"/>
              <a:ea typeface="Calibri" panose="020F0502020204030204" pitchFamily="34" charset="0"/>
              <a:cs typeface="Calibri" panose="020F0502020204030204" pitchFamily="34" charset="0"/>
            </a:endParaRPr>
          </a:p>
          <a:p>
            <a:pPr marL="228600" indent="-228600">
              <a:buFont typeface="+mj-lt"/>
              <a:buAutoNum type="arabicPeriod"/>
            </a:pPr>
            <a:r>
              <a:rPr lang="en-GB" sz="1100" dirty="0">
                <a:latin typeface="Calibri" panose="020F0502020204030204" pitchFamily="34" charset="0"/>
                <a:ea typeface="Calibri" panose="020F0502020204030204" pitchFamily="34" charset="0"/>
                <a:cs typeface="Calibri" panose="020F0502020204030204" pitchFamily="34" charset="0"/>
              </a:rPr>
              <a:t>The error message, "</a:t>
            </a:r>
            <a:r>
              <a:rPr lang="en-GB" sz="1100" dirty="0" err="1">
                <a:latin typeface="Calibri" panose="020F0502020204030204" pitchFamily="34" charset="0"/>
                <a:ea typeface="Calibri" panose="020F0502020204030204" pitchFamily="34" charset="0"/>
                <a:cs typeface="Calibri" panose="020F0502020204030204" pitchFamily="34" charset="0"/>
              </a:rPr>
              <a:t>udp</a:t>
            </a:r>
            <a:r>
              <a:rPr lang="en-GB" sz="1100" dirty="0">
                <a:latin typeface="Calibri" panose="020F0502020204030204" pitchFamily="34" charset="0"/>
                <a:ea typeface="Calibri" panose="020F0502020204030204" pitchFamily="34" charset="0"/>
                <a:cs typeface="Calibri" panose="020F0502020204030204" pitchFamily="34" charset="0"/>
              </a:rPr>
              <a:t> port 53 unreachable" is mentioned in the last line. Port 53 is a port for DNS service. The word "unreachable" in the message indicates the UDP message requesting an IP address for the domain "www.yummyrecipesforme.com" did not go through to the DNS server because no service was listening on the receiving DNS port</a:t>
            </a:r>
            <a:r>
              <a:rPr lang="en-GB" sz="1100" dirty="0" smtClean="0">
                <a:latin typeface="Calibri" panose="020F0502020204030204" pitchFamily="34" charset="0"/>
                <a:ea typeface="Calibri" panose="020F0502020204030204" pitchFamily="34" charset="0"/>
                <a:cs typeface="Calibri" panose="020F0502020204030204" pitchFamily="34" charset="0"/>
              </a:rPr>
              <a:t>.</a:t>
            </a:r>
          </a:p>
          <a:p>
            <a:pPr marL="228600" indent="-228600">
              <a:buFont typeface="+mj-lt"/>
              <a:buAutoNum type="arabicPeriod"/>
            </a:pPr>
            <a:endParaRPr lang="en-GB" sz="1100" dirty="0">
              <a:latin typeface="Calibri" panose="020F0502020204030204" pitchFamily="34" charset="0"/>
              <a:ea typeface="Calibri" panose="020F0502020204030204" pitchFamily="34" charset="0"/>
              <a:cs typeface="Calibri" panose="020F0502020204030204" pitchFamily="34" charset="0"/>
            </a:endParaRPr>
          </a:p>
          <a:p>
            <a:pPr marL="228600" indent="-228600">
              <a:buFont typeface="+mj-lt"/>
              <a:buAutoNum type="arabicPeriod"/>
            </a:pPr>
            <a:r>
              <a:rPr lang="en-GB" sz="1100" dirty="0">
                <a:latin typeface="Calibri" panose="020F0502020204030204" pitchFamily="34" charset="0"/>
                <a:ea typeface="Calibri" panose="020F0502020204030204" pitchFamily="34" charset="0"/>
                <a:cs typeface="Calibri" panose="020F0502020204030204" pitchFamily="34" charset="0"/>
              </a:rPr>
              <a:t>The remaining lines in the log indicate that ICMP packets were sent two more times, but the same delivery error was received both times. </a:t>
            </a:r>
          </a:p>
        </p:txBody>
      </p:sp>
    </p:spTree>
    <p:extLst>
      <p:ext uri="{BB962C8B-B14F-4D97-AF65-F5344CB8AC3E}">
        <p14:creationId xmlns:p14="http://schemas.microsoft.com/office/powerpoint/2010/main" val="203873497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23528" y="242645"/>
            <a:ext cx="8568952" cy="954107"/>
          </a:xfrm>
          <a:prstGeom prst="rect">
            <a:avLst/>
          </a:prstGeom>
          <a:noFill/>
        </p:spPr>
        <p:txBody>
          <a:bodyPr wrap="square" rtlCol="0">
            <a:spAutoFit/>
          </a:bodyPr>
          <a:lstStyle/>
          <a:p>
            <a:r>
              <a:rPr lang="en-GB" sz="1400" dirty="0"/>
              <a:t>Now that you have captured data packets using a network </a:t>
            </a:r>
            <a:r>
              <a:rPr lang="en-GB" sz="1400" dirty="0" err="1"/>
              <a:t>analyzer</a:t>
            </a:r>
            <a:r>
              <a:rPr lang="en-GB" sz="1400" dirty="0"/>
              <a:t> tool, it is your job to identify which network protocol and service were impacted by this incident</a:t>
            </a:r>
            <a:r>
              <a:rPr lang="en-GB" sz="1400" dirty="0" smtClean="0"/>
              <a:t>.</a:t>
            </a:r>
          </a:p>
          <a:p>
            <a:endParaRPr lang="en-GB" sz="1400" dirty="0" smtClean="0"/>
          </a:p>
          <a:p>
            <a:r>
              <a:rPr lang="en-GB" sz="1400" dirty="0" smtClean="0"/>
              <a:t>Then</a:t>
            </a:r>
            <a:r>
              <a:rPr lang="en-GB" sz="1400" dirty="0"/>
              <a:t>, you will need to write a follow-up </a:t>
            </a:r>
            <a:r>
              <a:rPr lang="en-GB" sz="1400" dirty="0" smtClean="0"/>
              <a:t>report.</a:t>
            </a:r>
            <a:endParaRPr lang="en-SG" sz="1400" dirty="0"/>
          </a:p>
        </p:txBody>
      </p:sp>
      <p:sp>
        <p:nvSpPr>
          <p:cNvPr id="3" name="TextBox 2"/>
          <p:cNvSpPr txBox="1"/>
          <p:nvPr/>
        </p:nvSpPr>
        <p:spPr>
          <a:xfrm>
            <a:off x="323528" y="1484784"/>
            <a:ext cx="8568952" cy="5539978"/>
          </a:xfrm>
          <a:prstGeom prst="rect">
            <a:avLst/>
          </a:prstGeom>
          <a:noFill/>
        </p:spPr>
        <p:txBody>
          <a:bodyPr wrap="square" rtlCol="0">
            <a:spAutoFit/>
          </a:bodyPr>
          <a:lstStyle/>
          <a:p>
            <a:r>
              <a:rPr lang="en-GB" sz="1400" b="1" dirty="0"/>
              <a:t>Provide a summary of the problem found in the </a:t>
            </a:r>
            <a:r>
              <a:rPr lang="en-GB" sz="1400" b="1" dirty="0" err="1"/>
              <a:t>tcpdump</a:t>
            </a:r>
            <a:r>
              <a:rPr lang="en-GB" sz="1400" b="1" dirty="0"/>
              <a:t> log</a:t>
            </a:r>
          </a:p>
          <a:p>
            <a:r>
              <a:rPr lang="en-GB" sz="1400" dirty="0"/>
              <a:t>After </a:t>
            </a:r>
            <a:r>
              <a:rPr lang="en-GB" sz="1400" dirty="0" err="1"/>
              <a:t>analyzing</a:t>
            </a:r>
            <a:r>
              <a:rPr lang="en-GB" sz="1400" dirty="0"/>
              <a:t> the data presented to you from the </a:t>
            </a:r>
            <a:r>
              <a:rPr lang="en-GB" sz="1400" dirty="0" err="1"/>
              <a:t>tcpdump</a:t>
            </a:r>
            <a:r>
              <a:rPr lang="en-GB" sz="1400" dirty="0"/>
              <a:t> log, identify trends in the data. Assess which protocol is producing the error message from the DNS server for the yummyrecipesforme.com website. Recall that one of the ports that is displayed repeatedly is port 53, commonly used for DNS. In your analysis: </a:t>
            </a:r>
          </a:p>
          <a:p>
            <a:pPr marL="285750" indent="-285750">
              <a:buFont typeface="Arial" panose="020B0604020202020204" pitchFamily="34" charset="0"/>
              <a:buChar char="•"/>
            </a:pPr>
            <a:r>
              <a:rPr lang="en-GB" sz="1400" dirty="0"/>
              <a:t>Include a brief summary of the </a:t>
            </a:r>
            <a:r>
              <a:rPr lang="en-GB" sz="1400" dirty="0" err="1"/>
              <a:t>tcpdump</a:t>
            </a:r>
            <a:r>
              <a:rPr lang="en-GB" sz="1400" dirty="0"/>
              <a:t> log analysis and identify which protocols were used for the network traffic.</a:t>
            </a:r>
          </a:p>
          <a:p>
            <a:pPr marL="285750" indent="-285750">
              <a:buFont typeface="Arial" panose="020B0604020202020204" pitchFamily="34" charset="0"/>
              <a:buChar char="•"/>
            </a:pPr>
            <a:r>
              <a:rPr lang="en-GB" sz="1400" dirty="0"/>
              <a:t>Provide a few details about what was indicated in the log.</a:t>
            </a:r>
          </a:p>
          <a:p>
            <a:pPr marL="285750" indent="-285750">
              <a:buFont typeface="Arial" panose="020B0604020202020204" pitchFamily="34" charset="0"/>
              <a:buChar char="•"/>
            </a:pPr>
            <a:r>
              <a:rPr lang="en-GB" sz="1400" dirty="0"/>
              <a:t>Interpret the issues found in the log</a:t>
            </a:r>
            <a:r>
              <a:rPr lang="en-GB" sz="1400" dirty="0" smtClean="0"/>
              <a:t>.</a:t>
            </a:r>
          </a:p>
          <a:p>
            <a:pPr marL="285750" indent="-285750">
              <a:buFont typeface="Arial" panose="020B0604020202020204" pitchFamily="34" charset="0"/>
              <a:buChar char="•"/>
            </a:pPr>
            <a:endParaRPr lang="en-GB" sz="1400" dirty="0"/>
          </a:p>
          <a:p>
            <a:r>
              <a:rPr lang="en-GB" sz="1400" dirty="0"/>
              <a:t>Record your responses in part one of the cybersecurity incident report. </a:t>
            </a:r>
            <a:endParaRPr lang="en-GB" sz="1400" dirty="0" smtClean="0"/>
          </a:p>
          <a:p>
            <a:endParaRPr lang="en-GB" sz="1000" dirty="0" smtClean="0"/>
          </a:p>
          <a:p>
            <a:endParaRPr lang="en-GB" sz="1400" dirty="0"/>
          </a:p>
          <a:p>
            <a:r>
              <a:rPr lang="en-GB" sz="1400" b="1" dirty="0"/>
              <a:t>Explain your analysis of the data and provide one solution to implement </a:t>
            </a:r>
          </a:p>
          <a:p>
            <a:r>
              <a:rPr lang="en-GB" sz="1400" dirty="0"/>
              <a:t>Now that you’ve inspected the traffic log and identified trends in the traffic, describe why the error messages appeared on the log. Use your answer in the previous step and the scenario to identify the reason behind the ICMP error messages. The error messages indicate that there is an issue with a specific port. What do the different protocols involved in the log reveal about the incident? In your response:</a:t>
            </a:r>
          </a:p>
          <a:p>
            <a:pPr marL="285750" indent="-285750">
              <a:buFont typeface="Arial" panose="020B0604020202020204" pitchFamily="34" charset="0"/>
              <a:buChar char="•"/>
            </a:pPr>
            <a:r>
              <a:rPr lang="en-GB" sz="1400" dirty="0"/>
              <a:t>State when the problem was first reported.</a:t>
            </a:r>
          </a:p>
          <a:p>
            <a:pPr marL="285750" indent="-285750">
              <a:buFont typeface="Arial" panose="020B0604020202020204" pitchFamily="34" charset="0"/>
              <a:buChar char="•"/>
            </a:pPr>
            <a:r>
              <a:rPr lang="en-GB" sz="1400" dirty="0"/>
              <a:t>Provide the scenario, events, and symptoms identified when the event was first reported.</a:t>
            </a:r>
          </a:p>
          <a:p>
            <a:pPr marL="285750" indent="-285750">
              <a:buFont typeface="Arial" panose="020B0604020202020204" pitchFamily="34" charset="0"/>
              <a:buChar char="•"/>
            </a:pPr>
            <a:r>
              <a:rPr lang="en-GB" sz="1400" dirty="0"/>
              <a:t>Explain the current status of the issue.  </a:t>
            </a:r>
          </a:p>
          <a:p>
            <a:pPr marL="285750" indent="-285750">
              <a:buFont typeface="Arial" panose="020B0604020202020204" pitchFamily="34" charset="0"/>
              <a:buChar char="•"/>
            </a:pPr>
            <a:r>
              <a:rPr lang="en-GB" sz="1400" dirty="0"/>
              <a:t>Describe the information discovered while investigating the issue up to this point.</a:t>
            </a:r>
          </a:p>
          <a:p>
            <a:pPr marL="285750" indent="-285750">
              <a:buFont typeface="Arial" panose="020B0604020202020204" pitchFamily="34" charset="0"/>
              <a:buChar char="•"/>
            </a:pPr>
            <a:r>
              <a:rPr lang="en-GB" sz="1400" dirty="0"/>
              <a:t>List the next steps in troubleshooting and resolving the issue.</a:t>
            </a:r>
          </a:p>
          <a:p>
            <a:pPr marL="285750" indent="-285750">
              <a:buFont typeface="Arial" panose="020B0604020202020204" pitchFamily="34" charset="0"/>
              <a:buChar char="•"/>
            </a:pPr>
            <a:r>
              <a:rPr lang="en-GB" sz="1400" dirty="0"/>
              <a:t>Provide the suspected root cause of the problem</a:t>
            </a:r>
            <a:r>
              <a:rPr lang="en-GB" sz="1400" dirty="0" smtClean="0"/>
              <a:t>.</a:t>
            </a:r>
          </a:p>
          <a:p>
            <a:pPr marL="285750" indent="-285750">
              <a:buFont typeface="Arial" panose="020B0604020202020204" pitchFamily="34" charset="0"/>
              <a:buChar char="•"/>
            </a:pPr>
            <a:endParaRPr lang="en-GB" sz="1400" dirty="0"/>
          </a:p>
          <a:p>
            <a:r>
              <a:rPr lang="en-GB" sz="1400" dirty="0"/>
              <a:t>Record your responses in part two of the cybersecurity incident report. </a:t>
            </a:r>
          </a:p>
          <a:p>
            <a:endParaRPr lang="en-GB" dirty="0"/>
          </a:p>
        </p:txBody>
      </p:sp>
    </p:spTree>
    <p:extLst>
      <p:ext uri="{BB962C8B-B14F-4D97-AF65-F5344CB8AC3E}">
        <p14:creationId xmlns:p14="http://schemas.microsoft.com/office/powerpoint/2010/main" val="393140029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764704"/>
            <a:ext cx="8229600" cy="432048"/>
          </a:xfrm>
        </p:spPr>
        <p:txBody>
          <a:bodyPr>
            <a:noAutofit/>
          </a:bodyPr>
          <a:lstStyle/>
          <a:p>
            <a:r>
              <a:rPr lang="en-SG" sz="2800" dirty="0"/>
              <a:t>Example of a </a:t>
            </a:r>
            <a:r>
              <a:rPr lang="en-SG" sz="2800" dirty="0" smtClean="0"/>
              <a:t>Cybersecurity </a:t>
            </a:r>
            <a:r>
              <a:rPr lang="en-SG" sz="2800" dirty="0"/>
              <a:t>Incident Report</a:t>
            </a:r>
          </a:p>
        </p:txBody>
      </p:sp>
      <p:graphicFrame>
        <p:nvGraphicFramePr>
          <p:cNvPr id="6" name="Table 5"/>
          <p:cNvGraphicFramePr>
            <a:graphicFrameLocks noGrp="1"/>
          </p:cNvGraphicFramePr>
          <p:nvPr>
            <p:extLst>
              <p:ext uri="{D42A27DB-BD31-4B8C-83A1-F6EECF244321}">
                <p14:modId xmlns:p14="http://schemas.microsoft.com/office/powerpoint/2010/main" val="1535300635"/>
              </p:ext>
            </p:extLst>
          </p:nvPr>
        </p:nvGraphicFramePr>
        <p:xfrm>
          <a:off x="467544" y="1484784"/>
          <a:ext cx="8064896" cy="1368152"/>
        </p:xfrm>
        <a:graphic>
          <a:graphicData uri="http://schemas.openxmlformats.org/drawingml/2006/table">
            <a:tbl>
              <a:tblPr>
                <a:tableStyleId>{5C22544A-7EE6-4342-B048-85BDC9FD1C3A}</a:tableStyleId>
              </a:tblPr>
              <a:tblGrid>
                <a:gridCol w="8064896"/>
              </a:tblGrid>
              <a:tr h="354590">
                <a:tc>
                  <a:txBody>
                    <a:bodyPr/>
                    <a:lstStyle/>
                    <a:p>
                      <a:pPr>
                        <a:spcAft>
                          <a:spcPts val="0"/>
                        </a:spcAft>
                      </a:pPr>
                      <a:r>
                        <a:rPr lang="en-SG" sz="1400" dirty="0">
                          <a:effectLst/>
                        </a:rPr>
                        <a:t>Part 1: Provide a summary of the problem found in the DNS and ICMP traffic log</a:t>
                      </a:r>
                      <a:endParaRPr lang="en-SG" sz="1200" dirty="0">
                        <a:effectLst/>
                        <a:latin typeface="Open Sans"/>
                        <a:ea typeface="Open Sans"/>
                        <a:cs typeface="Open Sans"/>
                      </a:endParaRPr>
                    </a:p>
                  </a:txBody>
                  <a:tcPr marL="63500" marR="63500" marT="63500" marB="63500"/>
                </a:tc>
              </a:tr>
              <a:tr h="1013562">
                <a:tc>
                  <a:txBody>
                    <a:bodyPr/>
                    <a:lstStyle/>
                    <a:p>
                      <a:pPr>
                        <a:lnSpc>
                          <a:spcPct val="115000"/>
                        </a:lnSpc>
                        <a:spcAft>
                          <a:spcPts val="0"/>
                        </a:spcAft>
                      </a:pPr>
                      <a:r>
                        <a:rPr lang="en-SG" sz="1200" dirty="0">
                          <a:effectLst/>
                        </a:rPr>
                        <a:t>The network protocol </a:t>
                      </a:r>
                      <a:r>
                        <a:rPr lang="en-SG" sz="1200" dirty="0" err="1">
                          <a:effectLst/>
                        </a:rPr>
                        <a:t>analyzer</a:t>
                      </a:r>
                      <a:r>
                        <a:rPr lang="en-SG" sz="1200" dirty="0">
                          <a:effectLst/>
                        </a:rPr>
                        <a:t> logs indicate that port 443 is unreachable when attempting to access the secure employee background check website. Port 443 is normally used for HTTPS traffic. This may indicate a problem with the web server or the firewall configuration. It is possible that this is an indication of a malicious attack on the web server. </a:t>
                      </a:r>
                      <a:endParaRPr lang="en-SG" sz="1200" dirty="0">
                        <a:effectLst/>
                        <a:latin typeface="Open Sans"/>
                        <a:ea typeface="Open Sans"/>
                        <a:cs typeface="Open Sans"/>
                      </a:endParaRPr>
                    </a:p>
                  </a:txBody>
                  <a:tcPr marL="63500" marR="63500" marT="63500" marB="63500"/>
                </a:tc>
              </a:tr>
            </a:tbl>
          </a:graphicData>
        </a:graphic>
      </p:graphicFrame>
      <p:graphicFrame>
        <p:nvGraphicFramePr>
          <p:cNvPr id="7" name="Table 6"/>
          <p:cNvGraphicFramePr>
            <a:graphicFrameLocks noGrp="1"/>
          </p:cNvGraphicFramePr>
          <p:nvPr>
            <p:extLst>
              <p:ext uri="{D42A27DB-BD31-4B8C-83A1-F6EECF244321}">
                <p14:modId xmlns:p14="http://schemas.microsoft.com/office/powerpoint/2010/main" val="2809606132"/>
              </p:ext>
            </p:extLst>
          </p:nvPr>
        </p:nvGraphicFramePr>
        <p:xfrm>
          <a:off x="467544" y="3320176"/>
          <a:ext cx="8064896" cy="2341072"/>
        </p:xfrm>
        <a:graphic>
          <a:graphicData uri="http://schemas.openxmlformats.org/drawingml/2006/table">
            <a:tbl>
              <a:tblPr>
                <a:tableStyleId>{5C22544A-7EE6-4342-B048-85BDC9FD1C3A}</a:tableStyleId>
              </a:tblPr>
              <a:tblGrid>
                <a:gridCol w="8064896"/>
              </a:tblGrid>
              <a:tr h="303544">
                <a:tc>
                  <a:txBody>
                    <a:bodyPr/>
                    <a:lstStyle/>
                    <a:p>
                      <a:pPr>
                        <a:spcAft>
                          <a:spcPts val="0"/>
                        </a:spcAft>
                      </a:pPr>
                      <a:r>
                        <a:rPr lang="en-SG" sz="1400" dirty="0">
                          <a:effectLst/>
                        </a:rPr>
                        <a:t>Part 2: Explain your analysis of the data and provide at least one cause of the incident</a:t>
                      </a:r>
                      <a:endParaRPr lang="en-SG" sz="1200" dirty="0">
                        <a:effectLst/>
                        <a:latin typeface="Open Sans"/>
                        <a:ea typeface="Open Sans"/>
                        <a:cs typeface="Open Sans"/>
                      </a:endParaRPr>
                    </a:p>
                  </a:txBody>
                  <a:tcPr marL="63500" marR="63500" marT="63500" marB="63500"/>
                </a:tc>
              </a:tr>
              <a:tr h="2000712">
                <a:tc>
                  <a:txBody>
                    <a:bodyPr/>
                    <a:lstStyle/>
                    <a:p>
                      <a:pPr>
                        <a:lnSpc>
                          <a:spcPct val="115000"/>
                        </a:lnSpc>
                        <a:spcAft>
                          <a:spcPts val="1000"/>
                        </a:spcAft>
                      </a:pPr>
                      <a:r>
                        <a:rPr lang="en-SG" sz="1200" dirty="0">
                          <a:effectLst/>
                        </a:rPr>
                        <a:t>The incident occurred earlier this morning when the human resources (HR) team  reported that they could not reach the background check web portal. The network security team responded and began running tests with the network protocol </a:t>
                      </a:r>
                      <a:r>
                        <a:rPr lang="en-SG" sz="1200" dirty="0" err="1">
                          <a:effectLst/>
                        </a:rPr>
                        <a:t>analyzer</a:t>
                      </a:r>
                      <a:r>
                        <a:rPr lang="en-SG" sz="1200" dirty="0">
                          <a:effectLst/>
                        </a:rPr>
                        <a:t> tool </a:t>
                      </a:r>
                      <a:r>
                        <a:rPr lang="en-SG" sz="1200" dirty="0" err="1">
                          <a:effectLst/>
                        </a:rPr>
                        <a:t>tcpdump</a:t>
                      </a:r>
                      <a:r>
                        <a:rPr lang="en-SG" sz="1200" dirty="0">
                          <a:effectLst/>
                        </a:rPr>
                        <a:t>. The resulting logs revealed that port 443, which is used for HTTPS traffic, is not reachable. We are continuing to investigate the root cause of the issue to determine how we can restore access to the secure web portal. Our next steps include checking the firewall configuration to see if port 443 is blocked and contacting the system administrator for the web server to have them check the system for signs of an attack. The HR team believes it is possible that a certain new hire may want to keep them from performing the background check. The network security team suspects this person might have launched an attack to crash the background check website.</a:t>
                      </a:r>
                      <a:endParaRPr lang="en-SG" sz="1200" dirty="0">
                        <a:effectLst/>
                        <a:latin typeface="Open Sans"/>
                        <a:ea typeface="Open Sans"/>
                        <a:cs typeface="Open Sans"/>
                      </a:endParaRPr>
                    </a:p>
                  </a:txBody>
                  <a:tcPr marL="63500" marR="63500" marT="63500" marB="63500"/>
                </a:tc>
              </a:tr>
            </a:tbl>
          </a:graphicData>
        </a:graphic>
      </p:graphicFrame>
    </p:spTree>
    <p:extLst>
      <p:ext uri="{BB962C8B-B14F-4D97-AF65-F5344CB8AC3E}">
        <p14:creationId xmlns:p14="http://schemas.microsoft.com/office/powerpoint/2010/main" val="218602307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404664"/>
            <a:ext cx="8229600" cy="722344"/>
          </a:xfrm>
        </p:spPr>
        <p:txBody>
          <a:bodyPr>
            <a:noAutofit/>
          </a:bodyPr>
          <a:lstStyle/>
          <a:p>
            <a:r>
              <a:rPr lang="en-GB" sz="2800" dirty="0">
                <a:effectLst/>
              </a:rPr>
              <a:t>Cybersecurity Incident Report:</a:t>
            </a:r>
            <a:br>
              <a:rPr lang="en-GB" sz="2800" dirty="0">
                <a:effectLst/>
              </a:rPr>
            </a:br>
            <a:r>
              <a:rPr lang="en-GB" sz="2800" dirty="0">
                <a:effectLst/>
              </a:rPr>
              <a:t>Network Traffic </a:t>
            </a:r>
            <a:r>
              <a:rPr lang="en-GB" sz="2800" dirty="0" smtClean="0">
                <a:effectLst/>
              </a:rPr>
              <a:t>Analysis</a:t>
            </a:r>
            <a:endParaRPr lang="en-SG" sz="2800"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630438788"/>
              </p:ext>
            </p:extLst>
          </p:nvPr>
        </p:nvGraphicFramePr>
        <p:xfrm>
          <a:off x="323528" y="1196752"/>
          <a:ext cx="8568952" cy="2369312"/>
        </p:xfrm>
        <a:graphic>
          <a:graphicData uri="http://schemas.openxmlformats.org/drawingml/2006/table">
            <a:tbl>
              <a:tblPr>
                <a:tableStyleId>{5C22544A-7EE6-4342-B048-85BDC9FD1C3A}</a:tableStyleId>
              </a:tblPr>
              <a:tblGrid>
                <a:gridCol w="8568952"/>
              </a:tblGrid>
              <a:tr h="279400">
                <a:tc>
                  <a:txBody>
                    <a:bodyPr/>
                    <a:lstStyle/>
                    <a:p>
                      <a:pPr>
                        <a:lnSpc>
                          <a:spcPct val="115000"/>
                        </a:lnSpc>
                        <a:spcAft>
                          <a:spcPts val="0"/>
                        </a:spcAft>
                      </a:pPr>
                      <a:r>
                        <a:rPr lang="en-SG" sz="1200" b="1" dirty="0">
                          <a:effectLst/>
                        </a:rPr>
                        <a:t>Part 1: Provide a summary of the problem found in the DNS and ICMP </a:t>
                      </a:r>
                      <a:r>
                        <a:rPr lang="en-SG" sz="1200" b="1" dirty="0" smtClean="0">
                          <a:effectLst/>
                        </a:rPr>
                        <a:t>traffic </a:t>
                      </a:r>
                      <a:r>
                        <a:rPr lang="en-SG" sz="1200" b="1" dirty="0">
                          <a:effectLst/>
                        </a:rPr>
                        <a:t>log</a:t>
                      </a:r>
                      <a:r>
                        <a:rPr lang="en-SG" sz="1200" b="1" dirty="0" smtClean="0">
                          <a:effectLst/>
                        </a:rPr>
                        <a:t>.</a:t>
                      </a:r>
                      <a:endParaRPr lang="en-SG" sz="1100" b="1" dirty="0" smtClean="0">
                        <a:effectLst/>
                        <a:latin typeface="Arial"/>
                      </a:endParaRPr>
                    </a:p>
                  </a:txBody>
                  <a:tcPr marL="63500" marR="63500" marT="63500" marB="63500"/>
                </a:tc>
              </a:tr>
              <a:tr h="0">
                <a:tc>
                  <a:txBody>
                    <a:bodyPr/>
                    <a:lstStyle/>
                    <a:p>
                      <a:r>
                        <a:rPr lang="en-SG" sz="1100" dirty="0">
                          <a:effectLst/>
                        </a:rPr>
                        <a:t>The UDP protocol reveals that</a:t>
                      </a:r>
                      <a:r>
                        <a:rPr lang="en-SG" sz="1100" dirty="0" smtClean="0">
                          <a:effectLst/>
                        </a:rPr>
                        <a:t>: </a:t>
                      </a:r>
                      <a:r>
                        <a:rPr lang="en-SG" sz="1100" dirty="0" smtClean="0">
                          <a:solidFill>
                            <a:srgbClr val="0070C0"/>
                          </a:solidFill>
                          <a:effectLst/>
                        </a:rPr>
                        <a:t>the </a:t>
                      </a:r>
                      <a:r>
                        <a:rPr kumimoji="0" lang="en-GB" sz="1100" b="0" i="0" kern="1200" dirty="0" smtClean="0">
                          <a:solidFill>
                            <a:srgbClr val="0070C0"/>
                          </a:solidFill>
                          <a:effectLst/>
                          <a:latin typeface="+mn-lt"/>
                          <a:ea typeface="+mn-ea"/>
                          <a:cs typeface="+mn-cs"/>
                        </a:rPr>
                        <a:t>request</a:t>
                      </a:r>
                      <a:r>
                        <a:rPr kumimoji="0" lang="en-GB" sz="1100" b="0" i="0" kern="1200" baseline="0" dirty="0" smtClean="0">
                          <a:solidFill>
                            <a:srgbClr val="0070C0"/>
                          </a:solidFill>
                          <a:effectLst/>
                          <a:latin typeface="+mn-lt"/>
                          <a:ea typeface="+mn-ea"/>
                          <a:cs typeface="+mn-cs"/>
                        </a:rPr>
                        <a:t> for</a:t>
                      </a:r>
                      <a:r>
                        <a:rPr kumimoji="0" lang="en-GB" sz="1100" b="0" i="0" kern="1200" dirty="0" smtClean="0">
                          <a:solidFill>
                            <a:srgbClr val="0070C0"/>
                          </a:solidFill>
                          <a:effectLst/>
                          <a:latin typeface="+mn-lt"/>
                          <a:ea typeface="+mn-ea"/>
                          <a:cs typeface="+mn-cs"/>
                        </a:rPr>
                        <a:t> an IP address for the domain "www.yummyrecipesforme.com" did not go through to the DNS server because no service was listening on the receiving DNS port.</a:t>
                      </a:r>
                    </a:p>
                    <a:p>
                      <a:r>
                        <a:rPr lang="en-SG" sz="1100" dirty="0" smtClean="0">
                          <a:effectLst/>
                        </a:rPr>
                        <a:t> </a:t>
                      </a:r>
                    </a:p>
                    <a:p>
                      <a:pPr>
                        <a:lnSpc>
                          <a:spcPct val="115000"/>
                        </a:lnSpc>
                        <a:spcAft>
                          <a:spcPts val="0"/>
                        </a:spcAft>
                      </a:pPr>
                      <a:r>
                        <a:rPr lang="en-SG" sz="1100" dirty="0" smtClean="0">
                          <a:effectLst/>
                        </a:rPr>
                        <a:t>This </a:t>
                      </a:r>
                      <a:r>
                        <a:rPr lang="en-SG" sz="1100" dirty="0">
                          <a:effectLst/>
                        </a:rPr>
                        <a:t>is based on the results of the network analysis, which show that the ICMP echo reply returned the error message: </a:t>
                      </a:r>
                    </a:p>
                    <a:p>
                      <a:pPr>
                        <a:lnSpc>
                          <a:spcPct val="115000"/>
                        </a:lnSpc>
                        <a:spcAft>
                          <a:spcPts val="0"/>
                        </a:spcAft>
                      </a:pPr>
                      <a:r>
                        <a:rPr lang="en-SG" sz="1100" dirty="0">
                          <a:solidFill>
                            <a:srgbClr val="0070C0"/>
                          </a:solidFill>
                          <a:effectLst/>
                        </a:rPr>
                        <a:t> </a:t>
                      </a:r>
                      <a:r>
                        <a:rPr kumimoji="0" lang="en-SG" sz="1100" b="0" i="0" kern="1200" dirty="0" smtClean="0">
                          <a:solidFill>
                            <a:srgbClr val="0070C0"/>
                          </a:solidFill>
                          <a:effectLst/>
                          <a:latin typeface="+mn-lt"/>
                          <a:ea typeface="+mn-ea"/>
                          <a:cs typeface="+mn-cs"/>
                        </a:rPr>
                        <a:t>"</a:t>
                      </a:r>
                      <a:r>
                        <a:rPr kumimoji="0" lang="en-SG" sz="1100" b="0" i="0" kern="1200" dirty="0" err="1" smtClean="0">
                          <a:solidFill>
                            <a:srgbClr val="0070C0"/>
                          </a:solidFill>
                          <a:effectLst/>
                          <a:latin typeface="+mn-lt"/>
                          <a:ea typeface="+mn-ea"/>
                          <a:cs typeface="+mn-cs"/>
                        </a:rPr>
                        <a:t>udp</a:t>
                      </a:r>
                      <a:r>
                        <a:rPr kumimoji="0" lang="en-SG" sz="1100" b="0" i="0" kern="1200" dirty="0" smtClean="0">
                          <a:solidFill>
                            <a:srgbClr val="0070C0"/>
                          </a:solidFill>
                          <a:effectLst/>
                          <a:latin typeface="+mn-lt"/>
                          <a:ea typeface="+mn-ea"/>
                          <a:cs typeface="+mn-cs"/>
                        </a:rPr>
                        <a:t> port 53 unreachable"</a:t>
                      </a:r>
                      <a:endParaRPr lang="en-SG" sz="1100" dirty="0">
                        <a:solidFill>
                          <a:srgbClr val="0070C0"/>
                        </a:solidFill>
                        <a:effectLst/>
                      </a:endParaRPr>
                    </a:p>
                    <a:p>
                      <a:pPr>
                        <a:lnSpc>
                          <a:spcPct val="115000"/>
                        </a:lnSpc>
                        <a:spcAft>
                          <a:spcPts val="0"/>
                        </a:spcAft>
                      </a:pPr>
                      <a:r>
                        <a:rPr lang="en-SG" sz="1100" dirty="0">
                          <a:effectLst/>
                        </a:rPr>
                        <a:t>The port noted in the error message is used for: </a:t>
                      </a:r>
                      <a:r>
                        <a:rPr lang="en-SG" sz="1100" dirty="0" smtClean="0">
                          <a:solidFill>
                            <a:srgbClr val="0070C0"/>
                          </a:solidFill>
                          <a:effectLst/>
                        </a:rPr>
                        <a:t>DNS service</a:t>
                      </a:r>
                      <a:endParaRPr lang="en-SG" sz="1100" dirty="0">
                        <a:solidFill>
                          <a:srgbClr val="0070C0"/>
                        </a:solidFill>
                        <a:effectLst/>
                      </a:endParaRPr>
                    </a:p>
                    <a:p>
                      <a:pPr>
                        <a:lnSpc>
                          <a:spcPct val="115000"/>
                        </a:lnSpc>
                        <a:spcAft>
                          <a:spcPts val="0"/>
                        </a:spcAft>
                      </a:pPr>
                      <a:r>
                        <a:rPr lang="en-SG" sz="1100" dirty="0">
                          <a:effectLst/>
                        </a:rPr>
                        <a:t> </a:t>
                      </a:r>
                    </a:p>
                    <a:p>
                      <a:pPr>
                        <a:lnSpc>
                          <a:spcPct val="115000"/>
                        </a:lnSpc>
                        <a:spcAft>
                          <a:spcPts val="0"/>
                        </a:spcAft>
                      </a:pPr>
                      <a:r>
                        <a:rPr lang="en-SG" sz="1100" dirty="0">
                          <a:effectLst/>
                        </a:rPr>
                        <a:t>The most likely issue is</a:t>
                      </a:r>
                      <a:r>
                        <a:rPr lang="en-SG" sz="1100" dirty="0" smtClean="0">
                          <a:effectLst/>
                        </a:rPr>
                        <a:t>: </a:t>
                      </a:r>
                      <a:r>
                        <a:rPr lang="en-SG" sz="1100" dirty="0" smtClean="0">
                          <a:solidFill>
                            <a:srgbClr val="0070C0"/>
                          </a:solidFill>
                          <a:effectLst/>
                        </a:rPr>
                        <a:t>the</a:t>
                      </a:r>
                      <a:r>
                        <a:rPr lang="en-SG" sz="1100" baseline="0" dirty="0" smtClean="0">
                          <a:solidFill>
                            <a:srgbClr val="0070C0"/>
                          </a:solidFill>
                          <a:effectLst/>
                        </a:rPr>
                        <a:t> DNS server may be offline, or there may be too much traffic which the DNS server cannot handle. </a:t>
                      </a:r>
                      <a:r>
                        <a:rPr kumimoji="0" lang="en-GB" sz="1100" b="0" i="0" kern="1200" dirty="0" smtClean="0">
                          <a:solidFill>
                            <a:srgbClr val="0070C0"/>
                          </a:solidFill>
                          <a:effectLst/>
                          <a:latin typeface="+mn-lt"/>
                          <a:ea typeface="+mn-ea"/>
                          <a:cs typeface="+mn-cs"/>
                        </a:rPr>
                        <a:t>It is possible that this is an indication of a malicious attack on the web server.</a:t>
                      </a:r>
                      <a:endParaRPr lang="en-SG" sz="1100" dirty="0">
                        <a:solidFill>
                          <a:srgbClr val="0070C0"/>
                        </a:solidFill>
                        <a:effectLst/>
                      </a:endParaRPr>
                    </a:p>
                    <a:p>
                      <a:pPr>
                        <a:lnSpc>
                          <a:spcPct val="115000"/>
                        </a:lnSpc>
                        <a:spcAft>
                          <a:spcPts val="0"/>
                        </a:spcAft>
                      </a:pPr>
                      <a:r>
                        <a:rPr lang="en-SG" sz="1400" dirty="0">
                          <a:effectLst/>
                        </a:rPr>
                        <a:t> </a:t>
                      </a:r>
                      <a:endParaRPr lang="en-SG" sz="1200" dirty="0">
                        <a:effectLst/>
                        <a:latin typeface="Arial"/>
                        <a:ea typeface="Arial"/>
                      </a:endParaRPr>
                    </a:p>
                  </a:txBody>
                  <a:tcPr marL="63500" marR="63500" marT="63500" marB="63500"/>
                </a:tc>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1078690859"/>
              </p:ext>
            </p:extLst>
          </p:nvPr>
        </p:nvGraphicFramePr>
        <p:xfrm>
          <a:off x="323528" y="3284985"/>
          <a:ext cx="8568952" cy="3557075"/>
        </p:xfrm>
        <a:graphic>
          <a:graphicData uri="http://schemas.openxmlformats.org/drawingml/2006/table">
            <a:tbl>
              <a:tblPr>
                <a:tableStyleId>{5C22544A-7EE6-4342-B048-85BDC9FD1C3A}</a:tableStyleId>
              </a:tblPr>
              <a:tblGrid>
                <a:gridCol w="8568952"/>
              </a:tblGrid>
              <a:tr h="345499">
                <a:tc>
                  <a:txBody>
                    <a:bodyPr/>
                    <a:lstStyle/>
                    <a:p>
                      <a:pPr>
                        <a:lnSpc>
                          <a:spcPct val="115000"/>
                        </a:lnSpc>
                        <a:spcAft>
                          <a:spcPts val="0"/>
                        </a:spcAft>
                      </a:pPr>
                      <a:r>
                        <a:rPr lang="en-SG" sz="1200" b="1" dirty="0">
                          <a:effectLst/>
                        </a:rPr>
                        <a:t>Part 2: Explain your analysis of the data and provide at least one cause of the incident.</a:t>
                      </a:r>
                      <a:endParaRPr lang="en-SG" sz="1100" b="1" dirty="0">
                        <a:effectLst/>
                        <a:latin typeface="Arial"/>
                        <a:ea typeface="Arial"/>
                      </a:endParaRPr>
                    </a:p>
                  </a:txBody>
                  <a:tcPr marL="63500" marR="63500" marT="63500" marB="63500"/>
                </a:tc>
              </a:tr>
              <a:tr h="3110884">
                <a:tc>
                  <a:txBody>
                    <a:bodyPr/>
                    <a:lstStyle/>
                    <a:p>
                      <a:pPr>
                        <a:lnSpc>
                          <a:spcPct val="115000"/>
                        </a:lnSpc>
                        <a:spcAft>
                          <a:spcPts val="0"/>
                        </a:spcAft>
                      </a:pPr>
                      <a:r>
                        <a:rPr lang="en-SG" sz="1100" dirty="0">
                          <a:effectLst/>
                        </a:rPr>
                        <a:t>Time incident </a:t>
                      </a:r>
                      <a:r>
                        <a:rPr lang="en-SG" sz="1100" dirty="0" smtClean="0">
                          <a:effectLst/>
                        </a:rPr>
                        <a:t>occurred:</a:t>
                      </a:r>
                      <a:r>
                        <a:rPr lang="en-SG" sz="1100" baseline="0" dirty="0" smtClean="0">
                          <a:effectLst/>
                        </a:rPr>
                        <a:t> </a:t>
                      </a:r>
                      <a:r>
                        <a:rPr lang="en-SG" sz="1100" baseline="0" dirty="0" smtClean="0">
                          <a:solidFill>
                            <a:srgbClr val="0070C0"/>
                          </a:solidFill>
                          <a:effectLst/>
                        </a:rPr>
                        <a:t>It was alerted by our client – when troubleshooting, the time was 1:24pm 32 secs.</a:t>
                      </a:r>
                      <a:endParaRPr lang="en-SG" sz="1100" dirty="0">
                        <a:effectLst/>
                      </a:endParaRPr>
                    </a:p>
                    <a:p>
                      <a:pPr>
                        <a:lnSpc>
                          <a:spcPct val="115000"/>
                        </a:lnSpc>
                        <a:spcAft>
                          <a:spcPts val="0"/>
                        </a:spcAft>
                      </a:pPr>
                      <a:r>
                        <a:rPr lang="en-SG" sz="1100" dirty="0">
                          <a:effectLst/>
                        </a:rPr>
                        <a:t> </a:t>
                      </a:r>
                    </a:p>
                    <a:p>
                      <a:pPr>
                        <a:lnSpc>
                          <a:spcPct val="115000"/>
                        </a:lnSpc>
                        <a:spcAft>
                          <a:spcPts val="0"/>
                        </a:spcAft>
                      </a:pPr>
                      <a:r>
                        <a:rPr lang="en-SG" sz="1100" dirty="0">
                          <a:effectLst/>
                        </a:rPr>
                        <a:t>Explain how the IT team became aware of the incident</a:t>
                      </a:r>
                      <a:r>
                        <a:rPr lang="en-SG" sz="1100" dirty="0" smtClean="0">
                          <a:effectLst/>
                        </a:rPr>
                        <a:t>: </a:t>
                      </a:r>
                      <a:r>
                        <a:rPr kumimoji="0" lang="en-GB" sz="1100" b="0" i="0" kern="1200" dirty="0" smtClean="0">
                          <a:solidFill>
                            <a:srgbClr val="0070C0"/>
                          </a:solidFill>
                          <a:effectLst/>
                          <a:latin typeface="+mn-lt"/>
                          <a:ea typeface="+mn-ea"/>
                          <a:cs typeface="+mn-cs"/>
                        </a:rPr>
                        <a:t>Several customers of the client reported that they were not able to access the client company website.</a:t>
                      </a:r>
                      <a:endParaRPr lang="en-SG" sz="1100" dirty="0">
                        <a:solidFill>
                          <a:srgbClr val="0070C0"/>
                        </a:solidFill>
                        <a:effectLst/>
                      </a:endParaRPr>
                    </a:p>
                    <a:p>
                      <a:pPr>
                        <a:lnSpc>
                          <a:spcPct val="115000"/>
                        </a:lnSpc>
                        <a:spcAft>
                          <a:spcPts val="0"/>
                        </a:spcAft>
                      </a:pPr>
                      <a:r>
                        <a:rPr lang="en-SG" sz="1100" dirty="0">
                          <a:effectLst/>
                        </a:rPr>
                        <a:t> </a:t>
                      </a:r>
                    </a:p>
                    <a:p>
                      <a:pPr>
                        <a:lnSpc>
                          <a:spcPct val="115000"/>
                        </a:lnSpc>
                        <a:spcAft>
                          <a:spcPts val="0"/>
                        </a:spcAft>
                      </a:pPr>
                      <a:r>
                        <a:rPr lang="en-SG" sz="1100" dirty="0">
                          <a:effectLst/>
                        </a:rPr>
                        <a:t>Explain the actions taken by the IT department to investigate the incident</a:t>
                      </a:r>
                      <a:r>
                        <a:rPr lang="en-SG" sz="1100" dirty="0" smtClean="0">
                          <a:effectLst/>
                        </a:rPr>
                        <a:t>: </a:t>
                      </a:r>
                      <a:r>
                        <a:rPr lang="en-SG" sz="1100" dirty="0" smtClean="0">
                          <a:solidFill>
                            <a:srgbClr val="0070C0"/>
                          </a:solidFill>
                          <a:effectLst/>
                        </a:rPr>
                        <a:t>The</a:t>
                      </a:r>
                      <a:r>
                        <a:rPr lang="en-SG" sz="1100" baseline="0" dirty="0" smtClean="0">
                          <a:solidFill>
                            <a:srgbClr val="0070C0"/>
                          </a:solidFill>
                          <a:effectLst/>
                        </a:rPr>
                        <a:t> IT department cybersecurity analyst was </a:t>
                      </a:r>
                      <a:r>
                        <a:rPr lang="en-GB" sz="1100" baseline="0" dirty="0" smtClean="0">
                          <a:solidFill>
                            <a:srgbClr val="0070C0"/>
                          </a:solidFill>
                          <a:effectLst/>
                        </a:rPr>
                        <a:t> tasked with </a:t>
                      </a:r>
                      <a:r>
                        <a:rPr lang="en-GB" sz="1100" baseline="0" dirty="0" err="1" smtClean="0">
                          <a:solidFill>
                            <a:srgbClr val="0070C0"/>
                          </a:solidFill>
                          <a:effectLst/>
                        </a:rPr>
                        <a:t>analyzing</a:t>
                      </a:r>
                      <a:r>
                        <a:rPr lang="en-GB" sz="1100" baseline="0" dirty="0" smtClean="0">
                          <a:solidFill>
                            <a:srgbClr val="0070C0"/>
                          </a:solidFill>
                          <a:effectLst/>
                        </a:rPr>
                        <a:t> the situation and determining which network protocol was affected during this incident. First we verify the issue that’s being faced, and then proceeded to troubleshoot the issue by utilizing a packet sniffer tool </a:t>
                      </a:r>
                      <a:r>
                        <a:rPr lang="en-GB" sz="1100" baseline="0" dirty="0" err="1" smtClean="0">
                          <a:solidFill>
                            <a:srgbClr val="0070C0"/>
                          </a:solidFill>
                          <a:effectLst/>
                        </a:rPr>
                        <a:t>tcpdump</a:t>
                      </a:r>
                      <a:r>
                        <a:rPr lang="en-GB" sz="1100" baseline="0" dirty="0" smtClean="0">
                          <a:solidFill>
                            <a:srgbClr val="0070C0"/>
                          </a:solidFill>
                          <a:effectLst/>
                        </a:rPr>
                        <a:t> and re-load the page. The </a:t>
                      </a:r>
                      <a:r>
                        <a:rPr lang="en-GB" sz="1100" baseline="0" dirty="0" err="1" smtClean="0">
                          <a:solidFill>
                            <a:srgbClr val="0070C0"/>
                          </a:solidFill>
                          <a:effectLst/>
                        </a:rPr>
                        <a:t>tcpdump</a:t>
                      </a:r>
                      <a:r>
                        <a:rPr lang="en-GB" sz="1100" baseline="0" dirty="0" smtClean="0">
                          <a:solidFill>
                            <a:srgbClr val="0070C0"/>
                          </a:solidFill>
                          <a:effectLst/>
                        </a:rPr>
                        <a:t> tool return a ICMP packet containing the error message: “</a:t>
                      </a:r>
                      <a:r>
                        <a:rPr lang="en-GB" sz="1100" baseline="0" dirty="0" err="1" smtClean="0">
                          <a:solidFill>
                            <a:srgbClr val="0070C0"/>
                          </a:solidFill>
                          <a:effectLst/>
                        </a:rPr>
                        <a:t>udp</a:t>
                      </a:r>
                      <a:r>
                        <a:rPr lang="en-GB" sz="1100" baseline="0" dirty="0" smtClean="0">
                          <a:solidFill>
                            <a:srgbClr val="0070C0"/>
                          </a:solidFill>
                          <a:effectLst/>
                        </a:rPr>
                        <a:t> port 53 unreachable.” </a:t>
                      </a:r>
                      <a:endParaRPr lang="en-SG" sz="1100" dirty="0">
                        <a:effectLst/>
                      </a:endParaRPr>
                    </a:p>
                    <a:p>
                      <a:pPr>
                        <a:lnSpc>
                          <a:spcPct val="115000"/>
                        </a:lnSpc>
                        <a:spcAft>
                          <a:spcPts val="0"/>
                        </a:spcAft>
                      </a:pPr>
                      <a:r>
                        <a:rPr lang="en-SG" sz="1100" dirty="0">
                          <a:effectLst/>
                        </a:rPr>
                        <a:t> </a:t>
                      </a:r>
                    </a:p>
                    <a:p>
                      <a:pPr>
                        <a:lnSpc>
                          <a:spcPct val="115000"/>
                        </a:lnSpc>
                        <a:spcAft>
                          <a:spcPts val="0"/>
                        </a:spcAft>
                      </a:pPr>
                      <a:r>
                        <a:rPr lang="en-SG" sz="1100" dirty="0">
                          <a:effectLst/>
                        </a:rPr>
                        <a:t>Note key findings of the IT department's investigation (i.e., details related to the port affected, DNS server, etc.): </a:t>
                      </a:r>
                      <a:r>
                        <a:rPr lang="en-SG" sz="1100" dirty="0" smtClean="0">
                          <a:solidFill>
                            <a:srgbClr val="0070C0"/>
                          </a:solidFill>
                          <a:effectLst/>
                        </a:rPr>
                        <a:t>port 53 which is the port for DNS service</a:t>
                      </a:r>
                      <a:r>
                        <a:rPr lang="en-SG" sz="1100" baseline="0" dirty="0" smtClean="0">
                          <a:solidFill>
                            <a:srgbClr val="0070C0"/>
                          </a:solidFill>
                          <a:effectLst/>
                        </a:rPr>
                        <a:t> is unreachable. </a:t>
                      </a:r>
                      <a:r>
                        <a:rPr lang="en-SG" sz="1100" dirty="0" smtClean="0">
                          <a:solidFill>
                            <a:srgbClr val="0070C0"/>
                          </a:solidFill>
                          <a:effectLst/>
                        </a:rPr>
                        <a:t>the </a:t>
                      </a:r>
                      <a:r>
                        <a:rPr kumimoji="0" lang="en-GB" sz="1100" b="0" i="0" kern="1200" dirty="0" smtClean="0">
                          <a:solidFill>
                            <a:srgbClr val="0070C0"/>
                          </a:solidFill>
                          <a:effectLst/>
                          <a:latin typeface="+mn-lt"/>
                          <a:ea typeface="+mn-ea"/>
                          <a:cs typeface="+mn-cs"/>
                        </a:rPr>
                        <a:t>request</a:t>
                      </a:r>
                      <a:r>
                        <a:rPr kumimoji="0" lang="en-GB" sz="1100" b="0" i="0" kern="1200" baseline="0" dirty="0" smtClean="0">
                          <a:solidFill>
                            <a:srgbClr val="0070C0"/>
                          </a:solidFill>
                          <a:effectLst/>
                          <a:latin typeface="+mn-lt"/>
                          <a:ea typeface="+mn-ea"/>
                          <a:cs typeface="+mn-cs"/>
                        </a:rPr>
                        <a:t> for</a:t>
                      </a:r>
                      <a:r>
                        <a:rPr kumimoji="0" lang="en-GB" sz="1100" b="0" i="0" kern="1200" dirty="0" smtClean="0">
                          <a:solidFill>
                            <a:srgbClr val="0070C0"/>
                          </a:solidFill>
                          <a:effectLst/>
                          <a:latin typeface="+mn-lt"/>
                          <a:ea typeface="+mn-ea"/>
                          <a:cs typeface="+mn-cs"/>
                        </a:rPr>
                        <a:t> an IP address for the domain "www.yummyrecipesforme.com" did not go through. </a:t>
                      </a:r>
                      <a:endParaRPr lang="en-SG" sz="1100" dirty="0">
                        <a:effectLst/>
                      </a:endParaRPr>
                    </a:p>
                    <a:p>
                      <a:pPr>
                        <a:lnSpc>
                          <a:spcPct val="115000"/>
                        </a:lnSpc>
                        <a:spcAft>
                          <a:spcPts val="0"/>
                        </a:spcAft>
                      </a:pPr>
                      <a:r>
                        <a:rPr lang="en-SG" sz="1100" dirty="0">
                          <a:effectLst/>
                        </a:rPr>
                        <a:t> </a:t>
                      </a:r>
                    </a:p>
                    <a:p>
                      <a:pPr>
                        <a:lnSpc>
                          <a:spcPct val="115000"/>
                        </a:lnSpc>
                        <a:spcAft>
                          <a:spcPts val="0"/>
                        </a:spcAft>
                      </a:pPr>
                      <a:r>
                        <a:rPr lang="en-SG" sz="1100" dirty="0">
                          <a:effectLst/>
                        </a:rPr>
                        <a:t>Note a likely cause of the incident</a:t>
                      </a:r>
                      <a:r>
                        <a:rPr lang="en-SG" sz="1100" dirty="0" smtClean="0">
                          <a:effectLst/>
                        </a:rPr>
                        <a:t>: </a:t>
                      </a:r>
                      <a:r>
                        <a:rPr kumimoji="0" lang="en-GB" sz="1100" b="0" i="0" kern="1200" dirty="0" smtClean="0">
                          <a:solidFill>
                            <a:srgbClr val="0070C0"/>
                          </a:solidFill>
                          <a:effectLst/>
                          <a:latin typeface="+mn-lt"/>
                          <a:ea typeface="+mn-ea"/>
                          <a:cs typeface="+mn-cs"/>
                        </a:rPr>
                        <a:t>If the DNS server is fine, the team should check the firewall settings to see if someone changed the configuration to block network traffic on port 53. Firewalls offer the ability to block network traffic on specific ports. Port blocking can be used to stop or prevent an attack.</a:t>
                      </a:r>
                      <a:endParaRPr lang="en-SG" sz="1100" dirty="0">
                        <a:solidFill>
                          <a:srgbClr val="0070C0"/>
                        </a:solidFill>
                        <a:effectLst/>
                        <a:latin typeface="Arial"/>
                        <a:ea typeface="Arial"/>
                      </a:endParaRPr>
                    </a:p>
                  </a:txBody>
                  <a:tcPr marL="63500" marR="63500" marT="63500" marB="63500"/>
                </a:tc>
              </a:tr>
            </a:tbl>
          </a:graphicData>
        </a:graphic>
      </p:graphicFrame>
    </p:spTree>
    <p:extLst>
      <p:ext uri="{BB962C8B-B14F-4D97-AF65-F5344CB8AC3E}">
        <p14:creationId xmlns:p14="http://schemas.microsoft.com/office/powerpoint/2010/main" val="421721489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404664"/>
            <a:ext cx="8229600" cy="722344"/>
          </a:xfrm>
        </p:spPr>
        <p:txBody>
          <a:bodyPr>
            <a:noAutofit/>
          </a:bodyPr>
          <a:lstStyle/>
          <a:p>
            <a:r>
              <a:rPr lang="en-GB" sz="2800" dirty="0">
                <a:effectLst/>
              </a:rPr>
              <a:t>Cybersecurity Incident Report:</a:t>
            </a:r>
            <a:br>
              <a:rPr lang="en-GB" sz="2800" dirty="0">
                <a:effectLst/>
              </a:rPr>
            </a:br>
            <a:r>
              <a:rPr lang="en-GB" sz="2800" dirty="0">
                <a:effectLst/>
              </a:rPr>
              <a:t>Network Traffic </a:t>
            </a:r>
            <a:r>
              <a:rPr lang="en-GB" sz="2800" dirty="0" smtClean="0">
                <a:effectLst/>
              </a:rPr>
              <a:t>Analysis</a:t>
            </a:r>
            <a:endParaRPr lang="en-SG" sz="2800"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429059472"/>
              </p:ext>
            </p:extLst>
          </p:nvPr>
        </p:nvGraphicFramePr>
        <p:xfrm>
          <a:off x="323528" y="1196752"/>
          <a:ext cx="8568952" cy="2681600"/>
        </p:xfrm>
        <a:graphic>
          <a:graphicData uri="http://schemas.openxmlformats.org/drawingml/2006/table">
            <a:tbl>
              <a:tblPr>
                <a:tableStyleId>{5C22544A-7EE6-4342-B048-85BDC9FD1C3A}</a:tableStyleId>
              </a:tblPr>
              <a:tblGrid>
                <a:gridCol w="8568952"/>
              </a:tblGrid>
              <a:tr h="360040">
                <a:tc>
                  <a:txBody>
                    <a:bodyPr/>
                    <a:lstStyle/>
                    <a:p>
                      <a:pPr>
                        <a:lnSpc>
                          <a:spcPct val="115000"/>
                        </a:lnSpc>
                        <a:spcAft>
                          <a:spcPts val="0"/>
                        </a:spcAft>
                      </a:pPr>
                      <a:r>
                        <a:rPr lang="en-SG" sz="1200" b="1" dirty="0">
                          <a:effectLst/>
                        </a:rPr>
                        <a:t>Part 1: Provide a summary of the problem found in the DNS and ICMP </a:t>
                      </a:r>
                      <a:r>
                        <a:rPr lang="en-SG" sz="1200" b="1" dirty="0" smtClean="0">
                          <a:effectLst/>
                        </a:rPr>
                        <a:t>traffic </a:t>
                      </a:r>
                      <a:r>
                        <a:rPr lang="en-SG" sz="1200" b="1" dirty="0">
                          <a:effectLst/>
                        </a:rPr>
                        <a:t>log</a:t>
                      </a:r>
                      <a:r>
                        <a:rPr lang="en-SG" sz="1200" b="1" dirty="0" smtClean="0">
                          <a:effectLst/>
                        </a:rPr>
                        <a:t>.</a:t>
                      </a:r>
                      <a:endParaRPr lang="en-SG" sz="1100" b="1" dirty="0" smtClean="0">
                        <a:effectLst/>
                        <a:latin typeface="Arial"/>
                      </a:endParaRPr>
                    </a:p>
                  </a:txBody>
                  <a:tcPr marL="63500" marR="63500" marT="63500" marB="63500"/>
                </a:tc>
              </a:tr>
              <a:tr h="925060">
                <a:tc>
                  <a:txBody>
                    <a:bodyPr/>
                    <a:lstStyle/>
                    <a:p>
                      <a:r>
                        <a:rPr kumimoji="0" lang="en-GB" sz="1200" b="0" i="0" kern="1200" dirty="0" smtClean="0">
                          <a:solidFill>
                            <a:srgbClr val="0070C0"/>
                          </a:solidFill>
                          <a:effectLst/>
                          <a:latin typeface="+mn-lt"/>
                          <a:ea typeface="+mn-ea"/>
                          <a:cs typeface="+mn-cs"/>
                        </a:rPr>
                        <a:t>As part of the DNS protocol, the UDP protocol was used to contact the DNS server to retrieve the IP address for the domain name of yummyrecipesforme.com. The ICMP protocol was used to respond with an error message, indicating issues contacting the DNS server.</a:t>
                      </a:r>
                    </a:p>
                    <a:p>
                      <a:endParaRPr kumimoji="0" lang="en-GB" sz="1200" b="0" i="0" kern="1200" dirty="0" smtClean="0">
                        <a:solidFill>
                          <a:srgbClr val="0070C0"/>
                        </a:solidFill>
                        <a:effectLst/>
                        <a:latin typeface="+mn-lt"/>
                        <a:ea typeface="+mn-ea"/>
                        <a:cs typeface="+mn-cs"/>
                      </a:endParaRPr>
                    </a:p>
                    <a:p>
                      <a:r>
                        <a:rPr kumimoji="0" lang="en-GB" sz="1200" b="0" i="0" kern="1200" dirty="0" smtClean="0">
                          <a:solidFill>
                            <a:srgbClr val="0070C0"/>
                          </a:solidFill>
                          <a:effectLst/>
                          <a:latin typeface="+mn-lt"/>
                          <a:ea typeface="+mn-ea"/>
                          <a:cs typeface="+mn-cs"/>
                        </a:rPr>
                        <a:t>The UDP message going from our</a:t>
                      </a:r>
                      <a:r>
                        <a:rPr kumimoji="0" lang="en-GB" sz="1200" b="0" i="0" kern="1200" baseline="0" dirty="0" smtClean="0">
                          <a:solidFill>
                            <a:srgbClr val="0070C0"/>
                          </a:solidFill>
                          <a:effectLst/>
                          <a:latin typeface="+mn-lt"/>
                          <a:ea typeface="+mn-ea"/>
                          <a:cs typeface="+mn-cs"/>
                        </a:rPr>
                        <a:t> </a:t>
                      </a:r>
                      <a:r>
                        <a:rPr kumimoji="0" lang="en-GB" sz="1200" b="0" i="0" kern="1200" dirty="0" smtClean="0">
                          <a:solidFill>
                            <a:srgbClr val="0070C0"/>
                          </a:solidFill>
                          <a:effectLst/>
                          <a:latin typeface="+mn-lt"/>
                          <a:ea typeface="+mn-ea"/>
                          <a:cs typeface="+mn-cs"/>
                        </a:rPr>
                        <a:t>browser to the DNS server is shown in the first two lines of every log event. The ICMP error response from the DNS server to our browser is displayed in the third and fourth lines of every log event with the error message, “</a:t>
                      </a:r>
                      <a:r>
                        <a:rPr kumimoji="0" lang="en-GB" sz="1200" b="0" i="0" kern="1200" dirty="0" err="1" smtClean="0">
                          <a:solidFill>
                            <a:srgbClr val="0070C0"/>
                          </a:solidFill>
                          <a:effectLst/>
                          <a:latin typeface="+mn-lt"/>
                          <a:ea typeface="+mn-ea"/>
                          <a:cs typeface="+mn-cs"/>
                        </a:rPr>
                        <a:t>udp</a:t>
                      </a:r>
                      <a:r>
                        <a:rPr kumimoji="0" lang="en-GB" sz="1200" b="0" i="0" kern="1200" dirty="0" smtClean="0">
                          <a:solidFill>
                            <a:srgbClr val="0070C0"/>
                          </a:solidFill>
                          <a:effectLst/>
                          <a:latin typeface="+mn-lt"/>
                          <a:ea typeface="+mn-ea"/>
                          <a:cs typeface="+mn-cs"/>
                        </a:rPr>
                        <a:t> port 53 unreachable.” Since port 53 is associated with DNS protocol traffic, we know this is an issue with the DNS server. Issues with performing the DNS protocol are further evident because the plus sign after the query identification number 35084 indicates flags with the UDP message and the “A?” symbol indicates flags with performing DNS protocol operations. </a:t>
                      </a:r>
                    </a:p>
                    <a:p>
                      <a:endParaRPr kumimoji="0" lang="en-GB" sz="1200" b="0" i="0" kern="1200" dirty="0" smtClean="0">
                        <a:solidFill>
                          <a:srgbClr val="0070C0"/>
                        </a:solidFill>
                        <a:effectLst/>
                        <a:latin typeface="+mn-lt"/>
                        <a:ea typeface="+mn-ea"/>
                        <a:cs typeface="+mn-cs"/>
                      </a:endParaRPr>
                    </a:p>
                    <a:p>
                      <a:r>
                        <a:rPr kumimoji="0" lang="en-GB" sz="1200" b="0" i="0" kern="1200" dirty="0" smtClean="0">
                          <a:solidFill>
                            <a:srgbClr val="0070C0"/>
                          </a:solidFill>
                          <a:effectLst/>
                          <a:latin typeface="+mn-lt"/>
                          <a:ea typeface="+mn-ea"/>
                          <a:cs typeface="+mn-cs"/>
                        </a:rPr>
                        <a:t>Due to the ICMP error response message about port 53, it is highly likely that the DNS server is not responding. This assumption is further supported by the flags associated with the outgoing UDP message and domain name retrieval.</a:t>
                      </a:r>
                      <a:endParaRPr lang="en-SG" sz="1200" dirty="0">
                        <a:solidFill>
                          <a:srgbClr val="0070C0"/>
                        </a:solidFill>
                        <a:effectLst/>
                        <a:latin typeface="Arial"/>
                        <a:ea typeface="Arial"/>
                      </a:endParaRPr>
                    </a:p>
                  </a:txBody>
                  <a:tcPr marL="63500" marR="63500" marT="63500" marB="63500"/>
                </a:tc>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4174856776"/>
              </p:ext>
            </p:extLst>
          </p:nvPr>
        </p:nvGraphicFramePr>
        <p:xfrm>
          <a:off x="323528" y="4062877"/>
          <a:ext cx="8568952" cy="2475992"/>
        </p:xfrm>
        <a:graphic>
          <a:graphicData uri="http://schemas.openxmlformats.org/drawingml/2006/table">
            <a:tbl>
              <a:tblPr>
                <a:tableStyleId>{5C22544A-7EE6-4342-B048-85BDC9FD1C3A}</a:tableStyleId>
              </a:tblPr>
              <a:tblGrid>
                <a:gridCol w="8568952"/>
              </a:tblGrid>
              <a:tr h="0">
                <a:tc>
                  <a:txBody>
                    <a:bodyPr/>
                    <a:lstStyle/>
                    <a:p>
                      <a:pPr>
                        <a:lnSpc>
                          <a:spcPct val="115000"/>
                        </a:lnSpc>
                        <a:spcAft>
                          <a:spcPts val="0"/>
                        </a:spcAft>
                      </a:pPr>
                      <a:r>
                        <a:rPr lang="en-SG" sz="1200" b="1" dirty="0">
                          <a:effectLst/>
                        </a:rPr>
                        <a:t>Part 2: Explain your analysis of the data and provide at least one cause of the incident.</a:t>
                      </a:r>
                      <a:endParaRPr lang="en-SG" sz="1100" b="1" dirty="0">
                        <a:effectLst/>
                        <a:latin typeface="Arial"/>
                        <a:ea typeface="Arial"/>
                      </a:endParaRPr>
                    </a:p>
                  </a:txBody>
                  <a:tcPr marL="63500" marR="63500" marT="63500" marB="63500"/>
                </a:tc>
              </a:tr>
              <a:tr h="1910023">
                <a:tc>
                  <a:txBody>
                    <a:bodyPr/>
                    <a:lstStyle/>
                    <a:p>
                      <a:r>
                        <a:rPr kumimoji="0" lang="en-GB" sz="1200" b="0" i="0" kern="1200" dirty="0" smtClean="0">
                          <a:solidFill>
                            <a:srgbClr val="0070C0"/>
                          </a:solidFill>
                          <a:effectLst/>
                          <a:latin typeface="+mn-lt"/>
                          <a:ea typeface="+mn-ea"/>
                          <a:cs typeface="+mn-cs"/>
                        </a:rPr>
                        <a:t>The incident occurred today at 1:24 p.m. Customers notified the organization that they received the message “destination port unreachable” when they attempted to visit the website yummyrecipesforme.com. </a:t>
                      </a:r>
                    </a:p>
                    <a:p>
                      <a:endParaRPr kumimoji="0" lang="en-GB" sz="1200" b="0" i="0" kern="1200" dirty="0" smtClean="0">
                        <a:solidFill>
                          <a:srgbClr val="0070C0"/>
                        </a:solidFill>
                        <a:effectLst/>
                        <a:latin typeface="+mn-lt"/>
                        <a:ea typeface="+mn-ea"/>
                        <a:cs typeface="+mn-cs"/>
                      </a:endParaRPr>
                    </a:p>
                    <a:p>
                      <a:r>
                        <a:rPr kumimoji="0" lang="en-GB" sz="1200" b="0" i="0" kern="1200" dirty="0" smtClean="0">
                          <a:solidFill>
                            <a:srgbClr val="0070C0"/>
                          </a:solidFill>
                          <a:effectLst/>
                          <a:latin typeface="+mn-lt"/>
                          <a:ea typeface="+mn-ea"/>
                          <a:cs typeface="+mn-cs"/>
                        </a:rPr>
                        <a:t>We are currently investigating the issue so customers can access the website again. </a:t>
                      </a:r>
                      <a:br>
                        <a:rPr kumimoji="0" lang="en-GB" sz="1200" b="0" i="0" kern="1200" dirty="0" smtClean="0">
                          <a:solidFill>
                            <a:srgbClr val="0070C0"/>
                          </a:solidFill>
                          <a:effectLst/>
                          <a:latin typeface="+mn-lt"/>
                          <a:ea typeface="+mn-ea"/>
                          <a:cs typeface="+mn-cs"/>
                        </a:rPr>
                      </a:br>
                      <a:endParaRPr kumimoji="0" lang="en-GB" sz="1200" b="0" i="0" kern="1200" dirty="0" smtClean="0">
                        <a:solidFill>
                          <a:srgbClr val="0070C0"/>
                        </a:solidFill>
                        <a:effectLst/>
                        <a:latin typeface="+mn-lt"/>
                        <a:ea typeface="+mn-ea"/>
                        <a:cs typeface="+mn-cs"/>
                      </a:endParaRPr>
                    </a:p>
                    <a:p>
                      <a:r>
                        <a:rPr kumimoji="0" lang="en-GB" sz="1200" b="0" i="0" kern="1200" dirty="0" smtClean="0">
                          <a:solidFill>
                            <a:srgbClr val="0070C0"/>
                          </a:solidFill>
                          <a:effectLst/>
                          <a:latin typeface="+mn-lt"/>
                          <a:ea typeface="+mn-ea"/>
                          <a:cs typeface="+mn-cs"/>
                        </a:rPr>
                        <a:t>In our investigation into the issue, we conducted packet sniffing tests using </a:t>
                      </a:r>
                      <a:r>
                        <a:rPr kumimoji="0" lang="en-GB" sz="1200" b="0" i="0" kern="1200" dirty="0" err="1" smtClean="0">
                          <a:solidFill>
                            <a:srgbClr val="0070C0"/>
                          </a:solidFill>
                          <a:effectLst/>
                          <a:latin typeface="+mn-lt"/>
                          <a:ea typeface="+mn-ea"/>
                          <a:cs typeface="+mn-cs"/>
                        </a:rPr>
                        <a:t>tcpdump</a:t>
                      </a:r>
                      <a:r>
                        <a:rPr kumimoji="0" lang="en-GB" sz="1200" b="0" i="0" kern="1200" dirty="0" smtClean="0">
                          <a:solidFill>
                            <a:srgbClr val="0070C0"/>
                          </a:solidFill>
                          <a:effectLst/>
                          <a:latin typeface="+mn-lt"/>
                          <a:ea typeface="+mn-ea"/>
                          <a:cs typeface="+mn-cs"/>
                        </a:rPr>
                        <a:t>. In the resulting log file, we found that DNS port 53 was unreachable.</a:t>
                      </a:r>
                    </a:p>
                    <a:p>
                      <a:endParaRPr kumimoji="0" lang="en-GB" sz="1200" b="0" i="0" kern="1200" dirty="0" smtClean="0">
                        <a:solidFill>
                          <a:srgbClr val="0070C0"/>
                        </a:solidFill>
                        <a:effectLst/>
                        <a:latin typeface="+mn-lt"/>
                        <a:ea typeface="+mn-ea"/>
                        <a:cs typeface="+mn-cs"/>
                      </a:endParaRPr>
                    </a:p>
                    <a:p>
                      <a:r>
                        <a:rPr kumimoji="0" lang="en-GB" sz="1200" b="0" i="0" kern="1200" dirty="0" smtClean="0">
                          <a:solidFill>
                            <a:srgbClr val="0070C0"/>
                          </a:solidFill>
                          <a:effectLst/>
                          <a:latin typeface="+mn-lt"/>
                          <a:ea typeface="+mn-ea"/>
                          <a:cs typeface="+mn-cs"/>
                        </a:rPr>
                        <a:t>The next step is to identify whether the DNS server is down or traffic to port 53 is blocked by the firewall.</a:t>
                      </a:r>
                    </a:p>
                    <a:p>
                      <a:endParaRPr kumimoji="0" lang="en-GB" sz="1200" b="0" i="0" kern="1200" dirty="0" smtClean="0">
                        <a:solidFill>
                          <a:srgbClr val="0070C0"/>
                        </a:solidFill>
                        <a:effectLst/>
                        <a:latin typeface="+mn-lt"/>
                        <a:ea typeface="+mn-ea"/>
                        <a:cs typeface="+mn-cs"/>
                      </a:endParaRPr>
                    </a:p>
                    <a:p>
                      <a:r>
                        <a:rPr kumimoji="0" lang="en-GB" sz="1200" b="0" i="0" kern="1200" dirty="0" smtClean="0">
                          <a:solidFill>
                            <a:srgbClr val="0070C0"/>
                          </a:solidFill>
                          <a:effectLst/>
                          <a:latin typeface="+mn-lt"/>
                          <a:ea typeface="+mn-ea"/>
                          <a:cs typeface="+mn-cs"/>
                        </a:rPr>
                        <a:t>DNS server might be down due to a successful Denial of Service attack or a misconfiguration.</a:t>
                      </a:r>
                      <a:endParaRPr lang="en-SG" sz="1100" dirty="0">
                        <a:solidFill>
                          <a:srgbClr val="0070C0"/>
                        </a:solidFill>
                        <a:effectLst/>
                        <a:latin typeface="Arial"/>
                        <a:ea typeface="Arial"/>
                      </a:endParaRPr>
                    </a:p>
                  </a:txBody>
                  <a:tcPr marL="63500" marR="63500" marT="63500" marB="63500"/>
                </a:tc>
              </a:tr>
            </a:tbl>
          </a:graphicData>
        </a:graphic>
      </p:graphicFrame>
    </p:spTree>
    <p:extLst>
      <p:ext uri="{BB962C8B-B14F-4D97-AF65-F5344CB8AC3E}">
        <p14:creationId xmlns:p14="http://schemas.microsoft.com/office/powerpoint/2010/main" val="662038909"/>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3.xml.rels><?xml version="1.0" encoding="UTF-8" standalone="yes"?>
<Relationships xmlns="http://schemas.openxmlformats.org/package/2006/relationships"><Relationship Id="rId1" Type="http://schemas.openxmlformats.org/officeDocument/2006/relationships/image" Target="../media/image2.jpeg"/></Relationships>
</file>

<file path=ppt/theme/_rels/theme4.xml.rels><?xml version="1.0" encoding="UTF-8" standalone="yes"?>
<Relationships xmlns="http://schemas.openxmlformats.org/package/2006/relationships"><Relationship Id="rId1" Type="http://schemas.openxmlformats.org/officeDocument/2006/relationships/image" Target="../media/image3.jpeg"/></Relationships>
</file>

<file path=ppt/theme/theme1.xml><?xml version="1.0" encoding="utf-8"?>
<a:theme xmlns:a="http://schemas.openxmlformats.org/drawingml/2006/main" name="Executive">
  <a:themeElements>
    <a:clrScheme name="Executive">
      <a:dk1>
        <a:sysClr val="windowText" lastClr="000000"/>
      </a:dk1>
      <a:lt1>
        <a:sysClr val="window" lastClr="FFFFFF"/>
      </a:lt1>
      <a:dk2>
        <a:srgbClr val="2F5897"/>
      </a:dk2>
      <a:lt2>
        <a:srgbClr val="E4E9EF"/>
      </a:lt2>
      <a:accent1>
        <a:srgbClr val="6076B4"/>
      </a:accent1>
      <a:accent2>
        <a:srgbClr val="9C5252"/>
      </a:accent2>
      <a:accent3>
        <a:srgbClr val="E68422"/>
      </a:accent3>
      <a:accent4>
        <a:srgbClr val="846648"/>
      </a:accent4>
      <a:accent5>
        <a:srgbClr val="63891F"/>
      </a:accent5>
      <a:accent6>
        <a:srgbClr val="758085"/>
      </a:accent6>
      <a:hlink>
        <a:srgbClr val="3399FF"/>
      </a:hlink>
      <a:folHlink>
        <a:srgbClr val="B2B2B2"/>
      </a:folHlink>
    </a:clrScheme>
    <a:fontScheme name="Executive">
      <a:majorFont>
        <a:latin typeface="Century Gothic"/>
        <a:ea typeface=""/>
        <a:cs typeface=""/>
        <a:font script="Jpan" typeface="HGｺﾞｼｯｸM"/>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alatino Linotype"/>
        <a:ea typeface=""/>
        <a:cs typeface=""/>
        <a:font script="Jpan" typeface="HGS明朝E"/>
        <a:font script="Hang" typeface="맑은 고딕"/>
        <a:font script="Hans" typeface="宋体"/>
        <a:font script="Hant" typeface="新細明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Executiv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8575" cap="flat" cmpd="sng" algn="ctr">
          <a:solidFill>
            <a:schemeClr val="phClr"/>
          </a:solidFill>
          <a:prstDash val="solid"/>
        </a:ln>
        <a:ln w="508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50000">
              <a:schemeClr val="phClr">
                <a:tint val="80000"/>
                <a:satMod val="250000"/>
              </a:schemeClr>
            </a:gs>
            <a:gs pos="76000">
              <a:schemeClr val="phClr">
                <a:tint val="90000"/>
                <a:shade val="90000"/>
                <a:satMod val="200000"/>
              </a:schemeClr>
            </a:gs>
            <a:gs pos="92000">
              <a:schemeClr val="phClr">
                <a:tint val="90000"/>
                <a:shade val="70000"/>
                <a:satMod val="250000"/>
              </a:schemeClr>
            </a:gs>
          </a:gsLst>
          <a:path path="circle">
            <a:fillToRect l="50000" t="50000" r="50000" b="50000"/>
          </a:path>
        </a:gradFill>
        <a:blipFill>
          <a:blip xmlns:r="http://schemas.openxmlformats.org/officeDocument/2006/relationships" r:embed="rId1">
            <a:duotone>
              <a:schemeClr val="phClr">
                <a:tint val="95000"/>
              </a:schemeClr>
              <a:schemeClr val="phClr">
                <a:shade val="9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4.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scene3d>
            <a:camera prst="orthographicFront">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301</TotalTime>
  <Words>1000</Words>
  <Application>Microsoft Office PowerPoint</Application>
  <PresentationFormat>On-screen Show (4:3)</PresentationFormat>
  <Paragraphs>85</Paragraphs>
  <Slides>6</Slides>
  <Notes>0</Notes>
  <HiddenSlides>0</HiddenSlides>
  <MMClips>0</MMClips>
  <ScaleCrop>false</ScaleCrop>
  <HeadingPairs>
    <vt:vector size="4" baseType="variant">
      <vt:variant>
        <vt:lpstr>Theme</vt:lpstr>
      </vt:variant>
      <vt:variant>
        <vt:i4>4</vt:i4>
      </vt:variant>
      <vt:variant>
        <vt:lpstr>Slide Titles</vt:lpstr>
      </vt:variant>
      <vt:variant>
        <vt:i4>6</vt:i4>
      </vt:variant>
    </vt:vector>
  </HeadingPairs>
  <TitlesOfParts>
    <vt:vector size="10" baseType="lpstr">
      <vt:lpstr>Executive</vt:lpstr>
      <vt:lpstr>Office Theme</vt:lpstr>
      <vt:lpstr>Equity</vt:lpstr>
      <vt:lpstr>Flow</vt:lpstr>
      <vt:lpstr>Scenario</vt:lpstr>
      <vt:lpstr>PowerPoint Presentation</vt:lpstr>
      <vt:lpstr>PowerPoint Presentation</vt:lpstr>
      <vt:lpstr>Example of a Cybersecurity Incident Report</vt:lpstr>
      <vt:lpstr>Cybersecurity Incident Report: Network Traffic Analysis</vt:lpstr>
      <vt:lpstr>Cybersecurity Incident Report: Network Traffic Analysis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Scenario</dc:title>
  <dc:creator>ZhiQian Chua</dc:creator>
  <cp:lastModifiedBy>ZhiQian Chua</cp:lastModifiedBy>
  <cp:revision>15</cp:revision>
  <dcterms:created xsi:type="dcterms:W3CDTF">2026-04-11T03:58:54Z</dcterms:created>
  <dcterms:modified xsi:type="dcterms:W3CDTF">2026-04-13T06:23:09Z</dcterms:modified>
</cp:coreProperties>
</file>