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 id="2147483708" r:id="rId3"/>
  </p:sldMasterIdLst>
  <p:sldIdLst>
    <p:sldId id="256" r:id="rId4"/>
    <p:sldId id="258" r:id="rId5"/>
    <p:sldId id="259" r:id="rId6"/>
    <p:sldId id="260"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9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13/4/2026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81D1448-F56A-427E-B4D3-154671AD8545}" type="datetimeFigureOut">
              <a:rPr lang="en-SG" smtClean="0"/>
              <a:t>13/4/2026</a:t>
            </a:fld>
            <a:endParaRPr lang="en-SG"/>
          </a:p>
        </p:txBody>
      </p:sp>
      <p:sp>
        <p:nvSpPr>
          <p:cNvPr id="19" name="Footer Placeholder 18"/>
          <p:cNvSpPr>
            <a:spLocks noGrp="1"/>
          </p:cNvSpPr>
          <p:nvPr>
            <p:ph type="ftr" sz="quarter" idx="11"/>
          </p:nvPr>
        </p:nvSpPr>
        <p:spPr/>
        <p:txBody>
          <a:bodyPr/>
          <a:lstStyle/>
          <a:p>
            <a:endParaRPr lang="en-SG"/>
          </a:p>
        </p:txBody>
      </p:sp>
      <p:sp>
        <p:nvSpPr>
          <p:cNvPr id="27" name="Slide Number Placeholder 26"/>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81D1448-F56A-427E-B4D3-154671AD8545}" type="datetimeFigureOut">
              <a:rPr lang="en-SG" smtClean="0"/>
              <a:t>13/4/2026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13/4/2026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13/4/2026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13/4/2026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a:xfrm>
            <a:off x="8077200" y="6356350"/>
            <a:ext cx="609600" cy="365125"/>
          </a:xfrm>
        </p:spPr>
        <p:txBody>
          <a:bodyPr/>
          <a:lstStyle/>
          <a:p>
            <a:fld id="{C5804EC2-4BFC-4480-AE2A-23FA0465B8FA}" type="slidenum">
              <a:rPr lang="en-SG" smtClean="0"/>
              <a:t>‹#›</a:t>
            </a:fld>
            <a:endParaRPr lang="en-S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13/4/2026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13/4/2026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13/4/2026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81D1448-F56A-427E-B4D3-154671AD8545}" type="datetimeFigureOut">
              <a:rPr lang="en-SG" smtClean="0"/>
              <a:t>13/4/2026</a:t>
            </a:fld>
            <a:endParaRPr lang="en-S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S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5804EC2-4BFC-4480-AE2A-23FA0465B8FA}" type="slidenum">
              <a:rPr lang="en-SG" smtClean="0"/>
              <a:t>‹#›</a:t>
            </a:fld>
            <a:endParaRPr lang="en-S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04664"/>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2011288"/>
            <a:ext cx="7776864" cy="3865984"/>
          </a:xfrm>
        </p:spPr>
        <p:txBody>
          <a:bodyPr>
            <a:noAutofit/>
          </a:bodyPr>
          <a:lstStyle/>
          <a:p>
            <a:pPr algn="l"/>
            <a:r>
              <a:rPr lang="en-GB" sz="1200" dirty="0" smtClean="0">
                <a:solidFill>
                  <a:schemeClr val="tx1"/>
                </a:solidFill>
              </a:rPr>
              <a:t>You </a:t>
            </a:r>
            <a:r>
              <a:rPr lang="en-GB" sz="1200" dirty="0">
                <a:solidFill>
                  <a:schemeClr val="tx1"/>
                </a:solidFill>
              </a:rPr>
              <a:t>work as a security analyst for a travel agency that advertises sales and promotions on the company’s website. The employees of the company regularly access the company’s sales webpage to search for vacation packages their customers might like. </a:t>
            </a:r>
            <a:endParaRPr lang="en-GB" sz="1200" dirty="0" smtClean="0">
              <a:solidFill>
                <a:schemeClr val="tx1"/>
              </a:solidFill>
            </a:endParaRPr>
          </a:p>
          <a:p>
            <a:pPr algn="l"/>
            <a:endParaRPr lang="en-GB" sz="1200" dirty="0">
              <a:solidFill>
                <a:schemeClr val="tx1"/>
              </a:solidFill>
            </a:endParaRPr>
          </a:p>
          <a:p>
            <a:pPr algn="l"/>
            <a:r>
              <a:rPr lang="en-GB" sz="1200" dirty="0">
                <a:solidFill>
                  <a:schemeClr val="tx1"/>
                </a:solidFill>
              </a:rPr>
              <a:t>One afternoon, you receive an automated alert from your monitoring system indicating a problem with the web server. You attempt to visit the company’s website, but you receive a connection timeout error message in your browser</a:t>
            </a:r>
            <a:r>
              <a:rPr lang="en-GB" sz="1200" dirty="0" smtClean="0">
                <a:solidFill>
                  <a:schemeClr val="tx1"/>
                </a:solidFill>
              </a:rPr>
              <a:t>.</a:t>
            </a:r>
          </a:p>
          <a:p>
            <a:pPr algn="l"/>
            <a:endParaRPr lang="en-GB" sz="1200" dirty="0">
              <a:solidFill>
                <a:schemeClr val="tx1"/>
              </a:solidFill>
            </a:endParaRPr>
          </a:p>
          <a:p>
            <a:pPr algn="l"/>
            <a:r>
              <a:rPr lang="en-GB" sz="1200" dirty="0">
                <a:solidFill>
                  <a:schemeClr val="tx1"/>
                </a:solidFill>
              </a:rPr>
              <a:t>You use a packet sniffer to capture data packets in transit to and from the web server. You notice a large number of TCP SYN requests coming from an unfamiliar IP address. The web server appears to be overwhelmed by the volume of incoming traffic and is losing its ability to respond to the abnormally large number of SYN requests. You suspect the server is under attack by a malicious actor. </a:t>
            </a:r>
            <a:endParaRPr lang="en-GB" sz="1200" dirty="0" smtClean="0">
              <a:solidFill>
                <a:schemeClr val="tx1"/>
              </a:solidFill>
            </a:endParaRPr>
          </a:p>
          <a:p>
            <a:pPr algn="l"/>
            <a:endParaRPr lang="en-GB" sz="1200" dirty="0">
              <a:solidFill>
                <a:schemeClr val="tx1"/>
              </a:solidFill>
            </a:endParaRPr>
          </a:p>
          <a:p>
            <a:pPr algn="l"/>
            <a:r>
              <a:rPr lang="en-GB" sz="1200" dirty="0">
                <a:solidFill>
                  <a:schemeClr val="tx1"/>
                </a:solidFill>
              </a:rPr>
              <a:t>You take the server offline temporarily so that the machine can recover and return to a normal operating status. You also configure the company’s firewall to block the IP address that was sending the abnormal number of SYN requests. You know that your IP blocking solution won’t last long, as an attacker can spoof other IP addresses to get around this block. You need to alert your manager about this problem quickly and discuss the next steps to stop this attacker and prevent this problem from happening again. You will need to be prepared to tell your boss about the type of attack you discovered and how it was affecting the web server and employees.</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3528" y="265286"/>
            <a:ext cx="8568952" cy="5909310"/>
          </a:xfrm>
          <a:prstGeom prst="rect">
            <a:avLst/>
          </a:prstGeom>
          <a:noFill/>
        </p:spPr>
        <p:txBody>
          <a:bodyPr wrap="square" rtlCol="0">
            <a:spAutoFit/>
          </a:bodyPr>
          <a:lstStyle/>
          <a:p>
            <a:r>
              <a:rPr lang="en-GB" sz="1600" b="1" dirty="0" smtClean="0"/>
              <a:t>Identify the type of attack causing this network interruption</a:t>
            </a:r>
            <a:endParaRPr lang="en-GB" sz="1600" b="1" dirty="0"/>
          </a:p>
          <a:p>
            <a:r>
              <a:rPr lang="en-GB" sz="1600" dirty="0" smtClean="0"/>
              <a:t>As </a:t>
            </a:r>
            <a:r>
              <a:rPr lang="en-GB" sz="1600" dirty="0"/>
              <a:t>a security analyst, identifying the type of network attack based on the incident is the first step to managing the attack and preventing similar attacks in the future. </a:t>
            </a:r>
          </a:p>
          <a:p>
            <a:r>
              <a:rPr lang="en-GB" sz="1600" dirty="0"/>
              <a:t>Here are some questions to consider when determining what type of attack occurred: </a:t>
            </a:r>
          </a:p>
          <a:p>
            <a:pPr marL="285750" indent="-285750">
              <a:buFont typeface="Arial" panose="020B0604020202020204" pitchFamily="34" charset="0"/>
              <a:buChar char="•"/>
            </a:pPr>
            <a:r>
              <a:rPr lang="en-GB" sz="1600" dirty="0"/>
              <a:t>What do you currently understand about network attacks?</a:t>
            </a:r>
          </a:p>
          <a:p>
            <a:pPr marL="285750" indent="-285750">
              <a:buFont typeface="Arial" panose="020B0604020202020204" pitchFamily="34" charset="0"/>
              <a:buChar char="•"/>
            </a:pPr>
            <a:r>
              <a:rPr lang="en-GB" sz="1600" dirty="0"/>
              <a:t>Which type of attack would likely result in the symptoms described in the scenario? </a:t>
            </a:r>
          </a:p>
          <a:p>
            <a:pPr marL="285750" indent="-285750">
              <a:buFont typeface="Arial" panose="020B0604020202020204" pitchFamily="34" charset="0"/>
              <a:buChar char="•"/>
            </a:pPr>
            <a:r>
              <a:rPr lang="en-GB" sz="1600" dirty="0"/>
              <a:t>What is the difference between a denial of service (</a:t>
            </a:r>
            <a:r>
              <a:rPr lang="en-GB" sz="1600" dirty="0" err="1"/>
              <a:t>DoS</a:t>
            </a:r>
            <a:r>
              <a:rPr lang="en-GB" sz="1600" dirty="0"/>
              <a:t>) and distributed denial of service (DDoS)? </a:t>
            </a:r>
          </a:p>
          <a:p>
            <a:pPr marL="285750" indent="-285750">
              <a:buFont typeface="Arial" panose="020B0604020202020204" pitchFamily="34" charset="0"/>
              <a:buChar char="•"/>
            </a:pPr>
            <a:r>
              <a:rPr lang="en-GB" sz="1600" dirty="0"/>
              <a:t>Why is the website taking a long time to load and reporting a connection timeout error?</a:t>
            </a:r>
          </a:p>
          <a:p>
            <a:r>
              <a:rPr lang="en-GB" sz="1600" dirty="0"/>
              <a:t>Review the Wireshark reading from step 2 and try to identify patterns in the logged network traffic. </a:t>
            </a:r>
            <a:r>
              <a:rPr lang="en-GB" sz="1600" dirty="0" err="1"/>
              <a:t>Analyze</a:t>
            </a:r>
            <a:r>
              <a:rPr lang="en-GB" sz="1600" dirty="0"/>
              <a:t> the patterns to determine which type of network attack occurred. Write your analysis in section one of the Cybersecurity incident report template provided. </a:t>
            </a:r>
          </a:p>
          <a:p>
            <a:endParaRPr lang="en-GB" sz="1000" dirty="0" smtClean="0"/>
          </a:p>
          <a:p>
            <a:endParaRPr lang="en-GB" sz="1400" dirty="0"/>
          </a:p>
          <a:p>
            <a:r>
              <a:rPr lang="en-GB" sz="1600" b="1" dirty="0"/>
              <a:t>Explain </a:t>
            </a:r>
            <a:r>
              <a:rPr lang="en-GB" sz="1600" b="1" dirty="0" smtClean="0"/>
              <a:t>how the attack is causing the website to malfunction</a:t>
            </a:r>
            <a:endParaRPr lang="en-GB" sz="1600" b="1" dirty="0"/>
          </a:p>
          <a:p>
            <a:r>
              <a:rPr lang="en-GB" sz="1600" dirty="0"/>
              <a:t>Review the Wireshark reading from step 2, then write your analysis in section two of the Cybersecurity incident report template provided.</a:t>
            </a:r>
          </a:p>
          <a:p>
            <a:r>
              <a:rPr lang="en-GB" sz="1600" dirty="0"/>
              <a:t>When writing your report, discuss the network devices and activities that are involved in the interruption. Include the following information in your explanation:</a:t>
            </a:r>
          </a:p>
          <a:p>
            <a:pPr marL="285750" indent="-285750">
              <a:buFont typeface="Arial" panose="020B0604020202020204" pitchFamily="34" charset="0"/>
              <a:buChar char="•"/>
            </a:pPr>
            <a:r>
              <a:rPr lang="en-GB" sz="1600" dirty="0"/>
              <a:t>Describe the attack. What are the main symptoms or characteristics of this specific type of attack? </a:t>
            </a:r>
          </a:p>
          <a:p>
            <a:pPr marL="285750" indent="-285750">
              <a:buFont typeface="Arial" panose="020B0604020202020204" pitchFamily="34" charset="0"/>
              <a:buChar char="•"/>
            </a:pPr>
            <a:r>
              <a:rPr lang="en-GB" sz="1600" dirty="0"/>
              <a:t>Explain how it affected the organization’s network. How does this specific network attack affect the website and how it functions?</a:t>
            </a:r>
          </a:p>
          <a:p>
            <a:pPr marL="285750" indent="-285750">
              <a:buFont typeface="Arial" panose="020B0604020202020204" pitchFamily="34" charset="0"/>
              <a:buChar char="•"/>
            </a:pPr>
            <a:r>
              <a:rPr lang="en-GB" sz="1600" dirty="0"/>
              <a:t>Describe the potential consequences of this attack and how it negatively affects the organization. </a:t>
            </a:r>
          </a:p>
          <a:p>
            <a:r>
              <a:rPr lang="en-GB" sz="1600" i="1" dirty="0"/>
              <a:t>Optional: </a:t>
            </a:r>
            <a:r>
              <a:rPr lang="en-GB" sz="1600" dirty="0"/>
              <a:t>Suggest potential ways to secure the network so this attack can be prevented in the future.</a:t>
            </a:r>
          </a:p>
          <a:p>
            <a:endParaRPr lang="en-GB" dirty="0"/>
          </a:p>
        </p:txBody>
      </p:sp>
    </p:spTree>
    <p:extLst>
      <p:ext uri="{BB962C8B-B14F-4D97-AF65-F5344CB8AC3E}">
        <p14:creationId xmlns:p14="http://schemas.microsoft.com/office/powerpoint/2010/main" val="39314002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GB" sz="2800" dirty="0">
                <a:effectLst/>
              </a:rPr>
              <a:t>Cybersecurity Incident Report:</a:t>
            </a:r>
            <a:br>
              <a:rPr lang="en-GB" sz="2800" dirty="0">
                <a:effectLst/>
              </a:rPr>
            </a:br>
            <a:r>
              <a:rPr lang="en-GB" sz="2800" dirty="0">
                <a:effectLst/>
              </a:rPr>
              <a:t>Network </a:t>
            </a:r>
            <a:r>
              <a:rPr lang="en-GB" sz="2800" dirty="0" smtClean="0">
                <a:effectLst/>
              </a:rPr>
              <a:t>Attack Analysis</a:t>
            </a:r>
            <a:endParaRPr lang="en-SG"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8868817"/>
              </p:ext>
            </p:extLst>
          </p:nvPr>
        </p:nvGraphicFramePr>
        <p:xfrm>
          <a:off x="323528" y="1401768"/>
          <a:ext cx="8568952" cy="1889252"/>
        </p:xfrm>
        <a:graphic>
          <a:graphicData uri="http://schemas.openxmlformats.org/drawingml/2006/table">
            <a:tbl>
              <a:tblPr>
                <a:tableStyleId>{5C22544A-7EE6-4342-B048-85BDC9FD1C3A}</a:tableStyleId>
              </a:tblPr>
              <a:tblGrid>
                <a:gridCol w="8568952"/>
              </a:tblGrid>
              <a:tr h="279400">
                <a:tc>
                  <a:txBody>
                    <a:bodyPr/>
                    <a:lstStyle/>
                    <a:p>
                      <a:pPr>
                        <a:lnSpc>
                          <a:spcPct val="115000"/>
                        </a:lnSpc>
                        <a:spcAft>
                          <a:spcPts val="0"/>
                        </a:spcAft>
                      </a:pPr>
                      <a:r>
                        <a:rPr lang="en-SG" sz="1400" b="1" dirty="0" smtClean="0">
                          <a:effectLst/>
                        </a:rPr>
                        <a:t>Part 1: </a:t>
                      </a:r>
                      <a:r>
                        <a:rPr lang="en-GB" sz="1400" b="1" dirty="0" smtClean="0">
                          <a:effectLst/>
                        </a:rPr>
                        <a:t>Identify the type of attack that may have caused this network interruption</a:t>
                      </a:r>
                    </a:p>
                  </a:txBody>
                  <a:tcPr marL="63500" marR="63500" marT="63500" marB="63500"/>
                </a:tc>
              </a:tr>
              <a:tr h="0">
                <a:tc>
                  <a:txBody>
                    <a:bodyPr/>
                    <a:lstStyle/>
                    <a:p>
                      <a:r>
                        <a:rPr lang="en-GB" sz="1200" dirty="0" smtClean="0">
                          <a:effectLst/>
                        </a:rPr>
                        <a:t>One potential explanation for the website's connection timeout error message is</a:t>
                      </a:r>
                      <a:r>
                        <a:rPr lang="en-SG" sz="1200" dirty="0" smtClean="0">
                          <a:effectLst/>
                        </a:rPr>
                        <a:t>: </a:t>
                      </a:r>
                      <a:r>
                        <a:rPr lang="en-SG" sz="1200" dirty="0" smtClean="0">
                          <a:solidFill>
                            <a:srgbClr val="0070C0"/>
                          </a:solidFill>
                          <a:effectLst/>
                        </a:rPr>
                        <a:t>overwhelmed</a:t>
                      </a:r>
                      <a:r>
                        <a:rPr lang="en-SG" sz="1200" baseline="0" dirty="0" smtClean="0">
                          <a:solidFill>
                            <a:srgbClr val="0070C0"/>
                          </a:solidFill>
                          <a:effectLst/>
                        </a:rPr>
                        <a:t> network traffic, causing it to crash.</a:t>
                      </a:r>
                      <a:endParaRPr lang="en-SG" sz="1200" dirty="0" smtClean="0">
                        <a:solidFill>
                          <a:srgbClr val="0070C0"/>
                        </a:solidFill>
                        <a:effectLst/>
                      </a:endParaRPr>
                    </a:p>
                    <a:p>
                      <a:r>
                        <a:rPr lang="en-SG" sz="1200" dirty="0" smtClean="0">
                          <a:effectLst/>
                        </a:rPr>
                        <a:t> </a:t>
                      </a:r>
                    </a:p>
                    <a:p>
                      <a:pPr>
                        <a:lnSpc>
                          <a:spcPct val="115000"/>
                        </a:lnSpc>
                        <a:spcAft>
                          <a:spcPts val="0"/>
                        </a:spcAft>
                      </a:pPr>
                      <a:r>
                        <a:rPr lang="en-SG" sz="1200" dirty="0" smtClean="0">
                          <a:effectLst/>
                        </a:rPr>
                        <a:t>The logs show that: </a:t>
                      </a:r>
                      <a:endParaRPr kumimoji="0" lang="en-SG" sz="1200" b="0" i="0" kern="1200" dirty="0" smtClean="0">
                        <a:solidFill>
                          <a:srgbClr val="0070C0"/>
                        </a:solidFill>
                        <a:effectLst/>
                        <a:latin typeface="+mn-lt"/>
                        <a:ea typeface="+mn-ea"/>
                        <a:cs typeface="+mn-cs"/>
                      </a:endParaRPr>
                    </a:p>
                    <a:p>
                      <a:pPr>
                        <a:lnSpc>
                          <a:spcPct val="115000"/>
                        </a:lnSpc>
                        <a:spcAft>
                          <a:spcPts val="0"/>
                        </a:spcAft>
                      </a:pPr>
                      <a:endParaRPr kumimoji="0" lang="en-SG" sz="1200" b="0" i="0" kern="1200" dirty="0" smtClean="0">
                        <a:solidFill>
                          <a:srgbClr val="0070C0"/>
                        </a:solidFill>
                        <a:effectLst/>
                        <a:latin typeface="+mn-lt"/>
                        <a:ea typeface="+mn-ea"/>
                        <a:cs typeface="+mn-cs"/>
                      </a:endParaRPr>
                    </a:p>
                    <a:p>
                      <a:pPr>
                        <a:lnSpc>
                          <a:spcPct val="115000"/>
                        </a:lnSpc>
                        <a:spcAft>
                          <a:spcPts val="0"/>
                        </a:spcAft>
                      </a:pPr>
                      <a:r>
                        <a:rPr lang="en-SG" sz="1200" dirty="0" smtClean="0">
                          <a:effectLst/>
                        </a:rPr>
                        <a:t>This event could be: </a:t>
                      </a:r>
                      <a:r>
                        <a:rPr lang="en-SG" sz="1200" dirty="0" smtClean="0">
                          <a:solidFill>
                            <a:srgbClr val="0070C0"/>
                          </a:solidFill>
                          <a:effectLst/>
                        </a:rPr>
                        <a:t>a </a:t>
                      </a:r>
                      <a:r>
                        <a:rPr lang="en-SG" sz="1200" dirty="0" err="1" smtClean="0">
                          <a:solidFill>
                            <a:srgbClr val="0070C0"/>
                          </a:solidFill>
                          <a:effectLst/>
                        </a:rPr>
                        <a:t>DoS</a:t>
                      </a:r>
                      <a:r>
                        <a:rPr lang="en-SG" sz="1200" baseline="0" dirty="0" smtClean="0">
                          <a:solidFill>
                            <a:srgbClr val="0070C0"/>
                          </a:solidFill>
                          <a:effectLst/>
                        </a:rPr>
                        <a:t> or DDoS attack</a:t>
                      </a:r>
                      <a:endParaRPr lang="en-SG" sz="1200" dirty="0" smtClean="0">
                        <a:solidFill>
                          <a:srgbClr val="0070C0"/>
                        </a:solidFill>
                        <a:effectLst/>
                      </a:endParaRPr>
                    </a:p>
                    <a:p>
                      <a:pPr>
                        <a:lnSpc>
                          <a:spcPct val="115000"/>
                        </a:lnSpc>
                        <a:spcAft>
                          <a:spcPts val="0"/>
                        </a:spcAft>
                      </a:pPr>
                      <a:r>
                        <a:rPr lang="en-SG" sz="1200" dirty="0">
                          <a:effectLst/>
                        </a:rPr>
                        <a:t> </a:t>
                      </a:r>
                      <a:endParaRPr lang="en-SG" sz="1200" dirty="0">
                        <a:effectLst/>
                        <a:latin typeface="Arial"/>
                        <a:ea typeface="Arial"/>
                      </a:endParaRPr>
                    </a:p>
                  </a:txBody>
                  <a:tcPr marL="63500" marR="63500" marT="63500" marB="635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234752337"/>
              </p:ext>
            </p:extLst>
          </p:nvPr>
        </p:nvGraphicFramePr>
        <p:xfrm>
          <a:off x="323528" y="3258120"/>
          <a:ext cx="8568952" cy="3483248"/>
        </p:xfrm>
        <a:graphic>
          <a:graphicData uri="http://schemas.openxmlformats.org/drawingml/2006/table">
            <a:tbl>
              <a:tblPr>
                <a:tableStyleId>{5C22544A-7EE6-4342-B048-85BDC9FD1C3A}</a:tableStyleId>
              </a:tblPr>
              <a:tblGrid>
                <a:gridCol w="8568952"/>
              </a:tblGrid>
              <a:tr h="345499">
                <a:tc>
                  <a:txBody>
                    <a:bodyPr/>
                    <a:lstStyle/>
                    <a:p>
                      <a:pPr>
                        <a:lnSpc>
                          <a:spcPct val="115000"/>
                        </a:lnSpc>
                        <a:spcAft>
                          <a:spcPts val="0"/>
                        </a:spcAft>
                      </a:pPr>
                      <a:r>
                        <a:rPr lang="en-SG" sz="1400" b="1" dirty="0">
                          <a:effectLst/>
                        </a:rPr>
                        <a:t>Part 2: Explain </a:t>
                      </a:r>
                      <a:r>
                        <a:rPr lang="en-GB" sz="1400" b="1" dirty="0" smtClean="0">
                          <a:effectLst/>
                        </a:rPr>
                        <a:t>how the attack is causing the website to malfunction</a:t>
                      </a:r>
                      <a:endParaRPr lang="en-SG" sz="1200" b="1" dirty="0">
                        <a:effectLst/>
                        <a:latin typeface="Arial"/>
                        <a:ea typeface="Arial"/>
                      </a:endParaRPr>
                    </a:p>
                  </a:txBody>
                  <a:tcPr marL="63500" marR="63500" marT="63500" marB="63500"/>
                </a:tc>
              </a:tr>
              <a:tr h="3110884">
                <a:tc>
                  <a:txBody>
                    <a:bodyPr/>
                    <a:lstStyle/>
                    <a:p>
                      <a:pPr>
                        <a:lnSpc>
                          <a:spcPct val="115000"/>
                        </a:lnSpc>
                        <a:spcAft>
                          <a:spcPts val="0"/>
                        </a:spcAft>
                      </a:pPr>
                      <a:r>
                        <a:rPr lang="en-GB" sz="1200" dirty="0" smtClean="0">
                          <a:effectLst/>
                        </a:rPr>
                        <a:t>When website visitors try to establish a connection with the web server, a three-way handshake occurs using the TCP protocol. Explain the three steps of the handshake:</a:t>
                      </a:r>
                    </a:p>
                    <a:p>
                      <a:pPr>
                        <a:lnSpc>
                          <a:spcPct val="115000"/>
                        </a:lnSpc>
                        <a:spcAft>
                          <a:spcPts val="0"/>
                        </a:spcAft>
                      </a:pPr>
                      <a:r>
                        <a:rPr lang="en-GB" sz="1200" dirty="0" smtClean="0">
                          <a:solidFill>
                            <a:schemeClr val="tx2"/>
                          </a:solidFill>
                          <a:effectLst/>
                        </a:rPr>
                        <a:t>1.</a:t>
                      </a:r>
                      <a:r>
                        <a:rPr lang="en-SG" sz="1200" dirty="0" smtClean="0">
                          <a:solidFill>
                            <a:schemeClr val="tx2"/>
                          </a:solidFill>
                        </a:rPr>
                        <a:t> Device → Server: SYN;  asking to connect</a:t>
                      </a:r>
                      <a:endParaRPr lang="en-GB" sz="1200" dirty="0" smtClean="0">
                        <a:solidFill>
                          <a:schemeClr val="tx2"/>
                        </a:solidFill>
                        <a:effectLst/>
                      </a:endParaRPr>
                    </a:p>
                    <a:p>
                      <a:pPr>
                        <a:lnSpc>
                          <a:spcPct val="115000"/>
                        </a:lnSpc>
                        <a:spcAft>
                          <a:spcPts val="0"/>
                        </a:spcAft>
                      </a:pPr>
                      <a:r>
                        <a:rPr lang="en-GB" sz="1200" dirty="0" smtClean="0">
                          <a:solidFill>
                            <a:schemeClr val="tx2"/>
                          </a:solidFill>
                          <a:effectLst/>
                        </a:rPr>
                        <a:t>2. </a:t>
                      </a:r>
                      <a:r>
                        <a:rPr lang="en-SG" sz="1200" dirty="0" smtClean="0">
                          <a:solidFill>
                            <a:schemeClr val="tx2"/>
                          </a:solidFill>
                        </a:rPr>
                        <a:t>Server → Device: SYN/ACK; server </a:t>
                      </a:r>
                      <a:r>
                        <a:rPr lang="en-SG" sz="1200" baseline="0" dirty="0" smtClean="0">
                          <a:solidFill>
                            <a:schemeClr val="tx2"/>
                          </a:solidFill>
                        </a:rPr>
                        <a:t> acknowledges to connect</a:t>
                      </a:r>
                      <a:endParaRPr lang="en-GB" sz="1200" dirty="0" smtClean="0">
                        <a:solidFill>
                          <a:schemeClr val="tx2"/>
                        </a:solidFill>
                        <a:effectLst/>
                      </a:endParaRPr>
                    </a:p>
                    <a:p>
                      <a:pPr>
                        <a:lnSpc>
                          <a:spcPct val="115000"/>
                        </a:lnSpc>
                        <a:spcAft>
                          <a:spcPts val="0"/>
                        </a:spcAft>
                      </a:pPr>
                      <a:r>
                        <a:rPr lang="en-GB" sz="1200" dirty="0" smtClean="0">
                          <a:solidFill>
                            <a:schemeClr val="tx2"/>
                          </a:solidFill>
                          <a:effectLst/>
                        </a:rPr>
                        <a:t>3. </a:t>
                      </a:r>
                      <a:r>
                        <a:rPr lang="en-SG" sz="1200" dirty="0" smtClean="0">
                          <a:solidFill>
                            <a:schemeClr val="tx2"/>
                          </a:solidFill>
                        </a:rPr>
                        <a:t>Device → Server: ACK; confirmed</a:t>
                      </a:r>
                      <a:r>
                        <a:rPr lang="en-SG" sz="1200" baseline="0" dirty="0" smtClean="0">
                          <a:solidFill>
                            <a:schemeClr val="tx2"/>
                          </a:solidFill>
                        </a:rPr>
                        <a:t> to proceed and connection established</a:t>
                      </a:r>
                      <a:endParaRPr lang="en-GB" sz="1200" dirty="0" smtClean="0">
                        <a:solidFill>
                          <a:schemeClr val="tx2"/>
                        </a:solidFill>
                        <a:effectLst/>
                      </a:endParaRPr>
                    </a:p>
                    <a:p>
                      <a:pPr>
                        <a:lnSpc>
                          <a:spcPct val="115000"/>
                        </a:lnSpc>
                        <a:spcAft>
                          <a:spcPts val="0"/>
                        </a:spcAft>
                      </a:pPr>
                      <a:r>
                        <a:rPr lang="en-SG" sz="1200" dirty="0">
                          <a:effectLst/>
                        </a:rPr>
                        <a:t> </a:t>
                      </a:r>
                    </a:p>
                    <a:p>
                      <a:pPr>
                        <a:lnSpc>
                          <a:spcPct val="115000"/>
                        </a:lnSpc>
                        <a:spcAft>
                          <a:spcPts val="0"/>
                        </a:spcAft>
                      </a:pPr>
                      <a:r>
                        <a:rPr lang="en-GB" sz="1200" dirty="0" smtClean="0">
                          <a:effectLst/>
                        </a:rPr>
                        <a:t>Explain what happens when a malicious actor sends a large number of SYN packets all at once:</a:t>
                      </a:r>
                      <a:br>
                        <a:rPr lang="en-GB" sz="1200" dirty="0" smtClean="0">
                          <a:effectLst/>
                        </a:rPr>
                      </a:br>
                      <a:r>
                        <a:rPr lang="en-GB" sz="1200" dirty="0" smtClean="0">
                          <a:solidFill>
                            <a:schemeClr val="tx2"/>
                          </a:solidFill>
                          <a:effectLst/>
                        </a:rPr>
                        <a:t>- Attacker floods the server with **SYN (synchronize) requests** — the first step of the handshake.</a:t>
                      </a:r>
                    </a:p>
                    <a:p>
                      <a:pPr>
                        <a:lnSpc>
                          <a:spcPct val="115000"/>
                        </a:lnSpc>
                        <a:spcAft>
                          <a:spcPts val="0"/>
                        </a:spcAft>
                      </a:pPr>
                      <a:r>
                        <a:rPr lang="en-GB" sz="1200" dirty="0" smtClean="0">
                          <a:solidFill>
                            <a:schemeClr val="tx2"/>
                          </a:solidFill>
                          <a:effectLst/>
                        </a:rPr>
                        <a:t>- The server responds with SYN/ACK and **leaves a port open** waiting for the final ACK.</a:t>
                      </a:r>
                    </a:p>
                    <a:p>
                      <a:pPr>
                        <a:lnSpc>
                          <a:spcPct val="115000"/>
                        </a:lnSpc>
                        <a:spcAft>
                          <a:spcPts val="0"/>
                        </a:spcAft>
                      </a:pPr>
                      <a:r>
                        <a:rPr lang="en-GB" sz="1200" dirty="0" smtClean="0">
                          <a:solidFill>
                            <a:schemeClr val="tx2"/>
                          </a:solidFill>
                          <a:effectLst/>
                        </a:rPr>
                        <a:t>- If the number of SYN requests exceeds the number of available ports on the server, the server becomes **overwhelmed and unable to function**.</a:t>
                      </a:r>
                    </a:p>
                    <a:p>
                      <a:pPr>
                        <a:lnSpc>
                          <a:spcPct val="115000"/>
                        </a:lnSpc>
                        <a:spcAft>
                          <a:spcPts val="0"/>
                        </a:spcAft>
                      </a:pPr>
                      <a:r>
                        <a:rPr lang="en-GB" sz="1200" dirty="0" smtClean="0">
                          <a:solidFill>
                            <a:schemeClr val="tx2"/>
                          </a:solidFill>
                          <a:effectLst/>
                        </a:rPr>
                        <a:t>- The final ACK is never sent — the server's port table fills up with half-open connections.</a:t>
                      </a:r>
                    </a:p>
                    <a:p>
                      <a:pPr>
                        <a:lnSpc>
                          <a:spcPct val="115000"/>
                        </a:lnSpc>
                        <a:spcAft>
                          <a:spcPts val="0"/>
                        </a:spcAft>
                      </a:pPr>
                      <a:endParaRPr lang="en-GB" sz="1200" dirty="0" smtClean="0">
                        <a:effectLst/>
                      </a:endParaRPr>
                    </a:p>
                    <a:p>
                      <a:pPr>
                        <a:lnSpc>
                          <a:spcPct val="115000"/>
                        </a:lnSpc>
                        <a:spcAft>
                          <a:spcPts val="0"/>
                        </a:spcAft>
                      </a:pPr>
                      <a:r>
                        <a:rPr lang="en-GB" sz="1200" dirty="0" smtClean="0">
                          <a:effectLst/>
                        </a:rPr>
                        <a:t>Explain what the logs indicate and how that affects the server:</a:t>
                      </a:r>
                      <a:r>
                        <a:rPr lang="en-SG" sz="1200" dirty="0" smtClean="0">
                          <a:effectLst/>
                        </a:rPr>
                        <a:t> </a:t>
                      </a:r>
                      <a:r>
                        <a:rPr lang="en-SG" sz="1200" dirty="0" smtClean="0">
                          <a:solidFill>
                            <a:srgbClr val="0070C0"/>
                          </a:solidFill>
                          <a:effectLst/>
                        </a:rPr>
                        <a:t>port</a:t>
                      </a:r>
                      <a:endParaRPr lang="en-SG" sz="1200" dirty="0">
                        <a:solidFill>
                          <a:srgbClr val="0070C0"/>
                        </a:solidFill>
                        <a:effectLst/>
                        <a:latin typeface="Arial"/>
                        <a:ea typeface="Arial"/>
                      </a:endParaRPr>
                    </a:p>
                  </a:txBody>
                  <a:tcPr marL="63500" marR="63500" marT="63500" marB="63500"/>
                </a:tc>
              </a:tr>
            </a:tbl>
          </a:graphicData>
        </a:graphic>
      </p:graphicFrame>
    </p:spTree>
    <p:extLst>
      <p:ext uri="{BB962C8B-B14F-4D97-AF65-F5344CB8AC3E}">
        <p14:creationId xmlns:p14="http://schemas.microsoft.com/office/powerpoint/2010/main" val="42172148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22344"/>
          </a:xfrm>
        </p:spPr>
        <p:txBody>
          <a:bodyPr>
            <a:noAutofit/>
          </a:bodyPr>
          <a:lstStyle/>
          <a:p>
            <a:r>
              <a:rPr lang="en-GB" sz="2800" dirty="0">
                <a:effectLst/>
              </a:rPr>
              <a:t>Cybersecurity Incident Report:</a:t>
            </a:r>
            <a:br>
              <a:rPr lang="en-GB" sz="2800" dirty="0">
                <a:effectLst/>
              </a:rPr>
            </a:br>
            <a:r>
              <a:rPr lang="en-GB" sz="2800" dirty="0">
                <a:effectLst/>
              </a:rPr>
              <a:t>Network </a:t>
            </a:r>
            <a:r>
              <a:rPr lang="en-GB" sz="2800" dirty="0" smtClean="0">
                <a:effectLst/>
              </a:rPr>
              <a:t>Attack Analysis</a:t>
            </a:r>
            <a:endParaRPr lang="en-SG"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0030743"/>
              </p:ext>
            </p:extLst>
          </p:nvPr>
        </p:nvGraphicFramePr>
        <p:xfrm>
          <a:off x="323528" y="1401768"/>
          <a:ext cx="8568952" cy="865124"/>
        </p:xfrm>
        <a:graphic>
          <a:graphicData uri="http://schemas.openxmlformats.org/drawingml/2006/table">
            <a:tbl>
              <a:tblPr>
                <a:tableStyleId>{5C22544A-7EE6-4342-B048-85BDC9FD1C3A}</a:tableStyleId>
              </a:tblPr>
              <a:tblGrid>
                <a:gridCol w="8568952"/>
              </a:tblGrid>
              <a:tr h="279400">
                <a:tc>
                  <a:txBody>
                    <a:bodyPr/>
                    <a:lstStyle/>
                    <a:p>
                      <a:pPr>
                        <a:lnSpc>
                          <a:spcPct val="115000"/>
                        </a:lnSpc>
                        <a:spcAft>
                          <a:spcPts val="0"/>
                        </a:spcAft>
                      </a:pPr>
                      <a:r>
                        <a:rPr lang="en-SG" sz="1400" b="1" dirty="0" smtClean="0">
                          <a:effectLst/>
                        </a:rPr>
                        <a:t>Part 1: </a:t>
                      </a:r>
                      <a:r>
                        <a:rPr lang="en-GB" sz="1400" b="1" dirty="0" smtClean="0">
                          <a:effectLst/>
                        </a:rPr>
                        <a:t>Identify the type of attack that may have caused this network interruption</a:t>
                      </a:r>
                    </a:p>
                  </a:txBody>
                  <a:tcPr marL="63500" marR="63500" marT="63500" marB="63500"/>
                </a:tc>
              </a:tr>
              <a:tr h="0">
                <a:tc>
                  <a:txBody>
                    <a:bodyPr/>
                    <a:lstStyle/>
                    <a:p>
                      <a:r>
                        <a:rPr kumimoji="0" lang="en-GB" sz="1200" b="0" i="0" kern="1200" dirty="0" smtClean="0">
                          <a:solidFill>
                            <a:schemeClr val="tx2"/>
                          </a:solidFill>
                          <a:effectLst/>
                          <a:latin typeface="+mn-lt"/>
                          <a:ea typeface="+mn-ea"/>
                          <a:cs typeface="+mn-cs"/>
                        </a:rPr>
                        <a:t>One potential explanation for the website’s connection timeout error message is a </a:t>
                      </a:r>
                      <a:r>
                        <a:rPr kumimoji="0" lang="en-GB" sz="1200" b="0" i="0" kern="1200" dirty="0" err="1" smtClean="0">
                          <a:solidFill>
                            <a:schemeClr val="tx2"/>
                          </a:solidFill>
                          <a:effectLst/>
                          <a:latin typeface="+mn-lt"/>
                          <a:ea typeface="+mn-ea"/>
                          <a:cs typeface="+mn-cs"/>
                        </a:rPr>
                        <a:t>DoS</a:t>
                      </a:r>
                      <a:r>
                        <a:rPr kumimoji="0" lang="en-GB" sz="1200" b="0" i="0" kern="1200" dirty="0" smtClean="0">
                          <a:solidFill>
                            <a:schemeClr val="tx2"/>
                          </a:solidFill>
                          <a:effectLst/>
                          <a:latin typeface="+mn-lt"/>
                          <a:ea typeface="+mn-ea"/>
                          <a:cs typeface="+mn-cs"/>
                        </a:rPr>
                        <a:t> attack. The logs show that the web server stops responding after it is overloaded with SYN packet requests. This event could be a type of </a:t>
                      </a:r>
                      <a:r>
                        <a:rPr kumimoji="0" lang="en-GB" sz="1200" b="0" i="0" kern="1200" dirty="0" err="1" smtClean="0">
                          <a:solidFill>
                            <a:schemeClr val="tx2"/>
                          </a:solidFill>
                          <a:effectLst/>
                          <a:latin typeface="+mn-lt"/>
                          <a:ea typeface="+mn-ea"/>
                          <a:cs typeface="+mn-cs"/>
                        </a:rPr>
                        <a:t>DoS</a:t>
                      </a:r>
                      <a:r>
                        <a:rPr kumimoji="0" lang="en-GB" sz="1200" b="0" i="0" kern="1200" dirty="0" smtClean="0">
                          <a:solidFill>
                            <a:schemeClr val="tx2"/>
                          </a:solidFill>
                          <a:effectLst/>
                          <a:latin typeface="+mn-lt"/>
                          <a:ea typeface="+mn-ea"/>
                          <a:cs typeface="+mn-cs"/>
                        </a:rPr>
                        <a:t> attack called SYN flooding.</a:t>
                      </a:r>
                      <a:r>
                        <a:rPr lang="en-SG" sz="1200" dirty="0">
                          <a:solidFill>
                            <a:schemeClr val="tx2"/>
                          </a:solidFill>
                          <a:effectLst/>
                        </a:rPr>
                        <a:t> </a:t>
                      </a:r>
                      <a:endParaRPr lang="en-SG" sz="1200" dirty="0">
                        <a:solidFill>
                          <a:schemeClr val="tx2"/>
                        </a:solidFill>
                        <a:effectLst/>
                        <a:latin typeface="Arial"/>
                        <a:ea typeface="Arial"/>
                      </a:endParaRPr>
                    </a:p>
                  </a:txBody>
                  <a:tcPr marL="63500" marR="63500" marT="63500" marB="63500"/>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292857957"/>
              </p:ext>
            </p:extLst>
          </p:nvPr>
        </p:nvGraphicFramePr>
        <p:xfrm>
          <a:off x="323528" y="3068960"/>
          <a:ext cx="8568952" cy="3483248"/>
        </p:xfrm>
        <a:graphic>
          <a:graphicData uri="http://schemas.openxmlformats.org/drawingml/2006/table">
            <a:tbl>
              <a:tblPr>
                <a:tableStyleId>{5C22544A-7EE6-4342-B048-85BDC9FD1C3A}</a:tableStyleId>
              </a:tblPr>
              <a:tblGrid>
                <a:gridCol w="8568952"/>
              </a:tblGrid>
              <a:tr h="345499">
                <a:tc>
                  <a:txBody>
                    <a:bodyPr/>
                    <a:lstStyle/>
                    <a:p>
                      <a:pPr>
                        <a:lnSpc>
                          <a:spcPct val="115000"/>
                        </a:lnSpc>
                        <a:spcAft>
                          <a:spcPts val="0"/>
                        </a:spcAft>
                      </a:pPr>
                      <a:r>
                        <a:rPr lang="en-SG" sz="1400" b="1" dirty="0">
                          <a:effectLst/>
                        </a:rPr>
                        <a:t>Part 2: Explain </a:t>
                      </a:r>
                      <a:r>
                        <a:rPr lang="en-GB" sz="1400" b="1" dirty="0" smtClean="0">
                          <a:effectLst/>
                        </a:rPr>
                        <a:t>how the attack is causing the website to malfunction</a:t>
                      </a:r>
                      <a:endParaRPr lang="en-SG" sz="1200" b="1" dirty="0">
                        <a:effectLst/>
                        <a:latin typeface="Arial"/>
                        <a:ea typeface="Arial"/>
                      </a:endParaRPr>
                    </a:p>
                  </a:txBody>
                  <a:tcPr marL="63500" marR="63500" marT="63500" marB="63500"/>
                </a:tc>
              </a:tr>
              <a:tr h="3110884">
                <a:tc>
                  <a:txBody>
                    <a:bodyPr/>
                    <a:lstStyle/>
                    <a:p>
                      <a:r>
                        <a:rPr kumimoji="0" lang="en-GB" sz="1200" b="0" i="0" kern="1200" dirty="0" smtClean="0">
                          <a:solidFill>
                            <a:schemeClr val="tx2"/>
                          </a:solidFill>
                          <a:effectLst/>
                          <a:latin typeface="+mn-lt"/>
                          <a:ea typeface="+mn-ea"/>
                          <a:cs typeface="+mn-cs"/>
                        </a:rPr>
                        <a:t>When the website visitors try to establish a connection with the web server, a three-way handshake occurs using the TCP protocol. The handshake consists of three steps:</a:t>
                      </a:r>
                    </a:p>
                    <a:p>
                      <a:r>
                        <a:rPr kumimoji="0" lang="en-GB" sz="1200" b="0" i="0" kern="1200" dirty="0" smtClean="0">
                          <a:solidFill>
                            <a:schemeClr val="tx2"/>
                          </a:solidFill>
                          <a:effectLst/>
                          <a:latin typeface="+mn-lt"/>
                          <a:ea typeface="+mn-ea"/>
                          <a:cs typeface="+mn-cs"/>
                        </a:rPr>
                        <a:t>1. A SYN packet is sent from the source to the destination, requesting to connect.</a:t>
                      </a:r>
                    </a:p>
                    <a:p>
                      <a:r>
                        <a:rPr kumimoji="0" lang="en-GB" sz="1200" b="0" i="0" kern="1200" dirty="0" smtClean="0">
                          <a:solidFill>
                            <a:schemeClr val="tx2"/>
                          </a:solidFill>
                          <a:effectLst/>
                          <a:latin typeface="+mn-lt"/>
                          <a:ea typeface="+mn-ea"/>
                          <a:cs typeface="+mn-cs"/>
                        </a:rPr>
                        <a:t>2. The destination replies to the source with a SYN-ACK packet to accept the connection request. The destination will reserve resources for the source to connect.</a:t>
                      </a:r>
                    </a:p>
                    <a:p>
                      <a:r>
                        <a:rPr kumimoji="0" lang="en-GB" sz="1200" b="0" i="0" kern="1200" dirty="0" smtClean="0">
                          <a:solidFill>
                            <a:schemeClr val="tx2"/>
                          </a:solidFill>
                          <a:effectLst/>
                          <a:latin typeface="+mn-lt"/>
                          <a:ea typeface="+mn-ea"/>
                          <a:cs typeface="+mn-cs"/>
                        </a:rPr>
                        <a:t>3. A final ACK packet is sent from the source to the destination acknowledging the permission to connect.</a:t>
                      </a:r>
                    </a:p>
                    <a:p>
                      <a:endParaRPr kumimoji="0" lang="en-GB" sz="1200" b="0" i="0" kern="1200" dirty="0" smtClean="0">
                        <a:solidFill>
                          <a:schemeClr val="tx2"/>
                        </a:solidFill>
                        <a:effectLst/>
                        <a:latin typeface="+mn-lt"/>
                        <a:ea typeface="+mn-ea"/>
                        <a:cs typeface="+mn-cs"/>
                      </a:endParaRPr>
                    </a:p>
                    <a:p>
                      <a:r>
                        <a:rPr kumimoji="0" lang="en-GB" sz="1200" b="0" i="0" kern="1200" dirty="0" smtClean="0">
                          <a:solidFill>
                            <a:schemeClr val="tx2"/>
                          </a:solidFill>
                          <a:effectLst/>
                          <a:latin typeface="+mn-lt"/>
                          <a:ea typeface="+mn-ea"/>
                          <a:cs typeface="+mn-cs"/>
                        </a:rPr>
                        <a:t>In the case of a SYN flood attack, a malicious actor will send a large number of SYN packets all at once, which overwhelms the server’s available resources to reserve for the connection. When this happens, there are no server resources left for legitimate TCP connection requests.</a:t>
                      </a:r>
                    </a:p>
                    <a:p>
                      <a:endParaRPr kumimoji="0" lang="en-GB" sz="1200" b="0" i="0" kern="1200" dirty="0" smtClean="0">
                        <a:solidFill>
                          <a:schemeClr val="tx2"/>
                        </a:solidFill>
                        <a:effectLst/>
                        <a:latin typeface="+mn-lt"/>
                        <a:ea typeface="+mn-ea"/>
                        <a:cs typeface="+mn-cs"/>
                      </a:endParaRPr>
                    </a:p>
                    <a:p>
                      <a:r>
                        <a:rPr kumimoji="0" lang="en-GB" sz="1200" b="0" i="0" kern="1200" dirty="0" smtClean="0">
                          <a:solidFill>
                            <a:schemeClr val="tx2"/>
                          </a:solidFill>
                          <a:effectLst/>
                          <a:latin typeface="+mn-lt"/>
                          <a:ea typeface="+mn-ea"/>
                          <a:cs typeface="+mn-cs"/>
                        </a:rPr>
                        <a:t>The logs indicate that the web server has become overwhelmed and is unable to process the visitors’ SYN requests. The server is unable to open a new connection to new visitors who receive a connection timeout message.</a:t>
                      </a:r>
                      <a:endParaRPr kumimoji="0" lang="en-GB" sz="1200" b="0" i="0" kern="1200" dirty="0">
                        <a:solidFill>
                          <a:schemeClr val="tx2"/>
                        </a:solidFill>
                        <a:effectLst/>
                        <a:latin typeface="+mn-lt"/>
                        <a:ea typeface="+mn-ea"/>
                        <a:cs typeface="+mn-cs"/>
                      </a:endParaRPr>
                    </a:p>
                  </a:txBody>
                  <a:tcPr marL="63500" marR="63500" marT="63500" marB="63500"/>
                </a:tc>
              </a:tr>
            </a:tbl>
          </a:graphicData>
        </a:graphic>
      </p:graphicFrame>
    </p:spTree>
    <p:extLst>
      <p:ext uri="{BB962C8B-B14F-4D97-AF65-F5344CB8AC3E}">
        <p14:creationId xmlns:p14="http://schemas.microsoft.com/office/powerpoint/2010/main" val="51371248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_rels/theme3.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380</TotalTime>
  <Words>469</Words>
  <Application>Microsoft Office PowerPoint</Application>
  <PresentationFormat>On-screen Show (4:3)</PresentationFormat>
  <Paragraphs>57</Paragraphs>
  <Slides>4</Slides>
  <Notes>0</Notes>
  <HiddenSlides>0</HiddenSlides>
  <MMClips>0</MMClips>
  <ScaleCrop>false</ScaleCrop>
  <HeadingPairs>
    <vt:vector size="4" baseType="variant">
      <vt:variant>
        <vt:lpstr>Theme</vt:lpstr>
      </vt:variant>
      <vt:variant>
        <vt:i4>3</vt:i4>
      </vt:variant>
      <vt:variant>
        <vt:lpstr>Slide Titles</vt:lpstr>
      </vt:variant>
      <vt:variant>
        <vt:i4>4</vt:i4>
      </vt:variant>
    </vt:vector>
  </HeadingPairs>
  <TitlesOfParts>
    <vt:vector size="7" baseType="lpstr">
      <vt:lpstr>Executive</vt:lpstr>
      <vt:lpstr>Equity</vt:lpstr>
      <vt:lpstr>Flow</vt:lpstr>
      <vt:lpstr>Scenario</vt:lpstr>
      <vt:lpstr>PowerPoint Presentation</vt:lpstr>
      <vt:lpstr>Cybersecurity Incident Report: Network Attack Analysis</vt:lpstr>
      <vt:lpstr>Cybersecurity Incident Report: Network Attack Analysis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19</cp:revision>
  <dcterms:created xsi:type="dcterms:W3CDTF">2026-04-11T03:58:54Z</dcterms:created>
  <dcterms:modified xsi:type="dcterms:W3CDTF">2026-04-13T06:23:24Z</dcterms:modified>
</cp:coreProperties>
</file>