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Lst>
  <p:sldIdLst>
    <p:sldId id="256" r:id="rId3"/>
    <p:sldId id="266" r:id="rId4"/>
    <p:sldId id="261"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9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21/5/2026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21/5/2026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21/5/2026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21/5/2026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21/5/2026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21/5/2026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21/5/2026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1D1448-F56A-427E-B4D3-154671AD8545}" type="datetimeFigureOut">
              <a:rPr lang="en-SG" smtClean="0"/>
              <a:t>21/5/2026</a:t>
            </a:fld>
            <a:endParaRPr lang="en-SG"/>
          </a:p>
        </p:txBody>
      </p:sp>
      <p:sp>
        <p:nvSpPr>
          <p:cNvPr id="17" name="Footer Placeholder 16"/>
          <p:cNvSpPr>
            <a:spLocks noGrp="1"/>
          </p:cNvSpPr>
          <p:nvPr>
            <p:ph type="ftr" sz="quarter" idx="11"/>
          </p:nvPr>
        </p:nvSpPr>
        <p:spPr/>
        <p:txBody>
          <a:bodyPr/>
          <a:lstStyle/>
          <a:p>
            <a:endParaRPr lang="en-SG"/>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5804EC2-4BFC-4480-AE2A-23FA0465B8FA}" type="slidenum">
              <a:rPr lang="en-SG" smtClean="0"/>
              <a:t>‹#›</a:t>
            </a:fld>
            <a:endParaRPr lang="en-SG"/>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a:xfrm>
            <a:off x="800100" y="6172200"/>
            <a:ext cx="4000500" cy="457200"/>
          </a:xfrm>
        </p:spPr>
        <p:txBody>
          <a:bodyPr/>
          <a:lstStyle/>
          <a:p>
            <a:endParaRPr lang="en-SG"/>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21/5/2026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21/5/2026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21/5/2026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21/5/2026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21/5/2026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21/5/2026</a:t>
            </a:fld>
            <a:endParaRPr lang="en-SG"/>
          </a:p>
        </p:txBody>
      </p:sp>
      <p:sp>
        <p:nvSpPr>
          <p:cNvPr id="6" name="Footer Placeholder 5"/>
          <p:cNvSpPr>
            <a:spLocks noGrp="1"/>
          </p:cNvSpPr>
          <p:nvPr>
            <p:ph type="ftr" sz="quarter" idx="11"/>
          </p:nvPr>
        </p:nvSpPr>
        <p:spPr>
          <a:xfrm>
            <a:off x="914400" y="6172200"/>
            <a:ext cx="3886200" cy="457200"/>
          </a:xfrm>
        </p:spPr>
        <p:txBody>
          <a:bodyPr/>
          <a:lstStyle/>
          <a:p>
            <a:endParaRPr lang="en-SG"/>
          </a:p>
        </p:txBody>
      </p:sp>
      <p:sp>
        <p:nvSpPr>
          <p:cNvPr id="7" name="Slide Number Placeholder 6"/>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21/5/2026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21/5/2026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81D1448-F56A-427E-B4D3-154671AD8545}" type="datetimeFigureOut">
              <a:rPr lang="en-SG" smtClean="0"/>
              <a:t>21/5/2026</a:t>
            </a:fld>
            <a:endParaRPr lang="en-SG"/>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SG"/>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5804EC2-4BFC-4480-AE2A-23FA0465B8FA}"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04664"/>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2011288"/>
            <a:ext cx="7776864" cy="3865984"/>
          </a:xfrm>
        </p:spPr>
        <p:txBody>
          <a:bodyPr>
            <a:noAutofit/>
          </a:bodyPr>
          <a:lstStyle/>
          <a:p>
            <a:pPr algn="l"/>
            <a:r>
              <a:rPr lang="en-GB" sz="1600" dirty="0"/>
              <a:t>You are part of the security team at Rhetorical Hospital and arrive to work one morning. On the ground of the parking lot, you find a USB stick with the hospital's logo printed on it. There’s no one else around who might have dropped it, so you decide to pick it up out of curiosity</a:t>
            </a:r>
            <a:r>
              <a:rPr lang="en-GB" sz="1600" dirty="0" smtClean="0"/>
              <a:t>.</a:t>
            </a:r>
          </a:p>
          <a:p>
            <a:pPr algn="l"/>
            <a:endParaRPr lang="en-GB" sz="1600" dirty="0"/>
          </a:p>
          <a:p>
            <a:pPr algn="l"/>
            <a:r>
              <a:rPr lang="en-GB" sz="1600" dirty="0"/>
              <a:t>You bring the USB drive back to your office where the team has virtualization software installed on a workstation. Virtualization software can be used for this very purpose because it’s one of the only ways to safely investigate an unfamiliar USB stick. The software works by running a simulated instance of the computer on the same workstation. This simulation isn’t connected to other files or networks, so the USB drive can’t affect other systems if it happens to be infected with malicious software.</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3568" y="332656"/>
            <a:ext cx="7776864" cy="3865984"/>
          </a:xfrm>
        </p:spPr>
        <p:txBody>
          <a:bodyPr>
            <a:noAutofit/>
          </a:bodyPr>
          <a:lstStyle/>
          <a:p>
            <a:pPr algn="l"/>
            <a:r>
              <a:rPr lang="en-GB" sz="1600" dirty="0"/>
              <a:t>You create a virtual environment and plug the USB drive into the workstation. The contents of the device appear to belong to Jorge Bailey, the human resource manager at Rhetorical Hospital</a:t>
            </a:r>
            <a:r>
              <a:rPr lang="en-GB" sz="1600" dirty="0" smtClean="0"/>
              <a:t>.</a:t>
            </a:r>
          </a:p>
          <a:p>
            <a:pPr algn="l"/>
            <a:endParaRPr lang="en-GB" sz="1600" dirty="0"/>
          </a:p>
        </p:txBody>
      </p:sp>
      <p:pic>
        <p:nvPicPr>
          <p:cNvPr id="1026" name="Picture 2" descr="This screenshot shows the contents of this USB drive which contains a mix of personal and work-related fi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512" y="1484784"/>
            <a:ext cx="6552728" cy="4331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0373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54885938"/>
              </p:ext>
            </p:extLst>
          </p:nvPr>
        </p:nvGraphicFramePr>
        <p:xfrm>
          <a:off x="287524" y="980728"/>
          <a:ext cx="8568952" cy="5515503"/>
        </p:xfrm>
        <a:graphic>
          <a:graphicData uri="http://schemas.openxmlformats.org/drawingml/2006/table">
            <a:tbl>
              <a:tblPr>
                <a:tableStyleId>{5C22544A-7EE6-4342-B048-85BDC9FD1C3A}</a:tableStyleId>
              </a:tblPr>
              <a:tblGrid>
                <a:gridCol w="2412268"/>
                <a:gridCol w="6156684"/>
              </a:tblGrid>
              <a:tr h="1457548">
                <a:tc>
                  <a:txBody>
                    <a:bodyPr/>
                    <a:lstStyle/>
                    <a:p>
                      <a:pPr marL="0" lvl="0" indent="0">
                        <a:buFont typeface="Arial" panose="020B0604020202020204" pitchFamily="34" charset="0"/>
                        <a:buNone/>
                      </a:pPr>
                      <a:r>
                        <a:rPr lang="en-SG" sz="1400" b="1" dirty="0" smtClean="0">
                          <a:effectLst/>
                        </a:rPr>
                        <a:t>Contents</a:t>
                      </a:r>
                    </a:p>
                    <a:p>
                      <a:pPr marL="0" lvl="0" indent="0">
                        <a:buFont typeface="Arial" panose="020B0604020202020204" pitchFamily="34" charset="0"/>
                        <a:buNone/>
                      </a:pPr>
                      <a:endParaRPr lang="en-SG" sz="1400" dirty="0" smtClean="0">
                        <a:effectLst/>
                      </a:endParaRPr>
                    </a:p>
                    <a:p>
                      <a:pPr marL="285750" lvl="0" indent="-285750">
                        <a:buFont typeface="Arial" panose="020B0604020202020204" pitchFamily="34" charset="0"/>
                        <a:buChar char="•"/>
                      </a:pPr>
                      <a:r>
                        <a:rPr kumimoji="0" lang="en-SG" sz="1200" i="1" u="none" strike="noStrike" kern="1200" dirty="0" smtClean="0">
                          <a:solidFill>
                            <a:schemeClr val="dk1"/>
                          </a:solidFill>
                          <a:effectLst/>
                          <a:latin typeface="+mn-lt"/>
                          <a:ea typeface="+mn-ea"/>
                          <a:cs typeface="+mn-cs"/>
                        </a:rPr>
                        <a:t>Are there files that can contain PII?</a:t>
                      </a:r>
                      <a:endParaRPr kumimoji="0" lang="en-SG" sz="1200" u="none" strike="noStrike" kern="1200" dirty="0" smtClean="0">
                        <a:solidFill>
                          <a:schemeClr val="dk1"/>
                        </a:solidFill>
                        <a:effectLst/>
                        <a:latin typeface="+mn-lt"/>
                        <a:ea typeface="+mn-ea"/>
                        <a:cs typeface="+mn-cs"/>
                      </a:endParaRPr>
                    </a:p>
                    <a:p>
                      <a:pPr marL="285750" lvl="0" indent="-285750">
                        <a:buFont typeface="Arial" panose="020B0604020202020204" pitchFamily="34" charset="0"/>
                        <a:buChar char="•"/>
                      </a:pPr>
                      <a:r>
                        <a:rPr kumimoji="0" lang="en-SG" sz="1200" i="1" u="none" strike="noStrike" kern="1200" dirty="0" smtClean="0">
                          <a:solidFill>
                            <a:schemeClr val="dk1"/>
                          </a:solidFill>
                          <a:effectLst/>
                          <a:latin typeface="+mn-lt"/>
                          <a:ea typeface="+mn-ea"/>
                          <a:cs typeface="+mn-cs"/>
                        </a:rPr>
                        <a:t>Are there sensitive work files?</a:t>
                      </a:r>
                      <a:endParaRPr kumimoji="0" lang="en-SG" sz="1200" u="none" strike="noStrike" kern="1200" dirty="0" smtClean="0">
                        <a:solidFill>
                          <a:schemeClr val="dk1"/>
                        </a:solidFill>
                        <a:effectLst/>
                        <a:latin typeface="+mn-lt"/>
                        <a:ea typeface="+mn-ea"/>
                        <a:cs typeface="+mn-cs"/>
                      </a:endParaRPr>
                    </a:p>
                    <a:p>
                      <a:pPr marL="285750" indent="-285750">
                        <a:buFont typeface="Arial" panose="020B0604020202020204" pitchFamily="34" charset="0"/>
                        <a:buChar char="•"/>
                      </a:pPr>
                      <a:r>
                        <a:rPr kumimoji="0" lang="en-SG" sz="1200" i="1" kern="1200" dirty="0" smtClean="0">
                          <a:solidFill>
                            <a:schemeClr val="dk1"/>
                          </a:solidFill>
                          <a:effectLst/>
                          <a:latin typeface="+mn-lt"/>
                          <a:ea typeface="+mn-ea"/>
                          <a:cs typeface="+mn-cs"/>
                        </a:rPr>
                        <a:t>Is it safe to store personal files with work files?</a:t>
                      </a:r>
                      <a:endParaRPr lang="en-SG" sz="1050" dirty="0">
                        <a:effectLst/>
                        <a:latin typeface="Arial"/>
                        <a:ea typeface="Arial"/>
                      </a:endParaRPr>
                    </a:p>
                  </a:txBody>
                  <a:tcPr marL="54444" marR="54444" marT="54444" marB="54444"/>
                </a:tc>
                <a:tc>
                  <a:txBody>
                    <a:bodyPr/>
                    <a:lstStyle/>
                    <a:p>
                      <a:pPr>
                        <a:lnSpc>
                          <a:spcPct val="115000"/>
                        </a:lnSpc>
                        <a:spcAft>
                          <a:spcPts val="0"/>
                        </a:spcAft>
                      </a:pPr>
                      <a:r>
                        <a:rPr lang="en-SG" sz="1400" dirty="0">
                          <a:effectLst/>
                        </a:rPr>
                        <a:t>Write 2-3 sentences about the types of information found on this device.</a:t>
                      </a:r>
                    </a:p>
                    <a:p>
                      <a:pPr>
                        <a:lnSpc>
                          <a:spcPct val="115000"/>
                        </a:lnSpc>
                        <a:spcAft>
                          <a:spcPts val="0"/>
                        </a:spcAft>
                      </a:pPr>
                      <a:r>
                        <a:rPr lang="en-SG" sz="1400" dirty="0">
                          <a:effectLst/>
                        </a:rPr>
                        <a:t> </a:t>
                      </a:r>
                    </a:p>
                    <a:p>
                      <a:pPr>
                        <a:lnSpc>
                          <a:spcPct val="115000"/>
                        </a:lnSpc>
                        <a:spcAft>
                          <a:spcPts val="0"/>
                        </a:spcAft>
                      </a:pPr>
                      <a:r>
                        <a:rPr lang="en-SG" sz="1400" dirty="0">
                          <a:solidFill>
                            <a:srgbClr val="0070C0"/>
                          </a:solidFill>
                          <a:effectLst/>
                        </a:rPr>
                        <a:t>Some documents appear to contain personal information that Jorge wouldn’t want to be made public. The work files include the PII of other people. Also, the work files contain information about the hospital’s operations</a:t>
                      </a:r>
                      <a:r>
                        <a:rPr lang="en-SG" sz="1400" dirty="0" smtClean="0">
                          <a:solidFill>
                            <a:srgbClr val="0070C0"/>
                          </a:solidFill>
                          <a:effectLst/>
                        </a:rPr>
                        <a:t>.</a:t>
                      </a:r>
                      <a:r>
                        <a:rPr lang="en-GB" sz="1400" dirty="0" smtClean="0">
                          <a:solidFill>
                            <a:srgbClr val="0070C0"/>
                          </a:solidFill>
                          <a:effectLst/>
                        </a:rPr>
                        <a:t> </a:t>
                      </a:r>
                      <a:r>
                        <a:rPr lang="en-GB" sz="1400" baseline="0" dirty="0" smtClean="0">
                          <a:solidFill>
                            <a:srgbClr val="0070C0"/>
                          </a:solidFill>
                          <a:effectLst/>
                        </a:rPr>
                        <a:t> A</a:t>
                      </a:r>
                      <a:r>
                        <a:rPr lang="en-GB" sz="1400" dirty="0" smtClean="0">
                          <a:solidFill>
                            <a:srgbClr val="0070C0"/>
                          </a:solidFill>
                          <a:effectLst/>
                        </a:rPr>
                        <a:t> mixture of personal and business-related information</a:t>
                      </a:r>
                      <a:r>
                        <a:rPr lang="en-GB" sz="1400" baseline="0" dirty="0" smtClean="0">
                          <a:solidFill>
                            <a:srgbClr val="0070C0"/>
                          </a:solidFill>
                          <a:effectLst/>
                        </a:rPr>
                        <a:t> </a:t>
                      </a:r>
                      <a:r>
                        <a:rPr lang="en-GB" sz="1400" dirty="0" smtClean="0">
                          <a:solidFill>
                            <a:srgbClr val="0070C0"/>
                          </a:solidFill>
                          <a:effectLst/>
                        </a:rPr>
                        <a:t>should not be stored in the same place. </a:t>
                      </a:r>
                      <a:endParaRPr lang="en-SG" sz="1400" dirty="0">
                        <a:solidFill>
                          <a:srgbClr val="0070C0"/>
                        </a:solidFill>
                        <a:effectLst/>
                        <a:latin typeface="Arial"/>
                        <a:ea typeface="Arial"/>
                      </a:endParaRPr>
                    </a:p>
                  </a:txBody>
                  <a:tcPr marL="54444" marR="54444" marT="54444" marB="54444"/>
                </a:tc>
              </a:tr>
              <a:tr h="1457548">
                <a:tc>
                  <a:txBody>
                    <a:bodyPr/>
                    <a:lstStyle/>
                    <a:p>
                      <a:pPr>
                        <a:lnSpc>
                          <a:spcPct val="115000"/>
                        </a:lnSpc>
                        <a:spcAft>
                          <a:spcPts val="0"/>
                        </a:spcAft>
                      </a:pPr>
                      <a:r>
                        <a:rPr lang="en-SG" sz="1400" b="1" dirty="0">
                          <a:effectLst/>
                        </a:rPr>
                        <a:t>Attacker </a:t>
                      </a:r>
                      <a:r>
                        <a:rPr lang="en-SG" sz="1400" b="1" dirty="0" err="1" smtClean="0">
                          <a:effectLst/>
                        </a:rPr>
                        <a:t>mindset</a:t>
                      </a:r>
                      <a:endParaRPr lang="en-SG" sz="1400" b="1" dirty="0" smtClean="0">
                        <a:effectLst/>
                      </a:endParaRPr>
                    </a:p>
                    <a:p>
                      <a:pPr>
                        <a:lnSpc>
                          <a:spcPct val="115000"/>
                        </a:lnSpc>
                        <a:spcAft>
                          <a:spcPts val="0"/>
                        </a:spcAft>
                      </a:pPr>
                      <a:endParaRPr lang="en-SG" sz="1400" dirty="0" smtClean="0">
                        <a:effectLst/>
                        <a:latin typeface="Arial"/>
                        <a:ea typeface="Arial"/>
                      </a:endParaRPr>
                    </a:p>
                    <a:p>
                      <a:pPr marL="285750" lvl="0" indent="-285750">
                        <a:buFont typeface="Arial" panose="020B0604020202020204" pitchFamily="34" charset="0"/>
                        <a:buChar char="•"/>
                      </a:pPr>
                      <a:r>
                        <a:rPr kumimoji="0" lang="en-SG" sz="1200" i="1" u="none" strike="noStrike" kern="1200" dirty="0" smtClean="0">
                          <a:solidFill>
                            <a:schemeClr val="dk1"/>
                          </a:solidFill>
                          <a:effectLst/>
                          <a:latin typeface="+mn-lt"/>
                          <a:ea typeface="+mn-ea"/>
                          <a:cs typeface="+mn-cs"/>
                        </a:rPr>
                        <a:t>Could the information be used against other employees?</a:t>
                      </a:r>
                      <a:endParaRPr kumimoji="0" lang="en-SG" sz="1200" u="none" strike="noStrike" kern="1200" dirty="0" smtClean="0">
                        <a:solidFill>
                          <a:schemeClr val="dk1"/>
                        </a:solidFill>
                        <a:effectLst/>
                        <a:latin typeface="+mn-lt"/>
                        <a:ea typeface="+mn-ea"/>
                        <a:cs typeface="+mn-cs"/>
                      </a:endParaRPr>
                    </a:p>
                    <a:p>
                      <a:pPr marL="285750" lvl="0" indent="-285750">
                        <a:buFont typeface="Arial" panose="020B0604020202020204" pitchFamily="34" charset="0"/>
                        <a:buChar char="•"/>
                      </a:pPr>
                      <a:r>
                        <a:rPr kumimoji="0" lang="en-SG" sz="1200" i="1" u="none" strike="noStrike" kern="1200" dirty="0" smtClean="0">
                          <a:solidFill>
                            <a:schemeClr val="dk1"/>
                          </a:solidFill>
                          <a:effectLst/>
                          <a:latin typeface="+mn-lt"/>
                          <a:ea typeface="+mn-ea"/>
                          <a:cs typeface="+mn-cs"/>
                        </a:rPr>
                        <a:t>Could the information be used against relatives?</a:t>
                      </a:r>
                      <a:endParaRPr kumimoji="0" lang="en-SG" sz="1200" u="none" strike="noStrike" kern="1200" dirty="0" smtClean="0">
                        <a:solidFill>
                          <a:schemeClr val="dk1"/>
                        </a:solidFill>
                        <a:effectLst/>
                        <a:latin typeface="+mn-lt"/>
                        <a:ea typeface="+mn-ea"/>
                        <a:cs typeface="+mn-cs"/>
                      </a:endParaRPr>
                    </a:p>
                    <a:p>
                      <a:pPr marL="285750" indent="-285750">
                        <a:buFont typeface="Arial" panose="020B0604020202020204" pitchFamily="34" charset="0"/>
                        <a:buChar char="•"/>
                      </a:pPr>
                      <a:r>
                        <a:rPr kumimoji="0" lang="en-SG" sz="1200" i="1" kern="1200" dirty="0" smtClean="0">
                          <a:solidFill>
                            <a:schemeClr val="dk1"/>
                          </a:solidFill>
                          <a:effectLst/>
                          <a:latin typeface="+mn-lt"/>
                          <a:ea typeface="+mn-ea"/>
                          <a:cs typeface="+mn-cs"/>
                        </a:rPr>
                        <a:t>Could the information provide access to the business?</a:t>
                      </a:r>
                      <a:endParaRPr lang="en-SG" sz="1050" dirty="0">
                        <a:effectLst/>
                        <a:latin typeface="Arial"/>
                        <a:ea typeface="Arial"/>
                      </a:endParaRPr>
                    </a:p>
                  </a:txBody>
                  <a:tcPr marL="54444" marR="54444" marT="54444" marB="54444"/>
                </a:tc>
                <a:tc>
                  <a:txBody>
                    <a:bodyPr/>
                    <a:lstStyle/>
                    <a:p>
                      <a:pPr>
                        <a:lnSpc>
                          <a:spcPct val="115000"/>
                        </a:lnSpc>
                        <a:spcAft>
                          <a:spcPts val="0"/>
                        </a:spcAft>
                      </a:pPr>
                      <a:r>
                        <a:rPr lang="en-SG" sz="1400" dirty="0">
                          <a:effectLst/>
                        </a:rPr>
                        <a:t>Write 2-3 sentences about how this information could be used against Jorge or the hospital.</a:t>
                      </a:r>
                    </a:p>
                    <a:p>
                      <a:pPr>
                        <a:lnSpc>
                          <a:spcPct val="115000"/>
                        </a:lnSpc>
                        <a:spcAft>
                          <a:spcPts val="0"/>
                        </a:spcAft>
                      </a:pPr>
                      <a:r>
                        <a:rPr lang="en-SG" sz="1400" dirty="0">
                          <a:effectLst/>
                        </a:rPr>
                        <a:t> </a:t>
                      </a:r>
                    </a:p>
                    <a:p>
                      <a:pPr>
                        <a:lnSpc>
                          <a:spcPct val="115000"/>
                        </a:lnSpc>
                        <a:spcAft>
                          <a:spcPts val="0"/>
                        </a:spcAft>
                      </a:pPr>
                      <a:r>
                        <a:rPr lang="en-SG" sz="1400" dirty="0">
                          <a:solidFill>
                            <a:srgbClr val="0070C0"/>
                          </a:solidFill>
                          <a:effectLst/>
                        </a:rPr>
                        <a:t>The timesheets can provide an attacker intel about other people that Jorge works with. Either work or personal information could be used to trick Jorge. For example, a malicious email can be designed to look as though it comes from a </a:t>
                      </a:r>
                      <a:r>
                        <a:rPr lang="en-SG" sz="1400" dirty="0" err="1">
                          <a:solidFill>
                            <a:srgbClr val="0070C0"/>
                          </a:solidFill>
                          <a:effectLst/>
                        </a:rPr>
                        <a:t>coworker</a:t>
                      </a:r>
                      <a:r>
                        <a:rPr lang="en-SG" sz="1400" dirty="0">
                          <a:solidFill>
                            <a:srgbClr val="0070C0"/>
                          </a:solidFill>
                          <a:effectLst/>
                        </a:rPr>
                        <a:t> or relative. </a:t>
                      </a:r>
                      <a:r>
                        <a:rPr lang="en-GB" sz="1400" dirty="0" smtClean="0">
                          <a:solidFill>
                            <a:srgbClr val="0070C0"/>
                          </a:solidFill>
                          <a:effectLst/>
                        </a:rPr>
                        <a:t>Information on a USB drive should be encrypted regardless of whether it’s personal or work-related.</a:t>
                      </a:r>
                      <a:endParaRPr lang="en-SG" sz="1400" dirty="0">
                        <a:solidFill>
                          <a:srgbClr val="0070C0"/>
                        </a:solidFill>
                        <a:effectLst/>
                        <a:latin typeface="Arial"/>
                        <a:ea typeface="Arial"/>
                      </a:endParaRPr>
                    </a:p>
                  </a:txBody>
                  <a:tcPr marL="54444" marR="54444" marT="54444" marB="54444"/>
                </a:tc>
              </a:tr>
              <a:tr h="2123975">
                <a:tc>
                  <a:txBody>
                    <a:bodyPr/>
                    <a:lstStyle/>
                    <a:p>
                      <a:pPr>
                        <a:lnSpc>
                          <a:spcPct val="115000"/>
                        </a:lnSpc>
                        <a:spcAft>
                          <a:spcPts val="0"/>
                        </a:spcAft>
                      </a:pPr>
                      <a:r>
                        <a:rPr lang="en-SG" sz="1400" b="1" dirty="0">
                          <a:effectLst/>
                        </a:rPr>
                        <a:t>Risk </a:t>
                      </a:r>
                      <a:r>
                        <a:rPr lang="en-SG" sz="1400" b="1" dirty="0" smtClean="0">
                          <a:effectLst/>
                        </a:rPr>
                        <a:t>analysis</a:t>
                      </a:r>
                    </a:p>
                    <a:p>
                      <a:pPr>
                        <a:lnSpc>
                          <a:spcPct val="115000"/>
                        </a:lnSpc>
                        <a:spcAft>
                          <a:spcPts val="0"/>
                        </a:spcAft>
                      </a:pPr>
                      <a:endParaRPr lang="en-SG" sz="1400" dirty="0" smtClean="0">
                        <a:effectLst/>
                        <a:latin typeface="Arial"/>
                        <a:ea typeface="Arial"/>
                      </a:endParaRPr>
                    </a:p>
                    <a:p>
                      <a:pPr marL="285750" lvl="0" indent="-285750">
                        <a:buFont typeface="Arial" panose="020B0604020202020204" pitchFamily="34" charset="0"/>
                        <a:buChar char="•"/>
                      </a:pPr>
                      <a:r>
                        <a:rPr kumimoji="0" lang="en-SG" sz="1200" i="1" u="none" strike="noStrike" kern="1200" dirty="0" smtClean="0">
                          <a:solidFill>
                            <a:schemeClr val="dk1"/>
                          </a:solidFill>
                          <a:effectLst/>
                          <a:latin typeface="+mn-lt"/>
                          <a:ea typeface="+mn-ea"/>
                          <a:cs typeface="+mn-cs"/>
                        </a:rPr>
                        <a:t>What types of malicious software could be hidden on these devices?  What could have happened if the device were infected and discovered by another employee?</a:t>
                      </a:r>
                      <a:endParaRPr kumimoji="0" lang="en-SG" sz="1200" u="none" strike="noStrike" kern="1200" dirty="0" smtClean="0">
                        <a:solidFill>
                          <a:schemeClr val="dk1"/>
                        </a:solidFill>
                        <a:effectLst/>
                        <a:latin typeface="+mn-lt"/>
                        <a:ea typeface="+mn-ea"/>
                        <a:cs typeface="+mn-cs"/>
                      </a:endParaRPr>
                    </a:p>
                    <a:p>
                      <a:pPr marL="285750" lvl="0" indent="-285750">
                        <a:buFont typeface="Arial" panose="020B0604020202020204" pitchFamily="34" charset="0"/>
                        <a:buChar char="•"/>
                      </a:pPr>
                      <a:r>
                        <a:rPr kumimoji="0" lang="en-SG" sz="1200" i="1" u="none" strike="noStrike" kern="1200" dirty="0" smtClean="0">
                          <a:solidFill>
                            <a:schemeClr val="dk1"/>
                          </a:solidFill>
                          <a:effectLst/>
                          <a:latin typeface="+mn-lt"/>
                          <a:ea typeface="+mn-ea"/>
                          <a:cs typeface="+mn-cs"/>
                        </a:rPr>
                        <a:t>What sensitive information could a threat actor find on a device like this?</a:t>
                      </a:r>
                      <a:endParaRPr kumimoji="0" lang="en-SG" sz="1200" u="none" strike="noStrike" kern="1200" dirty="0" smtClean="0">
                        <a:solidFill>
                          <a:schemeClr val="dk1"/>
                        </a:solidFill>
                        <a:effectLst/>
                        <a:latin typeface="+mn-lt"/>
                        <a:ea typeface="+mn-ea"/>
                        <a:cs typeface="+mn-cs"/>
                      </a:endParaRPr>
                    </a:p>
                    <a:p>
                      <a:pPr marL="285750" indent="-285750">
                        <a:buFont typeface="Arial" panose="020B0604020202020204" pitchFamily="34" charset="0"/>
                        <a:buChar char="•"/>
                      </a:pPr>
                      <a:r>
                        <a:rPr kumimoji="0" lang="en-SG" sz="1200" i="1" kern="1200" dirty="0" smtClean="0">
                          <a:solidFill>
                            <a:schemeClr val="dk1"/>
                          </a:solidFill>
                          <a:effectLst/>
                          <a:latin typeface="+mn-lt"/>
                          <a:ea typeface="+mn-ea"/>
                          <a:cs typeface="+mn-cs"/>
                        </a:rPr>
                        <a:t>How might that information be used against an individual or an organization?</a:t>
                      </a:r>
                      <a:endParaRPr lang="en-SG" sz="1050" dirty="0">
                        <a:effectLst/>
                        <a:latin typeface="Arial"/>
                        <a:ea typeface="Arial"/>
                      </a:endParaRPr>
                    </a:p>
                  </a:txBody>
                  <a:tcPr marL="54444" marR="54444" marT="54444" marB="54444"/>
                </a:tc>
                <a:tc>
                  <a:txBody>
                    <a:bodyPr/>
                    <a:lstStyle/>
                    <a:p>
                      <a:pPr>
                        <a:lnSpc>
                          <a:spcPct val="115000"/>
                        </a:lnSpc>
                        <a:spcAft>
                          <a:spcPts val="0"/>
                        </a:spcAft>
                      </a:pPr>
                      <a:r>
                        <a:rPr lang="en-SG" sz="1400" dirty="0">
                          <a:effectLst/>
                        </a:rPr>
                        <a:t>Write 3 or 4 sentences describing technical, operational, or managerial controls that could mitigate these types of attacks:</a:t>
                      </a:r>
                    </a:p>
                    <a:p>
                      <a:pPr>
                        <a:lnSpc>
                          <a:spcPct val="115000"/>
                        </a:lnSpc>
                        <a:spcAft>
                          <a:spcPts val="0"/>
                        </a:spcAft>
                      </a:pPr>
                      <a:r>
                        <a:rPr lang="en-SG" sz="1400" dirty="0">
                          <a:effectLst/>
                        </a:rPr>
                        <a:t> </a:t>
                      </a:r>
                    </a:p>
                    <a:p>
                      <a:pPr>
                        <a:lnSpc>
                          <a:spcPct val="115000"/>
                        </a:lnSpc>
                        <a:spcAft>
                          <a:spcPts val="0"/>
                        </a:spcAft>
                      </a:pPr>
                      <a:r>
                        <a:rPr lang="en-SG" sz="1400" dirty="0">
                          <a:solidFill>
                            <a:srgbClr val="0070C0"/>
                          </a:solidFill>
                          <a:effectLst/>
                        </a:rPr>
                        <a:t>Promoting employee awareness about these types of attacks and what to do when a suspicious USB drive is a managerial control that can reduce the risk of a negative incident. Setting up routine antivirus scans is an operational control that can be implemented. Another line of </a:t>
                      </a:r>
                      <a:r>
                        <a:rPr lang="en-SG" sz="1400" dirty="0" err="1">
                          <a:solidFill>
                            <a:srgbClr val="0070C0"/>
                          </a:solidFill>
                          <a:effectLst/>
                        </a:rPr>
                        <a:t>defense</a:t>
                      </a:r>
                      <a:r>
                        <a:rPr lang="en-SG" sz="1400" dirty="0">
                          <a:solidFill>
                            <a:srgbClr val="0070C0"/>
                          </a:solidFill>
                          <a:effectLst/>
                        </a:rPr>
                        <a:t> could be a technical control, like disabling AutoPlay on company PCs that will prevent a computer from automatically executing malicious code when a USB drive is plugged in.</a:t>
                      </a:r>
                      <a:endParaRPr lang="en-SG" sz="1400" dirty="0">
                        <a:solidFill>
                          <a:srgbClr val="0070C0"/>
                        </a:solidFill>
                        <a:effectLst/>
                        <a:latin typeface="Arial"/>
                        <a:ea typeface="Arial"/>
                      </a:endParaRPr>
                    </a:p>
                  </a:txBody>
                  <a:tcPr marL="54444" marR="54444" marT="54444" marB="54444"/>
                </a:tc>
              </a:tr>
            </a:tbl>
          </a:graphicData>
        </a:graphic>
      </p:graphicFrame>
      <p:sp>
        <p:nvSpPr>
          <p:cNvPr id="4" name="Rectangle 1"/>
          <p:cNvSpPr>
            <a:spLocks noChangeArrowheads="1"/>
          </p:cNvSpPr>
          <p:nvPr/>
        </p:nvSpPr>
        <p:spPr bwMode="auto">
          <a:xfrm>
            <a:off x="395536" y="26064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latin typeface="Arial" pitchFamily="34" charset="0"/>
                <a:ea typeface="Google Sans"/>
                <a:cs typeface="Google Sans"/>
              </a:rPr>
              <a:t>Parking lot USB exercise</a:t>
            </a:r>
            <a:endParaRPr kumimoji="0" lang="en-US" alt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7848059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463</TotalTime>
  <Words>347</Words>
  <Application>Microsoft Office PowerPoint</Application>
  <PresentationFormat>On-screen Show (4:3)</PresentationFormat>
  <Paragraphs>30</Paragraphs>
  <Slides>3</Slides>
  <Notes>0</Notes>
  <HiddenSlides>0</HiddenSlides>
  <MMClips>0</MMClips>
  <ScaleCrop>false</ScaleCrop>
  <HeadingPairs>
    <vt:vector size="4" baseType="variant">
      <vt:variant>
        <vt:lpstr>Theme</vt:lpstr>
      </vt:variant>
      <vt:variant>
        <vt:i4>2</vt:i4>
      </vt:variant>
      <vt:variant>
        <vt:lpstr>Slide Titles</vt:lpstr>
      </vt:variant>
      <vt:variant>
        <vt:i4>3</vt:i4>
      </vt:variant>
    </vt:vector>
  </HeadingPairs>
  <TitlesOfParts>
    <vt:vector size="5" baseType="lpstr">
      <vt:lpstr>Executive</vt:lpstr>
      <vt:lpstr>Equity</vt:lpstr>
      <vt:lpstr>Scenario</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29</cp:revision>
  <dcterms:created xsi:type="dcterms:W3CDTF">2026-04-11T03:58:54Z</dcterms:created>
  <dcterms:modified xsi:type="dcterms:W3CDTF">2026-05-21T09:08:38Z</dcterms:modified>
</cp:coreProperties>
</file>