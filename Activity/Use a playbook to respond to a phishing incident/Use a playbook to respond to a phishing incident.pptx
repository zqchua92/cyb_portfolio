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2">
  <p:sldMasterIdLst>
    <p:sldMasterId id="2147483660" r:id="rId1"/>
  </p:sldMasterIdLst>
  <p:notesMasterIdLst>
    <p:notesMasterId r:id="rId6"/>
  </p:notesMasterIdLst>
  <p:sldIdLst>
    <p:sldId id="259" r:id="rId2"/>
    <p:sldId id="260" r:id="rId3"/>
    <p:sldId id="262" r:id="rId4"/>
    <p:sldId id="261" r:id="rId5"/>
  </p:sldIdLst>
  <p:sldSz cx="9144000" cy="5143500" type="screen16x9"/>
  <p:notesSz cx="6858000" cy="9144000"/>
  <p:embeddedFontLst>
    <p:embeddedFont>
      <p:font typeface="Palatino Linotype" panose="02040502050505030304" pitchFamily="18" charset="0"/>
      <p:regular r:id="rId7"/>
      <p:bold r:id="rId8"/>
      <p:italic r:id="rId9"/>
      <p:boldItalic r:id="rId10"/>
    </p:embeddedFont>
    <p:embeddedFont>
      <p:font typeface="Century Gothic" panose="020B050202020202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56" d="100"/>
          <a:sy n="156" d="100"/>
        </p:scale>
        <p:origin x="-372" y="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478243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216C5678-EE20-4FA5-88E2-6E0BD67A2E26}" type="datetime1">
              <a:rPr lang="en-US" smtClean="0"/>
              <a:t>5/29/2026</a:t>
            </a:fld>
            <a:endParaRPr lang="en-US" dirty="0"/>
          </a:p>
        </p:txBody>
      </p:sp>
      <p:sp>
        <p:nvSpPr>
          <p:cNvPr id="8" name="Slide Number Placeholder 7"/>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9" name="Footer Placeholder 8"/>
          <p:cNvSpPr>
            <a:spLocks noGrp="1"/>
          </p:cNvSpPr>
          <p:nvPr>
            <p:ph type="ftr" sz="quarter" idx="12"/>
          </p:nvPr>
        </p:nvSpPr>
        <p:spPr/>
        <p:txBody>
          <a:bodyPr/>
          <a:lstStyle/>
          <a:p>
            <a:r>
              <a:rPr lang="en-US" smtClean="0"/>
              <a:t>Footer Text</a:t>
            </a:r>
            <a:endParaRPr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B11D738E-8962-435F-8C43-147B8DD7E819}" type="datetime1">
              <a:rPr lang="en-US" smtClean="0"/>
              <a:t>5/29/2026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CAEA93-55E7-4DA9-90C2-089A26EEFEC4}" type="datetime1">
              <a:rPr lang="en-US" smtClean="0"/>
              <a:t>5/29/2026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E34CF3C7-6809-4F39-BD67-A75817BDDE0A}" type="datetime1">
              <a:rPr lang="en-US" smtClean="0"/>
              <a:t>5/29/2026</a:t>
            </a:fld>
            <a:endParaRPr lang="en-US"/>
          </a:p>
        </p:txBody>
      </p:sp>
      <p:sp>
        <p:nvSpPr>
          <p:cNvPr id="6" name="Footer Placeholder 5"/>
          <p:cNvSpPr>
            <a:spLocks noGrp="1"/>
          </p:cNvSpPr>
          <p:nvPr>
            <p:ph type="ftr" sz="quarter" idx="11"/>
          </p:nvPr>
        </p:nvSpPr>
        <p:spPr/>
        <p:txBody>
          <a:bodyPr/>
          <a:lstStyle/>
          <a:p>
            <a:r>
              <a:rPr lang="en-US" smtClean="0"/>
              <a:t>Footer Text</a:t>
            </a:r>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9" name="Content Placeholder 8"/>
          <p:cNvSpPr>
            <a:spLocks noGrp="1"/>
          </p:cNvSpPr>
          <p:nvPr>
            <p:ph sz="quarter" idx="13"/>
          </p:nvPr>
        </p:nvSpPr>
        <p:spPr>
          <a:xfrm>
            <a:off x="365760" y="1200150"/>
            <a:ext cx="4041648" cy="339471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F7EAEB24-CE78-465C-A726-91D0868FA48F}" type="datetime1">
              <a:rPr lang="en-US" smtClean="0"/>
              <a:t>5/29/2026</a:t>
            </a:fld>
            <a:endParaRPr lang="en-US"/>
          </a:p>
        </p:txBody>
      </p:sp>
      <p:sp>
        <p:nvSpPr>
          <p:cNvPr id="8" name="Footer Placeholder 7"/>
          <p:cNvSpPr>
            <a:spLocks noGrp="1"/>
          </p:cNvSpPr>
          <p:nvPr>
            <p:ph type="ftr" sz="quarter" idx="11"/>
          </p:nvPr>
        </p:nvSpPr>
        <p:spPr/>
        <p:txBody>
          <a:bodyPr/>
          <a:lstStyle/>
          <a:p>
            <a:r>
              <a:rPr lang="en-US" smtClean="0"/>
              <a:t>Footer Text</a:t>
            </a:r>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1" name="Content Placeholder 10"/>
          <p:cNvSpPr>
            <a:spLocks noGrp="1"/>
          </p:cNvSpPr>
          <p:nvPr>
            <p:ph sz="quarter" idx="13"/>
          </p:nvPr>
        </p:nvSpPr>
        <p:spPr>
          <a:xfrm>
            <a:off x="457200" y="1659636"/>
            <a:ext cx="4041648" cy="293522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0BAADF0-1749-4E8B-9691-B44A5F8C0895}" type="datetime1">
              <a:rPr lang="en-US" smtClean="0"/>
              <a:t>5/29/2026</a:t>
            </a:fld>
            <a:endParaRPr lang="en-US"/>
          </a:p>
        </p:txBody>
      </p:sp>
      <p:sp>
        <p:nvSpPr>
          <p:cNvPr id="4" name="Footer Placeholder 3"/>
          <p:cNvSpPr>
            <a:spLocks noGrp="1"/>
          </p:cNvSpPr>
          <p:nvPr>
            <p:ph type="ftr" sz="quarter" idx="11"/>
          </p:nvPr>
        </p:nvSpPr>
        <p:spPr/>
        <p:txBody>
          <a:bodyPr/>
          <a:lstStyle/>
          <a:p>
            <a:r>
              <a:rPr lang="en-US" smtClean="0"/>
              <a:t>Footer Text</a:t>
            </a:r>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AF628A-A867-4937-BBE5-207DB6F9C51A}" type="datetime1">
              <a:rPr lang="en-US" smtClean="0"/>
              <a:t>5/29/2026</a:t>
            </a:fld>
            <a:endParaRPr lang="en-US"/>
          </a:p>
        </p:txBody>
      </p:sp>
      <p:sp>
        <p:nvSpPr>
          <p:cNvPr id="3" name="Footer Placeholder 2"/>
          <p:cNvSpPr>
            <a:spLocks noGrp="1"/>
          </p:cNvSpPr>
          <p:nvPr>
            <p:ph type="ftr" sz="quarter" idx="11"/>
          </p:nvPr>
        </p:nvSpPr>
        <p:spPr/>
        <p:txBody>
          <a:bodyPr/>
          <a:lstStyle/>
          <a:p>
            <a:r>
              <a:rPr lang="en-US" smtClean="0"/>
              <a:t>Footer Text</a:t>
            </a:r>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8BBB94-68E6-4675-A946-F1C5994EDBD7}" type="datetime1">
              <a:rPr lang="en-US" smtClean="0"/>
              <a:t>5/29/2026</a:t>
            </a:fld>
            <a:endParaRPr lang="en-US"/>
          </a:p>
        </p:txBody>
      </p:sp>
      <p:sp>
        <p:nvSpPr>
          <p:cNvPr id="6" name="Footer Placeholder 5"/>
          <p:cNvSpPr>
            <a:spLocks noGrp="1"/>
          </p:cNvSpPr>
          <p:nvPr>
            <p:ph type="ftr" sz="quarter" idx="11"/>
          </p:nvPr>
        </p:nvSpPr>
        <p:spPr/>
        <p:txBody>
          <a:bodyPr/>
          <a:lstStyle/>
          <a:p>
            <a:r>
              <a:rPr lang="en-US" smtClean="0"/>
              <a:t>Footer Text</a:t>
            </a:r>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3B8377-21E3-4835-B75D-4E2847E2750F}" type="datetime1">
              <a:rPr lang="en-US" smtClean="0"/>
              <a:t>5/29/2026</a:t>
            </a:fld>
            <a:endParaRPr lang="en-US"/>
          </a:p>
        </p:txBody>
      </p:sp>
      <p:sp>
        <p:nvSpPr>
          <p:cNvPr id="6" name="Footer Placeholder 5"/>
          <p:cNvSpPr>
            <a:spLocks noGrp="1"/>
          </p:cNvSpPr>
          <p:nvPr>
            <p:ph type="ftr" sz="quarter" idx="11"/>
          </p:nvPr>
        </p:nvSpPr>
        <p:spPr/>
        <p:txBody>
          <a:bodyPr/>
          <a:lstStyle/>
          <a:p>
            <a:r>
              <a:rPr lang="en-US" smtClean="0"/>
              <a:t>Footer Text</a:t>
            </a:r>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051B39-B140-43FE-96DB-472A2B59CE7C}" type="datetime1">
              <a:rPr lang="en-US" smtClean="0"/>
              <a:t>5/29/2026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600BB2-27C5-458B-ABCE-839C88CF47CE}" type="datetime1">
              <a:rPr lang="en-US" smtClean="0"/>
              <a:t>5/29/2026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B0C4986D-6BE9-4264-908F-02DB36FD8D6C}" type="datetime1">
              <a:rPr lang="en-US" smtClean="0"/>
              <a:t>5/29/2026</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r>
              <a:rPr lang="en-US" smtClean="0"/>
              <a:t>Footer Text</a:t>
            </a:r>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marL="0" lvl="0" indent="0" algn="r" rtl="0">
              <a:spcBef>
                <a:spcPts val="0"/>
              </a:spcBef>
              <a:spcAft>
                <a:spcPts val="0"/>
              </a:spcAft>
              <a:buNone/>
            </a:pPr>
            <a:fld id="{00000000-1234-1234-1234-123412341234}" type="slidenum">
              <a:rPr lang="en" smtClean="0"/>
              <a:t>‹#›</a:t>
            </a:fld>
            <a:endParaRPr lang="en"/>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303498"/>
            <a:ext cx="7772400" cy="1102519"/>
          </a:xfrm>
        </p:spPr>
        <p:txBody>
          <a:bodyPr/>
          <a:lstStyle/>
          <a:p>
            <a:r>
              <a:rPr lang="en-SG" dirty="0" smtClean="0"/>
              <a:t>Scenario</a:t>
            </a:r>
            <a:endParaRPr lang="en-SG" dirty="0"/>
          </a:p>
        </p:txBody>
      </p:sp>
      <p:sp>
        <p:nvSpPr>
          <p:cNvPr id="3" name="Subtitle 2"/>
          <p:cNvSpPr>
            <a:spLocks noGrp="1"/>
          </p:cNvSpPr>
          <p:nvPr>
            <p:ph type="subTitle" idx="1"/>
          </p:nvPr>
        </p:nvSpPr>
        <p:spPr>
          <a:xfrm>
            <a:off x="683568" y="1508466"/>
            <a:ext cx="7776864" cy="2899488"/>
          </a:xfrm>
        </p:spPr>
        <p:txBody>
          <a:bodyPr>
            <a:noAutofit/>
          </a:bodyPr>
          <a:lstStyle/>
          <a:p>
            <a:pPr algn="l"/>
            <a:r>
              <a:rPr lang="en-GB" sz="1200" dirty="0"/>
              <a:t>You are a level-one security operations </a:t>
            </a:r>
            <a:r>
              <a:rPr lang="en-GB" sz="1200" dirty="0" err="1"/>
              <a:t>center</a:t>
            </a:r>
            <a:r>
              <a:rPr lang="en-GB" sz="1200" dirty="0"/>
              <a:t> (SOC) analyst at a financial services company. Previously, you received a phishing alert about a suspicious file being downloaded on an employee's computer. After investigating the email attachment file's hash, the attachment has already been verified malicious. Now that you have this information, you must follow your organization's process to complete your investigation and resolve the alert.</a:t>
            </a:r>
          </a:p>
          <a:p>
            <a:pPr algn="l"/>
            <a:endParaRPr lang="en-GB" sz="1200" dirty="0" smtClean="0"/>
          </a:p>
          <a:p>
            <a:pPr algn="l"/>
            <a:r>
              <a:rPr lang="en-GB" sz="1200" dirty="0" smtClean="0"/>
              <a:t>Your </a:t>
            </a:r>
            <a:r>
              <a:rPr lang="en-GB" sz="1200" dirty="0"/>
              <a:t>organization's security policies and procedures describe how to respond to specific alerts, including what to do when you receive a phishing alert. </a:t>
            </a:r>
          </a:p>
          <a:p>
            <a:pPr algn="l"/>
            <a:endParaRPr lang="en-GB" sz="1200" dirty="0" smtClean="0"/>
          </a:p>
          <a:p>
            <a:pPr algn="l"/>
            <a:r>
              <a:rPr lang="en-GB" sz="1200" dirty="0" smtClean="0"/>
              <a:t>In </a:t>
            </a:r>
            <a:r>
              <a:rPr lang="en-GB" sz="1200" dirty="0"/>
              <a:t>the playbook, there is a flowchart and written instructions to help you complete your investigation and resolve the alert. At the end of your investigation, you will update the alert ticket with your findings about the incident.</a:t>
            </a:r>
          </a:p>
        </p:txBody>
      </p:sp>
    </p:spTree>
    <p:extLst>
      <p:ext uri="{BB962C8B-B14F-4D97-AF65-F5344CB8AC3E}">
        <p14:creationId xmlns:p14="http://schemas.microsoft.com/office/powerpoint/2010/main" val="2771302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3568" y="277074"/>
            <a:ext cx="7776864" cy="2899488"/>
          </a:xfrm>
        </p:spPr>
        <p:txBody>
          <a:bodyPr>
            <a:noAutofit/>
          </a:bodyPr>
          <a:lstStyle/>
          <a:p>
            <a:pPr algn="l"/>
            <a:r>
              <a:rPr lang="en-GB" sz="1050" dirty="0"/>
              <a:t>For this exercise, begin with the second step in the playbook,</a:t>
            </a:r>
            <a:r>
              <a:rPr lang="en-GB" sz="1050" b="1" dirty="0"/>
              <a:t> Evaluate the alert</a:t>
            </a:r>
            <a:r>
              <a:rPr lang="en-GB" sz="1050" dirty="0"/>
              <a:t>, because you've already received and accessed the phishing alert ticket. </a:t>
            </a:r>
          </a:p>
          <a:p>
            <a:pPr algn="l"/>
            <a:endParaRPr lang="en-GB" sz="1050" dirty="0" smtClean="0"/>
          </a:p>
          <a:p>
            <a:pPr algn="l"/>
            <a:r>
              <a:rPr lang="en-GB" sz="1050" dirty="0" smtClean="0"/>
              <a:t>As </a:t>
            </a:r>
            <a:r>
              <a:rPr lang="en-GB" sz="1050" dirty="0"/>
              <a:t>a security analyst, you'll want to gain a complete understanding of why the alert was triggered. Create a new entry in your incident handler's journal to record the details of this security incident and gather your thoughts. You'll refer to these notes as you progress through the steps in the playbook. </a:t>
            </a:r>
          </a:p>
          <a:p>
            <a:pPr algn="l"/>
            <a:endParaRPr lang="en-GB" sz="1050" dirty="0" smtClean="0"/>
          </a:p>
          <a:p>
            <a:pPr algn="l"/>
            <a:r>
              <a:rPr lang="en-GB" sz="1050" dirty="0" smtClean="0"/>
              <a:t>Then</a:t>
            </a:r>
            <a:r>
              <a:rPr lang="en-GB" sz="1050" dirty="0"/>
              <a:t>, evaluate the contents of the </a:t>
            </a:r>
            <a:r>
              <a:rPr lang="en-GB" sz="1050" b="1" dirty="0"/>
              <a:t>Alert ticket,</a:t>
            </a:r>
            <a:r>
              <a:rPr lang="en-GB" sz="1050" dirty="0"/>
              <a:t> including the content in the </a:t>
            </a:r>
            <a:r>
              <a:rPr lang="en-GB" sz="1050" b="1" dirty="0"/>
              <a:t>Additional information </a:t>
            </a:r>
            <a:r>
              <a:rPr lang="en-GB" sz="1050" dirty="0"/>
              <a:t>section. Here are some examples of elements to examine when you are evaluating the alert ticket details:</a:t>
            </a:r>
          </a:p>
          <a:p>
            <a:pPr marL="171450" indent="-171450" algn="l">
              <a:buFont typeface="Arial" panose="020B0604020202020204" pitchFamily="34" charset="0"/>
              <a:buChar char="•"/>
            </a:pPr>
            <a:r>
              <a:rPr lang="en-GB" sz="1050" b="1" dirty="0"/>
              <a:t>Alert severity</a:t>
            </a:r>
            <a:r>
              <a:rPr lang="en-GB" sz="1050" dirty="0"/>
              <a:t>: According to the playbook instructions, an alert severity of Medium or High is a good indication that a ticket might require escalation</a:t>
            </a:r>
            <a:r>
              <a:rPr lang="en-GB" sz="1050" dirty="0" smtClean="0"/>
              <a:t>.</a:t>
            </a:r>
          </a:p>
          <a:p>
            <a:pPr marL="171450" indent="-171450" algn="l">
              <a:buFont typeface="Arial" panose="020B0604020202020204" pitchFamily="34" charset="0"/>
              <a:buChar char="•"/>
            </a:pPr>
            <a:endParaRPr lang="en-GB" sz="1050" dirty="0"/>
          </a:p>
          <a:p>
            <a:pPr marL="171450" indent="-171450" algn="l">
              <a:buFont typeface="Arial" panose="020B0604020202020204" pitchFamily="34" charset="0"/>
              <a:buChar char="•"/>
            </a:pPr>
            <a:r>
              <a:rPr lang="en-GB" sz="1050" b="1" dirty="0"/>
              <a:t>Sender details</a:t>
            </a:r>
            <a:r>
              <a:rPr lang="en-GB" sz="1050" dirty="0"/>
              <a:t>: </a:t>
            </a:r>
            <a:r>
              <a:rPr lang="en-GB" sz="1050" dirty="0" err="1"/>
              <a:t>Analyzing</a:t>
            </a:r>
            <a:r>
              <a:rPr lang="en-GB" sz="1050" dirty="0"/>
              <a:t> the sender details of an email is important because it can reveal inconsistencies that can indicate a phishing attempt. Often, phishing emails try to impersonate trusted entities. For example, if there is a mismatch between the sender's email address and the sender's name, this is a good indication that the email might be a phishing email</a:t>
            </a:r>
            <a:r>
              <a:rPr lang="en-GB" sz="1050" dirty="0" smtClean="0"/>
              <a:t>.</a:t>
            </a:r>
          </a:p>
          <a:p>
            <a:pPr marL="171450" indent="-171450" algn="l">
              <a:buFont typeface="Arial" panose="020B0604020202020204" pitchFamily="34" charset="0"/>
              <a:buChar char="•"/>
            </a:pPr>
            <a:endParaRPr lang="en-GB" sz="1050" dirty="0"/>
          </a:p>
          <a:p>
            <a:pPr marL="171450" indent="-171450" algn="l">
              <a:buFont typeface="Arial" panose="020B0604020202020204" pitchFamily="34" charset="0"/>
              <a:buChar char="•"/>
            </a:pPr>
            <a:r>
              <a:rPr lang="en-GB" sz="1050" b="1" dirty="0"/>
              <a:t>Message body</a:t>
            </a:r>
            <a:r>
              <a:rPr lang="en-GB" sz="1050" dirty="0"/>
              <a:t>: It's important to </a:t>
            </a:r>
            <a:r>
              <a:rPr lang="en-GB" sz="1050" dirty="0" err="1"/>
              <a:t>analyze</a:t>
            </a:r>
            <a:r>
              <a:rPr lang="en-GB" sz="1050" dirty="0"/>
              <a:t> the message body (and subject line) of an email because phishing emails often contain grammatical errors, which can be an indication of a phishing attempt</a:t>
            </a:r>
            <a:r>
              <a:rPr lang="en-GB" sz="1050" dirty="0" smtClean="0"/>
              <a:t>.</a:t>
            </a:r>
          </a:p>
          <a:p>
            <a:pPr marL="171450" indent="-171450" algn="l">
              <a:buFont typeface="Arial" panose="020B0604020202020204" pitchFamily="34" charset="0"/>
              <a:buChar char="•"/>
            </a:pPr>
            <a:endParaRPr lang="en-GB" sz="1050" dirty="0"/>
          </a:p>
          <a:p>
            <a:pPr marL="171450" indent="-171450" algn="l">
              <a:buFont typeface="Arial" panose="020B0604020202020204" pitchFamily="34" charset="0"/>
              <a:buChar char="•"/>
            </a:pPr>
            <a:r>
              <a:rPr lang="en-GB" sz="1050" b="1" dirty="0"/>
              <a:t>Attachments or links</a:t>
            </a:r>
            <a:r>
              <a:rPr lang="en-GB" sz="1050" dirty="0"/>
              <a:t>: Phishing emails contain malicious links or attachments that are used to steal sensitive information or download malicious software or code on the recipient's device. Check to see whether a file has been attached to this email</a:t>
            </a:r>
            <a:r>
              <a:rPr lang="en-GB" sz="1050" dirty="0" smtClean="0"/>
              <a:t>.</a:t>
            </a:r>
          </a:p>
          <a:p>
            <a:pPr marL="171450" indent="-171450" algn="l">
              <a:buFont typeface="Arial" panose="020B0604020202020204" pitchFamily="34" charset="0"/>
              <a:buChar char="•"/>
            </a:pPr>
            <a:endParaRPr lang="en-GB" sz="1050" dirty="0"/>
          </a:p>
        </p:txBody>
      </p:sp>
    </p:spTree>
    <p:extLst>
      <p:ext uri="{BB962C8B-B14F-4D97-AF65-F5344CB8AC3E}">
        <p14:creationId xmlns:p14="http://schemas.microsoft.com/office/powerpoint/2010/main" val="37024381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3568" y="277074"/>
            <a:ext cx="7776864" cy="2899488"/>
          </a:xfrm>
        </p:spPr>
        <p:txBody>
          <a:bodyPr>
            <a:noAutofit/>
          </a:bodyPr>
          <a:lstStyle/>
          <a:p>
            <a:pPr algn="l"/>
            <a:r>
              <a:rPr lang="en-GB" sz="1000" dirty="0"/>
              <a:t>After you've evaluated the contents of the alert ticket, answer the 5 W's of this incident to gather the information you need to understand the nature of the alert. The 5 W's are:</a:t>
            </a:r>
          </a:p>
          <a:p>
            <a:pPr algn="l"/>
            <a:endParaRPr lang="en-GB" sz="1000" dirty="0" smtClean="0"/>
          </a:p>
          <a:p>
            <a:pPr marL="171450" indent="-171450" algn="l">
              <a:buFont typeface="Arial" panose="020B0604020202020204" pitchFamily="34" charset="0"/>
              <a:buChar char="•"/>
            </a:pPr>
            <a:r>
              <a:rPr lang="en-GB" sz="1000" dirty="0" smtClean="0"/>
              <a:t>Who </a:t>
            </a:r>
            <a:r>
              <a:rPr lang="en-GB" sz="1000" dirty="0"/>
              <a:t>caused the incident?</a:t>
            </a:r>
          </a:p>
          <a:p>
            <a:pPr marL="171450" indent="-171450" algn="l">
              <a:buFont typeface="Arial" panose="020B0604020202020204" pitchFamily="34" charset="0"/>
              <a:buChar char="•"/>
            </a:pPr>
            <a:r>
              <a:rPr lang="en-GB" sz="1000" dirty="0"/>
              <a:t>What happened?</a:t>
            </a:r>
          </a:p>
          <a:p>
            <a:pPr marL="171450" indent="-171450" algn="l">
              <a:buFont typeface="Arial" panose="020B0604020202020204" pitchFamily="34" charset="0"/>
              <a:buChar char="•"/>
            </a:pPr>
            <a:r>
              <a:rPr lang="en-GB" sz="1000" dirty="0"/>
              <a:t>When did the incident take place?</a:t>
            </a:r>
          </a:p>
          <a:p>
            <a:pPr marL="171450" indent="-171450" algn="l">
              <a:buFont typeface="Arial" panose="020B0604020202020204" pitchFamily="34" charset="0"/>
              <a:buChar char="•"/>
            </a:pPr>
            <a:r>
              <a:rPr lang="en-GB" sz="1000" dirty="0"/>
              <a:t>Where did the incident occur?</a:t>
            </a:r>
          </a:p>
          <a:p>
            <a:pPr marL="171450" indent="-171450" algn="l">
              <a:buFont typeface="Arial" panose="020B0604020202020204" pitchFamily="34" charset="0"/>
              <a:buChar char="•"/>
            </a:pPr>
            <a:r>
              <a:rPr lang="en-GB" sz="1000" dirty="0"/>
              <a:t>Why did it happen?</a:t>
            </a:r>
          </a:p>
          <a:p>
            <a:pPr algn="l"/>
            <a:endParaRPr lang="en-GB" sz="1000" dirty="0" smtClean="0"/>
          </a:p>
          <a:p>
            <a:pPr algn="l"/>
            <a:r>
              <a:rPr lang="en-GB" sz="1000" dirty="0" smtClean="0"/>
              <a:t>At </a:t>
            </a:r>
            <a:r>
              <a:rPr lang="en-GB" sz="1000" dirty="0"/>
              <a:t>the end of this step, you should have 2-3 reasons on why you believe the phishing alert is or isn't legitimate</a:t>
            </a:r>
            <a:r>
              <a:rPr lang="en-GB" sz="1000" dirty="0" smtClean="0"/>
              <a:t>.</a:t>
            </a:r>
          </a:p>
          <a:p>
            <a:pPr algn="l"/>
            <a:endParaRPr lang="en-GB" sz="1000" dirty="0"/>
          </a:p>
          <a:p>
            <a:pPr algn="l"/>
            <a:r>
              <a:rPr lang="en-GB" sz="1000" dirty="0"/>
              <a:t>After evaluating the alert details, use the Phishing Playbook's</a:t>
            </a:r>
            <a:r>
              <a:rPr lang="en-GB" sz="1000" b="1" dirty="0"/>
              <a:t> Step 3.0 </a:t>
            </a:r>
            <a:r>
              <a:rPr lang="en-GB" sz="1000" dirty="0"/>
              <a:t>and </a:t>
            </a:r>
            <a:r>
              <a:rPr lang="en-GB" sz="1000" b="1" dirty="0"/>
              <a:t>Step 3.1</a:t>
            </a:r>
            <a:r>
              <a:rPr lang="en-GB" sz="1000" dirty="0"/>
              <a:t> to determine whether the email contains links or attachments and whether these links or attachments are malicious. Remember you've already determined that the email contains an attachment that has been verified as malicious through its file hash. </a:t>
            </a:r>
            <a:endParaRPr lang="en-GB" sz="1000" dirty="0" smtClean="0"/>
          </a:p>
          <a:p>
            <a:pPr algn="l"/>
            <a:endParaRPr lang="en-GB" sz="1000" dirty="0"/>
          </a:p>
          <a:p>
            <a:pPr algn="l"/>
            <a:r>
              <a:rPr lang="en-GB" sz="1000" dirty="0"/>
              <a:t>Proceed to the Phishing Playbook's </a:t>
            </a:r>
            <a:r>
              <a:rPr lang="en-GB" sz="1000" b="1" dirty="0"/>
              <a:t>Step 3.2</a:t>
            </a:r>
            <a:r>
              <a:rPr lang="en-GB" sz="1000" dirty="0"/>
              <a:t> if you've determined that the alert should be escalated. If you've determined that the alert should not be escalated, proceed to the Phishing Playbook's </a:t>
            </a:r>
            <a:r>
              <a:rPr lang="en-GB" sz="1000" b="1" dirty="0"/>
              <a:t>Step 4</a:t>
            </a:r>
            <a:r>
              <a:rPr lang="en-GB" sz="1000" dirty="0"/>
              <a:t>.</a:t>
            </a:r>
          </a:p>
          <a:p>
            <a:pPr algn="l"/>
            <a:endParaRPr lang="en-GB" sz="1000" dirty="0" smtClean="0"/>
          </a:p>
          <a:p>
            <a:pPr algn="l"/>
            <a:r>
              <a:rPr lang="en-GB" sz="1000" dirty="0"/>
              <a:t>Now that you've examined the email details, complete the final step of the playbook and update the alert ticket in the activity template. Depending on whether you want to escalate or close the alert:</a:t>
            </a:r>
          </a:p>
          <a:p>
            <a:pPr marL="171450" indent="-171450" algn="l">
              <a:buFont typeface="Arial" panose="020B0604020202020204" pitchFamily="34" charset="0"/>
              <a:buChar char="•"/>
            </a:pPr>
            <a:r>
              <a:rPr lang="en-GB" sz="1000" dirty="0"/>
              <a:t>Under the </a:t>
            </a:r>
            <a:r>
              <a:rPr lang="en-GB" sz="1000" b="1" dirty="0"/>
              <a:t>Ticket status</a:t>
            </a:r>
            <a:r>
              <a:rPr lang="en-GB" sz="1000" dirty="0"/>
              <a:t> column of the alert ticket template, update the status of the ticket to either </a:t>
            </a:r>
            <a:r>
              <a:rPr lang="en-GB" sz="1000" b="1" dirty="0"/>
              <a:t>Closed</a:t>
            </a:r>
            <a:r>
              <a:rPr lang="en-GB" sz="1000" dirty="0"/>
              <a:t> or </a:t>
            </a:r>
            <a:r>
              <a:rPr lang="en-GB" sz="1000" b="1" dirty="0"/>
              <a:t>Escalated</a:t>
            </a:r>
            <a:r>
              <a:rPr lang="en-GB" sz="1000" dirty="0" smtClean="0"/>
              <a:t>.</a:t>
            </a:r>
          </a:p>
          <a:p>
            <a:pPr marL="171450" indent="-171450" algn="l">
              <a:buFont typeface="Arial" panose="020B0604020202020204" pitchFamily="34" charset="0"/>
              <a:buChar char="•"/>
            </a:pPr>
            <a:endParaRPr lang="en-GB" sz="1000" dirty="0"/>
          </a:p>
          <a:p>
            <a:pPr marL="171450" indent="-171450" algn="l">
              <a:buFont typeface="Arial" panose="020B0604020202020204" pitchFamily="34" charset="0"/>
              <a:buChar char="•"/>
            </a:pPr>
            <a:r>
              <a:rPr lang="en-GB" sz="1000" dirty="0"/>
              <a:t>Under the </a:t>
            </a:r>
            <a:r>
              <a:rPr lang="en-GB" sz="1000" b="1" dirty="0"/>
              <a:t>Ticket comments</a:t>
            </a:r>
            <a:r>
              <a:rPr lang="en-GB" sz="1000" dirty="0"/>
              <a:t> column of the alert ticket template, use the details you've found to explain the steps taken and why you chose to escalate or close the ticket. Include 2-3 reasons as to why you believe this alert should be escalated or closed.</a:t>
            </a:r>
          </a:p>
          <a:p>
            <a:pPr algn="l"/>
            <a:endParaRPr lang="en-GB" sz="1000" dirty="0"/>
          </a:p>
          <a:p>
            <a:pPr algn="l"/>
            <a:endParaRPr lang="en-GB" sz="1000" dirty="0"/>
          </a:p>
        </p:txBody>
      </p:sp>
    </p:spTree>
    <p:extLst>
      <p:ext uri="{BB962C8B-B14F-4D97-AF65-F5344CB8AC3E}">
        <p14:creationId xmlns:p14="http://schemas.microsoft.com/office/powerpoint/2010/main" val="27994141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41047"/>
          <a:stretch/>
        </p:blipFill>
        <p:spPr bwMode="auto">
          <a:xfrm>
            <a:off x="737616" y="2122606"/>
            <a:ext cx="3736848" cy="2740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Table 6"/>
          <p:cNvGraphicFramePr>
            <a:graphicFrameLocks noGrp="1"/>
          </p:cNvGraphicFramePr>
          <p:nvPr>
            <p:extLst>
              <p:ext uri="{D42A27DB-BD31-4B8C-83A1-F6EECF244321}">
                <p14:modId xmlns:p14="http://schemas.microsoft.com/office/powerpoint/2010/main" val="56804435"/>
              </p:ext>
            </p:extLst>
          </p:nvPr>
        </p:nvGraphicFramePr>
        <p:xfrm>
          <a:off x="4157472" y="347027"/>
          <a:ext cx="4029457" cy="1375664"/>
        </p:xfrm>
        <a:graphic>
          <a:graphicData uri="http://schemas.openxmlformats.org/drawingml/2006/table">
            <a:tbl>
              <a:tblPr>
                <a:tableStyleId>{5C22544A-7EE6-4342-B048-85BDC9FD1C3A}</a:tableStyleId>
              </a:tblPr>
              <a:tblGrid>
                <a:gridCol w="477852"/>
                <a:gridCol w="865300"/>
                <a:gridCol w="895435"/>
                <a:gridCol w="895435"/>
                <a:gridCol w="895435"/>
              </a:tblGrid>
              <a:tr h="237864">
                <a:tc>
                  <a:txBody>
                    <a:bodyPr/>
                    <a:lstStyle/>
                    <a:p>
                      <a:pPr>
                        <a:lnSpc>
                          <a:spcPct val="115000"/>
                        </a:lnSpc>
                        <a:spcAft>
                          <a:spcPts val="0"/>
                        </a:spcAft>
                      </a:pPr>
                      <a:r>
                        <a:rPr lang="en-SG" sz="800" dirty="0">
                          <a:effectLst/>
                        </a:rPr>
                        <a:t>Ticket ID</a:t>
                      </a:r>
                      <a:endParaRPr lang="en-SG" sz="800" dirty="0">
                        <a:effectLst/>
                        <a:latin typeface="Arial"/>
                        <a:ea typeface="Arial"/>
                      </a:endParaRPr>
                    </a:p>
                  </a:txBody>
                  <a:tcPr marL="63500" marR="63500" marT="63500" marB="63500"/>
                </a:tc>
                <a:tc>
                  <a:txBody>
                    <a:bodyPr/>
                    <a:lstStyle/>
                    <a:p>
                      <a:pPr>
                        <a:lnSpc>
                          <a:spcPct val="115000"/>
                        </a:lnSpc>
                        <a:spcAft>
                          <a:spcPts val="0"/>
                        </a:spcAft>
                      </a:pPr>
                      <a:r>
                        <a:rPr lang="en-SG" sz="800">
                          <a:effectLst/>
                        </a:rPr>
                        <a:t>Alert Message</a:t>
                      </a:r>
                      <a:endParaRPr lang="en-SG" sz="800">
                        <a:effectLst/>
                        <a:latin typeface="Arial"/>
                        <a:ea typeface="Arial"/>
                      </a:endParaRPr>
                    </a:p>
                  </a:txBody>
                  <a:tcPr marL="63500" marR="63500" marT="63500" marB="63500"/>
                </a:tc>
                <a:tc>
                  <a:txBody>
                    <a:bodyPr/>
                    <a:lstStyle/>
                    <a:p>
                      <a:pPr>
                        <a:lnSpc>
                          <a:spcPct val="115000"/>
                        </a:lnSpc>
                        <a:spcAft>
                          <a:spcPts val="0"/>
                        </a:spcAft>
                      </a:pPr>
                      <a:r>
                        <a:rPr lang="en-SG" sz="800">
                          <a:effectLst/>
                        </a:rPr>
                        <a:t>Severity</a:t>
                      </a:r>
                      <a:endParaRPr lang="en-SG" sz="800">
                        <a:effectLst/>
                        <a:latin typeface="Arial"/>
                        <a:ea typeface="Arial"/>
                      </a:endParaRPr>
                    </a:p>
                  </a:txBody>
                  <a:tcPr marL="63500" marR="63500" marT="63500" marB="63500"/>
                </a:tc>
                <a:tc>
                  <a:txBody>
                    <a:bodyPr/>
                    <a:lstStyle/>
                    <a:p>
                      <a:pPr>
                        <a:lnSpc>
                          <a:spcPct val="115000"/>
                        </a:lnSpc>
                        <a:spcAft>
                          <a:spcPts val="0"/>
                        </a:spcAft>
                      </a:pPr>
                      <a:r>
                        <a:rPr lang="en-SG" sz="800" dirty="0">
                          <a:effectLst/>
                        </a:rPr>
                        <a:t>Details</a:t>
                      </a:r>
                      <a:endParaRPr lang="en-SG" sz="800" dirty="0">
                        <a:effectLst/>
                        <a:latin typeface="Arial"/>
                        <a:ea typeface="Arial"/>
                      </a:endParaRPr>
                    </a:p>
                  </a:txBody>
                  <a:tcPr marL="63500" marR="63500" marT="63500" marB="63500"/>
                </a:tc>
                <a:tc>
                  <a:txBody>
                    <a:bodyPr/>
                    <a:lstStyle/>
                    <a:p>
                      <a:pPr>
                        <a:lnSpc>
                          <a:spcPct val="115000"/>
                        </a:lnSpc>
                        <a:spcAft>
                          <a:spcPts val="0"/>
                        </a:spcAft>
                      </a:pPr>
                      <a:r>
                        <a:rPr lang="en-SG" sz="800">
                          <a:effectLst/>
                        </a:rPr>
                        <a:t>Ticket status</a:t>
                      </a:r>
                      <a:endParaRPr lang="en-SG" sz="800">
                        <a:effectLst/>
                        <a:latin typeface="Arial"/>
                        <a:ea typeface="Arial"/>
                      </a:endParaRPr>
                    </a:p>
                  </a:txBody>
                  <a:tcPr marL="63500" marR="63500" marT="63500" marB="63500"/>
                </a:tc>
              </a:tr>
              <a:tr h="798901">
                <a:tc>
                  <a:txBody>
                    <a:bodyPr/>
                    <a:lstStyle/>
                    <a:p>
                      <a:pPr>
                        <a:lnSpc>
                          <a:spcPct val="115000"/>
                        </a:lnSpc>
                        <a:spcAft>
                          <a:spcPts val="0"/>
                        </a:spcAft>
                      </a:pPr>
                      <a:r>
                        <a:rPr lang="en-SG" sz="800">
                          <a:effectLst/>
                        </a:rPr>
                        <a:t>A-2703</a:t>
                      </a:r>
                      <a:endParaRPr lang="en-SG" sz="800">
                        <a:effectLst/>
                        <a:latin typeface="Arial"/>
                        <a:ea typeface="Arial"/>
                      </a:endParaRPr>
                    </a:p>
                  </a:txBody>
                  <a:tcPr marL="63500" marR="63500" marT="63500" marB="63500"/>
                </a:tc>
                <a:tc>
                  <a:txBody>
                    <a:bodyPr/>
                    <a:lstStyle/>
                    <a:p>
                      <a:pPr>
                        <a:lnSpc>
                          <a:spcPct val="115000"/>
                        </a:lnSpc>
                        <a:spcAft>
                          <a:spcPts val="0"/>
                        </a:spcAft>
                      </a:pPr>
                      <a:r>
                        <a:rPr lang="en-SG" sz="800" dirty="0">
                          <a:effectLst/>
                        </a:rPr>
                        <a:t>SERVER-MAIL Phishing attempt possible download of malware</a:t>
                      </a:r>
                      <a:endParaRPr lang="en-SG" sz="800" dirty="0">
                        <a:effectLst/>
                        <a:latin typeface="Arial"/>
                        <a:ea typeface="Arial"/>
                      </a:endParaRPr>
                    </a:p>
                  </a:txBody>
                  <a:tcPr marL="63500" marR="63500" marT="63500" marB="63500"/>
                </a:tc>
                <a:tc>
                  <a:txBody>
                    <a:bodyPr/>
                    <a:lstStyle/>
                    <a:p>
                      <a:pPr>
                        <a:lnSpc>
                          <a:spcPct val="115000"/>
                        </a:lnSpc>
                        <a:spcAft>
                          <a:spcPts val="0"/>
                        </a:spcAft>
                      </a:pPr>
                      <a:r>
                        <a:rPr lang="en-SG" sz="800" dirty="0">
                          <a:effectLst/>
                        </a:rPr>
                        <a:t>Medium</a:t>
                      </a:r>
                      <a:endParaRPr lang="en-SG" sz="800" dirty="0">
                        <a:effectLst/>
                        <a:latin typeface="Arial"/>
                        <a:ea typeface="Arial"/>
                      </a:endParaRPr>
                    </a:p>
                  </a:txBody>
                  <a:tcPr marL="63500" marR="63500" marT="63500" marB="63500"/>
                </a:tc>
                <a:tc>
                  <a:txBody>
                    <a:bodyPr/>
                    <a:lstStyle/>
                    <a:p>
                      <a:pPr>
                        <a:lnSpc>
                          <a:spcPct val="115000"/>
                        </a:lnSpc>
                        <a:spcAft>
                          <a:spcPts val="0"/>
                        </a:spcAft>
                      </a:pPr>
                      <a:r>
                        <a:rPr lang="en-SG" sz="800" dirty="0">
                          <a:effectLst/>
                        </a:rPr>
                        <a:t>The user may have opened a malicious email and opened attachments or clicked links.</a:t>
                      </a:r>
                      <a:endParaRPr lang="en-SG" sz="800" dirty="0">
                        <a:effectLst/>
                        <a:latin typeface="Arial"/>
                        <a:ea typeface="Arial"/>
                      </a:endParaRPr>
                    </a:p>
                  </a:txBody>
                  <a:tcPr marL="63500" marR="63500" marT="63500" marB="63500"/>
                </a:tc>
                <a:tc>
                  <a:txBody>
                    <a:bodyPr/>
                    <a:lstStyle/>
                    <a:p>
                      <a:pPr>
                        <a:lnSpc>
                          <a:spcPct val="115000"/>
                        </a:lnSpc>
                        <a:spcAft>
                          <a:spcPts val="0"/>
                        </a:spcAft>
                      </a:pPr>
                      <a:r>
                        <a:rPr lang="en-SG" sz="800" dirty="0">
                          <a:solidFill>
                            <a:srgbClr val="0070C0"/>
                          </a:solidFill>
                          <a:effectLst/>
                        </a:rPr>
                        <a:t>Escalated</a:t>
                      </a:r>
                      <a:endParaRPr lang="en-SG" sz="800" dirty="0">
                        <a:solidFill>
                          <a:srgbClr val="0070C0"/>
                        </a:solidFill>
                        <a:effectLst/>
                        <a:latin typeface="Arial"/>
                        <a:ea typeface="Arial"/>
                      </a:endParaRPr>
                    </a:p>
                  </a:txBody>
                  <a:tcPr marL="63500" marR="63500" marT="63500" marB="63500"/>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014485610"/>
              </p:ext>
            </p:extLst>
          </p:nvPr>
        </p:nvGraphicFramePr>
        <p:xfrm>
          <a:off x="4992624" y="1727665"/>
          <a:ext cx="2688336" cy="3135610"/>
        </p:xfrm>
        <a:graphic>
          <a:graphicData uri="http://schemas.openxmlformats.org/drawingml/2006/table">
            <a:tbl>
              <a:tblPr>
                <a:tableStyleId>{5C22544A-7EE6-4342-B048-85BDC9FD1C3A}</a:tableStyleId>
              </a:tblPr>
              <a:tblGrid>
                <a:gridCol w="2688336"/>
              </a:tblGrid>
              <a:tr h="327132">
                <a:tc>
                  <a:txBody>
                    <a:bodyPr/>
                    <a:lstStyle/>
                    <a:p>
                      <a:pPr>
                        <a:lnSpc>
                          <a:spcPct val="115000"/>
                        </a:lnSpc>
                        <a:spcAft>
                          <a:spcPts val="0"/>
                        </a:spcAft>
                      </a:pPr>
                      <a:r>
                        <a:rPr lang="en-SG" sz="900" dirty="0">
                          <a:effectLst/>
                        </a:rPr>
                        <a:t>Ticket comments</a:t>
                      </a:r>
                      <a:endParaRPr lang="en-SG" sz="900" dirty="0">
                        <a:effectLst/>
                        <a:latin typeface="Arial"/>
                        <a:ea typeface="Arial"/>
                      </a:endParaRPr>
                    </a:p>
                  </a:txBody>
                  <a:tcPr marL="63500" marR="63500" marT="63500" marB="63500"/>
                </a:tc>
              </a:tr>
              <a:tr h="1584228">
                <a:tc>
                  <a:txBody>
                    <a:bodyPr/>
                    <a:lstStyle/>
                    <a:p>
                      <a:pPr>
                        <a:lnSpc>
                          <a:spcPct val="115000"/>
                        </a:lnSpc>
                        <a:spcAft>
                          <a:spcPts val="0"/>
                        </a:spcAft>
                      </a:pPr>
                      <a:r>
                        <a:rPr lang="en-SG" sz="900" dirty="0">
                          <a:solidFill>
                            <a:srgbClr val="0070C0"/>
                          </a:solidFill>
                          <a:effectLst/>
                        </a:rPr>
                        <a:t>The alert detected that an employee downloaded and opened a malicious file from a phishing </a:t>
                      </a:r>
                      <a:r>
                        <a:rPr lang="en-SG" sz="900" dirty="0" smtClean="0">
                          <a:solidFill>
                            <a:srgbClr val="0070C0"/>
                          </a:solidFill>
                          <a:effectLst/>
                        </a:rPr>
                        <a:t>email.</a:t>
                      </a:r>
                    </a:p>
                    <a:p>
                      <a:pPr>
                        <a:lnSpc>
                          <a:spcPct val="115000"/>
                        </a:lnSpc>
                        <a:spcAft>
                          <a:spcPts val="0"/>
                        </a:spcAft>
                      </a:pPr>
                      <a:endParaRPr lang="en-SG" sz="900" dirty="0" smtClean="0">
                        <a:solidFill>
                          <a:srgbClr val="0070C0"/>
                        </a:solidFill>
                        <a:effectLst/>
                      </a:endParaRPr>
                    </a:p>
                    <a:p>
                      <a:pPr>
                        <a:lnSpc>
                          <a:spcPct val="115000"/>
                        </a:lnSpc>
                        <a:spcAft>
                          <a:spcPts val="0"/>
                        </a:spcAft>
                      </a:pPr>
                      <a:r>
                        <a:rPr lang="en-SG" sz="900" dirty="0" smtClean="0">
                          <a:solidFill>
                            <a:srgbClr val="0070C0"/>
                          </a:solidFill>
                          <a:effectLst/>
                        </a:rPr>
                        <a:t>There </a:t>
                      </a:r>
                      <a:r>
                        <a:rPr lang="en-SG" sz="900" dirty="0">
                          <a:solidFill>
                            <a:srgbClr val="0070C0"/>
                          </a:solidFill>
                          <a:effectLst/>
                        </a:rPr>
                        <a:t>is an inconsistency between the sender’s email address “76tguy6hh6tgftrt7tg.su’” the name used in the email body “Clyde West,” and the sender’s name, “Def Communications.” The email body and subject line contained grammatical errors. The email’s body also contained a password-protected attachment, “bfsvc.exe,” which was downloaded and opened on the affected machine. Having previously investigated the file hash, it is confirmed to be a known malicious file. Furthermore, the alert severity is reported as medium. With these findings, I chose to escalate this ticket to a level-two SOC analyst to take further action.</a:t>
                      </a:r>
                      <a:endParaRPr lang="en-SG" sz="900" dirty="0">
                        <a:solidFill>
                          <a:srgbClr val="0070C0"/>
                        </a:solidFill>
                        <a:effectLst/>
                        <a:latin typeface="Arial"/>
                        <a:ea typeface="Arial"/>
                      </a:endParaRPr>
                    </a:p>
                  </a:txBody>
                  <a:tcPr marL="63500" marR="63500" marT="63500" marB="63500"/>
                </a:tc>
              </a:tr>
            </a:tbl>
          </a:graphicData>
        </a:graphic>
      </p:graphicFrame>
    </p:spTree>
    <p:extLst>
      <p:ext uri="{BB962C8B-B14F-4D97-AF65-F5344CB8AC3E}">
        <p14:creationId xmlns:p14="http://schemas.microsoft.com/office/powerpoint/2010/main" val="29399233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59</TotalTime>
  <Words>430</Words>
  <Application>Microsoft Office PowerPoint</Application>
  <PresentationFormat>On-screen Show (16:9)</PresentationFormat>
  <Paragraphs>50</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Palatino Linotype</vt:lpstr>
      <vt:lpstr>Courier New</vt:lpstr>
      <vt:lpstr>Century Gothic</vt:lpstr>
      <vt:lpstr>Executive</vt:lpstr>
      <vt:lpstr>Scenario</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cp:lastModifiedBy>ZhiQian Chua</cp:lastModifiedBy>
  <cp:revision>8</cp:revision>
  <dcterms:modified xsi:type="dcterms:W3CDTF">2026-05-29T06:34:26Z</dcterms:modified>
</cp:coreProperties>
</file>