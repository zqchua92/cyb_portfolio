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 id="2147483696" r:id="rId2"/>
    <p:sldMasterId id="2147483708" r:id="rId3"/>
  </p:sldMasterIdLst>
  <p:sldIdLst>
    <p:sldId id="256" r:id="rId4"/>
    <p:sldId id="261" r:id="rId5"/>
    <p:sldId id="267" r:id="rId6"/>
    <p:sldId id="268" r:id="rId7"/>
    <p:sldId id="258" r:id="rId8"/>
    <p:sldId id="266" r:id="rId9"/>
    <p:sldId id="259" r:id="rId10"/>
    <p:sldId id="269"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C81D1448-F56A-427E-B4D3-154671AD8545}" type="datetimeFigureOut">
              <a:rPr lang="en-SG" smtClean="0"/>
              <a:t>16/5/2026</a:t>
            </a:fld>
            <a:endParaRPr lang="en-SG"/>
          </a:p>
        </p:txBody>
      </p:sp>
      <p:sp>
        <p:nvSpPr>
          <p:cNvPr id="8" name="Slide Number Placeholder 7"/>
          <p:cNvSpPr>
            <a:spLocks noGrp="1"/>
          </p:cNvSpPr>
          <p:nvPr>
            <p:ph type="sldNum" sz="quarter" idx="11"/>
          </p:nvPr>
        </p:nvSpPr>
        <p:spPr/>
        <p:txBody>
          <a:bodyPr/>
          <a:lstStyle/>
          <a:p>
            <a:fld id="{C5804EC2-4BFC-4480-AE2A-23FA0465B8FA}" type="slidenum">
              <a:rPr lang="en-SG" smtClean="0"/>
              <a:t>‹#›</a:t>
            </a:fld>
            <a:endParaRPr lang="en-SG"/>
          </a:p>
        </p:txBody>
      </p:sp>
      <p:sp>
        <p:nvSpPr>
          <p:cNvPr id="9" name="Footer Placeholder 8"/>
          <p:cNvSpPr>
            <a:spLocks noGrp="1"/>
          </p:cNvSpPr>
          <p:nvPr>
            <p:ph type="ftr" sz="quarter" idx="12"/>
          </p:nvPr>
        </p:nvSpPr>
        <p:spPr/>
        <p:txBody>
          <a:bodyPr/>
          <a:lstStyle/>
          <a:p>
            <a:endParaRPr lang="en-S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C81D1448-F56A-427E-B4D3-154671AD8545}" type="datetimeFigureOut">
              <a:rPr lang="en-SG" smtClean="0"/>
              <a:t>16/5/2026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16/5/2026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C81D1448-F56A-427E-B4D3-154671AD8545}" type="datetimeFigureOut">
              <a:rPr lang="en-SG" smtClean="0"/>
              <a:t>16/5/2026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C81D1448-F56A-427E-B4D3-154671AD8545}" type="datetimeFigureOut">
              <a:rPr lang="en-SG" smtClean="0"/>
              <a:t>16/5/2026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1D1448-F56A-427E-B4D3-154671AD8545}" type="datetimeFigureOut">
              <a:rPr lang="en-SG" smtClean="0"/>
              <a:t>16/5/2026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16/5/2026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16/5/2026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16/5/2026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16/5/2026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16/5/2026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C81D1448-F56A-427E-B4D3-154671AD8545}" type="datetimeFigureOut">
              <a:rPr lang="en-SG" smtClean="0"/>
              <a:t>16/5/2026</a:t>
            </a:fld>
            <a:endParaRPr lang="en-SG"/>
          </a:p>
        </p:txBody>
      </p:sp>
      <p:sp>
        <p:nvSpPr>
          <p:cNvPr id="17" name="Footer Placeholder 16"/>
          <p:cNvSpPr>
            <a:spLocks noGrp="1"/>
          </p:cNvSpPr>
          <p:nvPr>
            <p:ph type="ftr" sz="quarter" idx="11"/>
          </p:nvPr>
        </p:nvSpPr>
        <p:spPr/>
        <p:txBody>
          <a:bodyPr/>
          <a:lstStyle/>
          <a:p>
            <a:endParaRPr lang="en-SG"/>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C5804EC2-4BFC-4480-AE2A-23FA0465B8FA}" type="slidenum">
              <a:rPr lang="en-SG" smtClean="0"/>
              <a:t>‹#›</a:t>
            </a:fld>
            <a:endParaRPr lang="en-SG"/>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16/5/2026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16/5/2026</a:t>
            </a:fld>
            <a:endParaRPr lang="en-SG"/>
          </a:p>
        </p:txBody>
      </p:sp>
      <p:sp>
        <p:nvSpPr>
          <p:cNvPr id="5" name="Footer Placeholder 4"/>
          <p:cNvSpPr>
            <a:spLocks noGrp="1"/>
          </p:cNvSpPr>
          <p:nvPr>
            <p:ph type="ftr" sz="quarter" idx="11"/>
          </p:nvPr>
        </p:nvSpPr>
        <p:spPr>
          <a:xfrm>
            <a:off x="800100" y="6172200"/>
            <a:ext cx="4000500" cy="457200"/>
          </a:xfrm>
        </p:spPr>
        <p:txBody>
          <a:bodyPr/>
          <a:lstStyle/>
          <a:p>
            <a:endParaRPr lang="en-SG"/>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C5804EC2-4BFC-4480-AE2A-23FA0465B8FA}" type="slidenum">
              <a:rPr lang="en-SG" smtClean="0"/>
              <a:t>‹#›</a:t>
            </a:fld>
            <a:endParaRPr lang="en-SG"/>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16/5/2026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C81D1448-F56A-427E-B4D3-154671AD8545}" type="datetimeFigureOut">
              <a:rPr lang="en-SG" smtClean="0"/>
              <a:t>16/5/2026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81D1448-F56A-427E-B4D3-154671AD8545}" type="datetimeFigureOut">
              <a:rPr lang="en-SG" smtClean="0"/>
              <a:t>16/5/2026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16/5/2026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16/5/2026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16/5/2026</a:t>
            </a:fld>
            <a:endParaRPr lang="en-SG"/>
          </a:p>
        </p:txBody>
      </p:sp>
      <p:sp>
        <p:nvSpPr>
          <p:cNvPr id="6" name="Footer Placeholder 5"/>
          <p:cNvSpPr>
            <a:spLocks noGrp="1"/>
          </p:cNvSpPr>
          <p:nvPr>
            <p:ph type="ftr" sz="quarter" idx="11"/>
          </p:nvPr>
        </p:nvSpPr>
        <p:spPr>
          <a:xfrm>
            <a:off x="914400" y="6172200"/>
            <a:ext cx="3886200" cy="457200"/>
          </a:xfrm>
        </p:spPr>
        <p:txBody>
          <a:bodyPr/>
          <a:lstStyle/>
          <a:p>
            <a:endParaRPr lang="en-SG"/>
          </a:p>
        </p:txBody>
      </p:sp>
      <p:sp>
        <p:nvSpPr>
          <p:cNvPr id="7" name="Slide Number Placeholder 6"/>
          <p:cNvSpPr>
            <a:spLocks noGrp="1"/>
          </p:cNvSpPr>
          <p:nvPr>
            <p:ph type="sldNum" sz="quarter" idx="12"/>
          </p:nvPr>
        </p:nvSpPr>
        <p:spPr>
          <a:xfrm>
            <a:off x="146304" y="6208776"/>
            <a:ext cx="457200" cy="457200"/>
          </a:xfrm>
        </p:spPr>
        <p:txBody>
          <a:bodyPr/>
          <a:lstStyle/>
          <a:p>
            <a:fld id="{C5804EC2-4BFC-4480-AE2A-23FA0465B8FA}" type="slidenum">
              <a:rPr lang="en-SG" smtClean="0"/>
              <a:t>‹#›</a:t>
            </a:fld>
            <a:endParaRPr lang="en-SG"/>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16/5/2026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16/5/2026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C81D1448-F56A-427E-B4D3-154671AD8545}" type="datetimeFigureOut">
              <a:rPr lang="en-SG" smtClean="0"/>
              <a:t>16/5/2026</a:t>
            </a:fld>
            <a:endParaRPr lang="en-SG"/>
          </a:p>
        </p:txBody>
      </p:sp>
      <p:sp>
        <p:nvSpPr>
          <p:cNvPr id="19" name="Footer Placeholder 18"/>
          <p:cNvSpPr>
            <a:spLocks noGrp="1"/>
          </p:cNvSpPr>
          <p:nvPr>
            <p:ph type="ftr" sz="quarter" idx="11"/>
          </p:nvPr>
        </p:nvSpPr>
        <p:spPr/>
        <p:txBody>
          <a:bodyPr/>
          <a:lstStyle/>
          <a:p>
            <a:endParaRPr lang="en-SG"/>
          </a:p>
        </p:txBody>
      </p:sp>
      <p:sp>
        <p:nvSpPr>
          <p:cNvPr id="27" name="Slide Number Placeholder 26"/>
          <p:cNvSpPr>
            <a:spLocks noGrp="1"/>
          </p:cNvSpPr>
          <p:nvPr>
            <p:ph type="sldNum" sz="quarter" idx="12"/>
          </p:nvPr>
        </p:nvSpPr>
        <p:spPr/>
        <p:txBody>
          <a:bodyPr/>
          <a:lstStyle/>
          <a:p>
            <a:fld id="{C5804EC2-4BFC-4480-AE2A-23FA0465B8FA}" type="slidenum">
              <a:rPr lang="en-SG" smtClean="0"/>
              <a:t>‹#›</a:t>
            </a:fld>
            <a:endParaRPr lang="en-SG"/>
          </a:p>
        </p:txBody>
      </p:sp>
    </p:spTree>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16/5/2026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16/5/2026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16/5/2026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81D1448-F56A-427E-B4D3-154671AD8545}" type="datetimeFigureOut">
              <a:rPr lang="en-SG" smtClean="0"/>
              <a:t>16/5/2026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81D1448-F56A-427E-B4D3-154671AD8545}" type="datetimeFigureOut">
              <a:rPr lang="en-SG" smtClean="0"/>
              <a:t>16/5/2026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16/5/2026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16/5/2026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16/5/2026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a:xfrm>
            <a:off x="8077200" y="6356350"/>
            <a:ext cx="609600" cy="365125"/>
          </a:xfrm>
        </p:spPr>
        <p:txBody>
          <a:bodyPr/>
          <a:lstStyle/>
          <a:p>
            <a:fld id="{C5804EC2-4BFC-4480-AE2A-23FA0465B8FA}" type="slidenum">
              <a:rPr lang="en-SG" smtClean="0"/>
              <a:t>‹#›</a:t>
            </a:fld>
            <a:endParaRPr lang="en-SG"/>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16/5/2026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16/5/2026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C81D1448-F56A-427E-B4D3-154671AD8545}" type="datetimeFigureOut">
              <a:rPr lang="en-SG" smtClean="0"/>
              <a:t>16/5/2026</a:t>
            </a:fld>
            <a:endParaRPr lang="en-SG"/>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SG"/>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C5804EC2-4BFC-4480-AE2A-23FA0465B8FA}" type="slidenum">
              <a:rPr lang="en-SG" smtClean="0"/>
              <a:t>‹#›</a:t>
            </a:fld>
            <a:endParaRPr lang="en-SG"/>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C81D1448-F56A-427E-B4D3-154671AD8545}" type="datetimeFigureOut">
              <a:rPr lang="en-SG" smtClean="0"/>
              <a:t>16/5/2026</a:t>
            </a:fld>
            <a:endParaRPr lang="en-SG"/>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SG"/>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C5804EC2-4BFC-4480-AE2A-23FA0465B8FA}" type="slidenum">
              <a:rPr lang="en-SG" smtClean="0"/>
              <a:t>‹#›</a:t>
            </a:fld>
            <a:endParaRPr lang="en-SG"/>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81D1448-F56A-427E-B4D3-154671AD8545}" type="datetimeFigureOut">
              <a:rPr lang="en-SG" smtClean="0"/>
              <a:t>16/5/2026</a:t>
            </a:fld>
            <a:endParaRPr lang="en-SG"/>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SG"/>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5804EC2-4BFC-4480-AE2A-23FA0465B8FA}" type="slidenum">
              <a:rPr lang="en-SG" smtClean="0"/>
              <a:t>‹#›</a:t>
            </a:fld>
            <a:endParaRPr lang="en-SG"/>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404664"/>
            <a:ext cx="7772400" cy="1470025"/>
          </a:xfrm>
        </p:spPr>
        <p:txBody>
          <a:bodyPr/>
          <a:lstStyle/>
          <a:p>
            <a:r>
              <a:rPr lang="en-SG" dirty="0" smtClean="0"/>
              <a:t>Scenario</a:t>
            </a:r>
            <a:endParaRPr lang="en-SG" dirty="0"/>
          </a:p>
        </p:txBody>
      </p:sp>
      <p:sp>
        <p:nvSpPr>
          <p:cNvPr id="3" name="Subtitle 2"/>
          <p:cNvSpPr>
            <a:spLocks noGrp="1"/>
          </p:cNvSpPr>
          <p:nvPr>
            <p:ph type="subTitle" idx="1"/>
          </p:nvPr>
        </p:nvSpPr>
        <p:spPr>
          <a:xfrm>
            <a:off x="683568" y="2011288"/>
            <a:ext cx="7776864" cy="3865984"/>
          </a:xfrm>
        </p:spPr>
        <p:txBody>
          <a:bodyPr>
            <a:noAutofit/>
          </a:bodyPr>
          <a:lstStyle/>
          <a:p>
            <a:pPr algn="l"/>
            <a:r>
              <a:rPr lang="en-GB" sz="1400" dirty="0"/>
              <a:t>You are a newly hired cybersecurity analyst for an e-commerce company. The company stores information on a remote database server, since many of the employees work remotely from locations all around the world. Employees of the company regularly query, or request, data from the server to find potential customers. The database has been open to the public since the company's launch three years ago. As a cybersecurity professional, you recognize that keeping the database server open to the public is a serious vulnerability</a:t>
            </a:r>
            <a:r>
              <a:rPr lang="en-GB" sz="1400" dirty="0" smtClean="0"/>
              <a:t>.</a:t>
            </a:r>
          </a:p>
          <a:p>
            <a:pPr algn="l"/>
            <a:endParaRPr lang="en-GB" sz="1400" dirty="0"/>
          </a:p>
          <a:p>
            <a:pPr algn="l"/>
            <a:r>
              <a:rPr lang="en-GB" sz="1400" dirty="0"/>
              <a:t>You are tasked with completing a vulnerability assessment of the situation to communicate the potential risks to decision makers at the company. You must create a written report that explains how the vulnerable server is a risk to business operations and how it can be secured.</a:t>
            </a:r>
          </a:p>
        </p:txBody>
      </p:sp>
    </p:spTree>
    <p:extLst>
      <p:ext uri="{BB962C8B-B14F-4D97-AF65-F5344CB8AC3E}">
        <p14:creationId xmlns:p14="http://schemas.microsoft.com/office/powerpoint/2010/main" val="19191923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8340" y="188640"/>
            <a:ext cx="8784976" cy="3416320"/>
          </a:xfrm>
          <a:prstGeom prst="rect">
            <a:avLst/>
          </a:prstGeom>
          <a:noFill/>
        </p:spPr>
        <p:txBody>
          <a:bodyPr wrap="square" rtlCol="0">
            <a:spAutoFit/>
          </a:bodyPr>
          <a:lstStyle/>
          <a:p>
            <a:r>
              <a:rPr lang="en-GB" dirty="0"/>
              <a:t>Vulnerability assessments include a description of the system being evaluated and the scope of the project</a:t>
            </a:r>
            <a:r>
              <a:rPr lang="en-GB" dirty="0" smtClean="0"/>
              <a:t>.</a:t>
            </a:r>
          </a:p>
          <a:p>
            <a:endParaRPr lang="en-GB" dirty="0"/>
          </a:p>
          <a:p>
            <a:r>
              <a:rPr lang="en-GB" dirty="0"/>
              <a:t>Review the S</a:t>
            </a:r>
            <a:r>
              <a:rPr lang="en-GB" b="1" dirty="0"/>
              <a:t>ystem Description</a:t>
            </a:r>
            <a:r>
              <a:rPr lang="en-GB" dirty="0"/>
              <a:t> and </a:t>
            </a:r>
            <a:r>
              <a:rPr lang="en-GB" b="1" dirty="0"/>
              <a:t>Scope</a:t>
            </a:r>
            <a:r>
              <a:rPr lang="en-GB" dirty="0"/>
              <a:t> of the </a:t>
            </a:r>
            <a:r>
              <a:rPr lang="en-GB" i="1" dirty="0"/>
              <a:t>Vulnerability assessment report</a:t>
            </a:r>
            <a:r>
              <a:rPr lang="en-GB" dirty="0" smtClean="0"/>
              <a:t>.</a:t>
            </a:r>
          </a:p>
          <a:p>
            <a:endParaRPr lang="en-GB" dirty="0"/>
          </a:p>
          <a:p>
            <a:r>
              <a:rPr lang="en-GB" dirty="0"/>
              <a:t>The </a:t>
            </a:r>
            <a:r>
              <a:rPr lang="en-GB" b="1" dirty="0"/>
              <a:t>System Description</a:t>
            </a:r>
            <a:r>
              <a:rPr lang="en-GB" dirty="0"/>
              <a:t> highlights the relevant components, architecture, and dependencies of the system being assessed. All of these parts and connections make up the attack surface of the vulnerable information system</a:t>
            </a:r>
            <a:r>
              <a:rPr lang="en-GB" dirty="0" smtClean="0"/>
              <a:t>.</a:t>
            </a:r>
          </a:p>
          <a:p>
            <a:endParaRPr lang="en-GB" dirty="0"/>
          </a:p>
          <a:p>
            <a:r>
              <a:rPr lang="en-GB" dirty="0"/>
              <a:t>The </a:t>
            </a:r>
            <a:r>
              <a:rPr lang="en-GB" b="1" dirty="0"/>
              <a:t>Scope</a:t>
            </a:r>
            <a:r>
              <a:rPr lang="en-GB" dirty="0"/>
              <a:t> specifies the focus and boundaries of the assessment. For example, you might specify that the scope of this assessment only relates to the confidentiality, availability, and integrity of the data on the server — not the physical security of the server or its related IT systems.</a:t>
            </a:r>
          </a:p>
        </p:txBody>
      </p:sp>
    </p:spTree>
    <p:extLst>
      <p:ext uri="{BB962C8B-B14F-4D97-AF65-F5344CB8AC3E}">
        <p14:creationId xmlns:p14="http://schemas.microsoft.com/office/powerpoint/2010/main" val="29784805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8340" y="188640"/>
            <a:ext cx="8784976" cy="5632311"/>
          </a:xfrm>
          <a:prstGeom prst="rect">
            <a:avLst/>
          </a:prstGeom>
          <a:noFill/>
        </p:spPr>
        <p:txBody>
          <a:bodyPr wrap="square" rtlCol="0">
            <a:spAutoFit/>
          </a:bodyPr>
          <a:lstStyle/>
          <a:p>
            <a:r>
              <a:rPr lang="en-SG" sz="1600" b="1" dirty="0"/>
              <a:t>Vulnerability Assessment Report</a:t>
            </a:r>
            <a:endParaRPr lang="en-SG" sz="1600" dirty="0"/>
          </a:p>
          <a:p>
            <a:r>
              <a:rPr lang="en-SG" sz="1600" b="1" dirty="0"/>
              <a:t>1</a:t>
            </a:r>
            <a:r>
              <a:rPr lang="en-SG" sz="1600" b="1" baseline="30000" dirty="0"/>
              <a:t>st</a:t>
            </a:r>
            <a:r>
              <a:rPr lang="en-SG" sz="1600" b="1" dirty="0"/>
              <a:t> January </a:t>
            </a:r>
            <a:r>
              <a:rPr lang="en-SG" sz="1600" b="1" dirty="0" smtClean="0"/>
              <a:t>20XX</a:t>
            </a:r>
          </a:p>
          <a:p>
            <a:endParaRPr lang="en-SG" sz="1600" dirty="0"/>
          </a:p>
          <a:p>
            <a:r>
              <a:rPr lang="en-SG" sz="1600" b="1" dirty="0"/>
              <a:t>System Description</a:t>
            </a:r>
          </a:p>
          <a:p>
            <a:r>
              <a:rPr lang="en-SG" sz="1600" dirty="0"/>
              <a:t>The server hardware consists of a powerful CPU processor and 128GB of memory. It runs on the latest version of Linux operating system and hosts a MySQL database management system. It is configured with a stable network connection using IPv4 addresses and interacts with other servers on the network. Security measures include SSL/TLS encrypted connections</a:t>
            </a:r>
            <a:r>
              <a:rPr lang="en-SG" sz="1600" dirty="0" smtClean="0"/>
              <a:t>.</a:t>
            </a:r>
          </a:p>
          <a:p>
            <a:endParaRPr lang="en-SG" sz="1600" dirty="0"/>
          </a:p>
          <a:p>
            <a:r>
              <a:rPr lang="en-SG" sz="1600" b="1" dirty="0"/>
              <a:t>Scope</a:t>
            </a:r>
          </a:p>
          <a:p>
            <a:r>
              <a:rPr lang="en-SG" sz="1600" dirty="0"/>
              <a:t>The scope of this vulnerability assessment relates to the current access controls of the system. The assessment will cover a period of three months, from June 20XX to August 20XX. NIST SP 800-30 Rev. 1 is used to guide the risk analysis of the information system</a:t>
            </a:r>
            <a:r>
              <a:rPr lang="en-SG" sz="1600" dirty="0" smtClean="0"/>
              <a:t>.</a:t>
            </a:r>
          </a:p>
          <a:p>
            <a:endParaRPr lang="en-SG" sz="1600" dirty="0"/>
          </a:p>
          <a:p>
            <a:r>
              <a:rPr lang="en-SG" sz="1600" b="1" dirty="0"/>
              <a:t>Purpose</a:t>
            </a:r>
          </a:p>
          <a:p>
            <a:r>
              <a:rPr lang="en-SG" sz="1600" dirty="0"/>
              <a:t>Consider the following questions to help you write:</a:t>
            </a:r>
          </a:p>
          <a:p>
            <a:pPr marL="285750" lvl="0" indent="-285750">
              <a:buFont typeface="Arial" panose="020B0604020202020204" pitchFamily="34" charset="0"/>
              <a:buChar char="•"/>
            </a:pPr>
            <a:r>
              <a:rPr lang="en-SG" sz="1600" i="1" dirty="0"/>
              <a:t>How is the database server valuable to the business?</a:t>
            </a:r>
            <a:endParaRPr lang="en-SG" sz="1600" dirty="0"/>
          </a:p>
          <a:p>
            <a:pPr marL="285750" lvl="0" indent="-285750">
              <a:buFont typeface="Arial" panose="020B0604020202020204" pitchFamily="34" charset="0"/>
              <a:buChar char="•"/>
            </a:pPr>
            <a:r>
              <a:rPr lang="en-SG" sz="1600" i="1" dirty="0"/>
              <a:t>Why is it important for the business to secure the data on the server?</a:t>
            </a:r>
            <a:endParaRPr lang="en-SG" sz="1600" dirty="0"/>
          </a:p>
          <a:p>
            <a:pPr marL="285750" lvl="0" indent="-285750">
              <a:buFont typeface="Arial" panose="020B0604020202020204" pitchFamily="34" charset="0"/>
              <a:buChar char="•"/>
            </a:pPr>
            <a:r>
              <a:rPr lang="en-SG" sz="1600" i="1" dirty="0"/>
              <a:t>How might the server impact the business if it were disabled?</a:t>
            </a:r>
            <a:endParaRPr lang="en-SG" sz="1600" dirty="0"/>
          </a:p>
          <a:p>
            <a:endParaRPr lang="en-SG" sz="1600" dirty="0" smtClean="0"/>
          </a:p>
          <a:p>
            <a:r>
              <a:rPr lang="en-SG" sz="1600" b="1" dirty="0" smtClean="0"/>
              <a:t>Risk Assessment</a:t>
            </a:r>
            <a:endParaRPr lang="en-SG" sz="1600" b="1" dirty="0"/>
          </a:p>
          <a:p>
            <a:endParaRPr lang="en-SG" sz="1400" dirty="0"/>
          </a:p>
        </p:txBody>
      </p:sp>
      <p:graphicFrame>
        <p:nvGraphicFramePr>
          <p:cNvPr id="7" name="Table 6"/>
          <p:cNvGraphicFramePr>
            <a:graphicFrameLocks noGrp="1"/>
          </p:cNvGraphicFramePr>
          <p:nvPr>
            <p:extLst>
              <p:ext uri="{D42A27DB-BD31-4B8C-83A1-F6EECF244321}">
                <p14:modId xmlns:p14="http://schemas.microsoft.com/office/powerpoint/2010/main" val="843556682"/>
              </p:ext>
            </p:extLst>
          </p:nvPr>
        </p:nvGraphicFramePr>
        <p:xfrm>
          <a:off x="251520" y="5373216"/>
          <a:ext cx="6264696" cy="1279144"/>
        </p:xfrm>
        <a:graphic>
          <a:graphicData uri="http://schemas.openxmlformats.org/drawingml/2006/table">
            <a:tbl>
              <a:tblPr>
                <a:tableStyleId>{5C22544A-7EE6-4342-B048-85BDC9FD1C3A}</a:tableStyleId>
              </a:tblPr>
              <a:tblGrid>
                <a:gridCol w="1252938"/>
                <a:gridCol w="2435148"/>
                <a:gridCol w="939705"/>
                <a:gridCol w="889182"/>
                <a:gridCol w="747723"/>
              </a:tblGrid>
              <a:tr h="288032">
                <a:tc>
                  <a:txBody>
                    <a:bodyPr/>
                    <a:lstStyle/>
                    <a:p>
                      <a:pPr>
                        <a:lnSpc>
                          <a:spcPct val="115000"/>
                        </a:lnSpc>
                        <a:spcAft>
                          <a:spcPts val="0"/>
                        </a:spcAft>
                      </a:pPr>
                      <a:r>
                        <a:rPr lang="en-SG" sz="1100" dirty="0">
                          <a:effectLst/>
                        </a:rPr>
                        <a:t>Threat source</a:t>
                      </a:r>
                      <a:endParaRPr lang="en-SG" sz="1100" dirty="0">
                        <a:effectLst/>
                        <a:latin typeface="Arial"/>
                        <a:ea typeface="Arial"/>
                      </a:endParaRPr>
                    </a:p>
                  </a:txBody>
                  <a:tcPr marL="63500" marR="63500" marT="63500" marB="63500"/>
                </a:tc>
                <a:tc>
                  <a:txBody>
                    <a:bodyPr/>
                    <a:lstStyle/>
                    <a:p>
                      <a:pPr>
                        <a:lnSpc>
                          <a:spcPct val="115000"/>
                        </a:lnSpc>
                        <a:spcAft>
                          <a:spcPts val="0"/>
                        </a:spcAft>
                      </a:pPr>
                      <a:r>
                        <a:rPr lang="en-SG" sz="1100">
                          <a:effectLst/>
                        </a:rPr>
                        <a:t>Threat event</a:t>
                      </a:r>
                      <a:endParaRPr lang="en-SG" sz="1100">
                        <a:effectLst/>
                        <a:latin typeface="Arial"/>
                        <a:ea typeface="Arial"/>
                      </a:endParaRPr>
                    </a:p>
                  </a:txBody>
                  <a:tcPr marL="63500" marR="63500" marT="63500" marB="63500"/>
                </a:tc>
                <a:tc>
                  <a:txBody>
                    <a:bodyPr/>
                    <a:lstStyle/>
                    <a:p>
                      <a:pPr>
                        <a:lnSpc>
                          <a:spcPct val="115000"/>
                        </a:lnSpc>
                        <a:spcAft>
                          <a:spcPts val="0"/>
                        </a:spcAft>
                      </a:pPr>
                      <a:r>
                        <a:rPr lang="en-SG" sz="1100">
                          <a:effectLst/>
                        </a:rPr>
                        <a:t>Likelihood</a:t>
                      </a:r>
                      <a:endParaRPr lang="en-SG" sz="1100">
                        <a:effectLst/>
                        <a:latin typeface="Arial"/>
                        <a:ea typeface="Arial"/>
                      </a:endParaRPr>
                    </a:p>
                  </a:txBody>
                  <a:tcPr marL="63500" marR="63500" marT="63500" marB="63500"/>
                </a:tc>
                <a:tc>
                  <a:txBody>
                    <a:bodyPr/>
                    <a:lstStyle/>
                    <a:p>
                      <a:pPr>
                        <a:lnSpc>
                          <a:spcPct val="115000"/>
                        </a:lnSpc>
                        <a:spcAft>
                          <a:spcPts val="0"/>
                        </a:spcAft>
                      </a:pPr>
                      <a:r>
                        <a:rPr lang="en-SG" sz="1100">
                          <a:effectLst/>
                        </a:rPr>
                        <a:t>Severity</a:t>
                      </a:r>
                      <a:endParaRPr lang="en-SG" sz="1100">
                        <a:effectLst/>
                        <a:latin typeface="Arial"/>
                        <a:ea typeface="Arial"/>
                      </a:endParaRPr>
                    </a:p>
                  </a:txBody>
                  <a:tcPr marL="63500" marR="63500" marT="63500" marB="63500"/>
                </a:tc>
                <a:tc>
                  <a:txBody>
                    <a:bodyPr/>
                    <a:lstStyle/>
                    <a:p>
                      <a:pPr>
                        <a:lnSpc>
                          <a:spcPct val="115000"/>
                        </a:lnSpc>
                        <a:spcAft>
                          <a:spcPts val="0"/>
                        </a:spcAft>
                      </a:pPr>
                      <a:r>
                        <a:rPr lang="en-SG" sz="1100" dirty="0">
                          <a:effectLst/>
                        </a:rPr>
                        <a:t>Risk</a:t>
                      </a:r>
                      <a:endParaRPr lang="en-SG" sz="1100" dirty="0">
                        <a:effectLst/>
                        <a:latin typeface="Arial"/>
                        <a:ea typeface="Arial"/>
                      </a:endParaRPr>
                    </a:p>
                  </a:txBody>
                  <a:tcPr marL="63500" marR="63500" marT="63500" marB="63500"/>
                </a:tc>
              </a:tr>
              <a:tr h="288032">
                <a:tc>
                  <a:txBody>
                    <a:bodyPr/>
                    <a:lstStyle/>
                    <a:p>
                      <a:pPr>
                        <a:lnSpc>
                          <a:spcPct val="115000"/>
                        </a:lnSpc>
                        <a:spcAft>
                          <a:spcPts val="0"/>
                        </a:spcAft>
                      </a:pPr>
                      <a:r>
                        <a:rPr lang="en-SG" sz="1100">
                          <a:effectLst/>
                        </a:rPr>
                        <a:t>E.g. Competitor</a:t>
                      </a:r>
                      <a:endParaRPr lang="en-SG" sz="1100">
                        <a:effectLst/>
                        <a:latin typeface="Arial"/>
                        <a:ea typeface="Arial"/>
                      </a:endParaRPr>
                    </a:p>
                  </a:txBody>
                  <a:tcPr marL="63500" marR="63500" marT="63500" marB="63500"/>
                </a:tc>
                <a:tc>
                  <a:txBody>
                    <a:bodyPr/>
                    <a:lstStyle/>
                    <a:p>
                      <a:pPr>
                        <a:lnSpc>
                          <a:spcPct val="115000"/>
                        </a:lnSpc>
                        <a:spcAft>
                          <a:spcPts val="0"/>
                        </a:spcAft>
                      </a:pPr>
                      <a:r>
                        <a:rPr lang="en-SG" sz="1100">
                          <a:effectLst/>
                        </a:rPr>
                        <a:t>Obtain sensitive information via exfiltration</a:t>
                      </a:r>
                      <a:endParaRPr lang="en-SG" sz="1100">
                        <a:effectLst/>
                        <a:latin typeface="Arial"/>
                        <a:ea typeface="Arial"/>
                      </a:endParaRPr>
                    </a:p>
                  </a:txBody>
                  <a:tcPr marL="63500" marR="63500" marT="63500" marB="63500"/>
                </a:tc>
                <a:tc>
                  <a:txBody>
                    <a:bodyPr/>
                    <a:lstStyle/>
                    <a:p>
                      <a:pPr>
                        <a:lnSpc>
                          <a:spcPct val="115000"/>
                        </a:lnSpc>
                        <a:spcAft>
                          <a:spcPts val="0"/>
                        </a:spcAft>
                      </a:pPr>
                      <a:r>
                        <a:rPr lang="en-SG" sz="1100">
                          <a:effectLst/>
                        </a:rPr>
                        <a:t>3</a:t>
                      </a:r>
                      <a:endParaRPr lang="en-SG" sz="1100">
                        <a:effectLst/>
                        <a:latin typeface="Arial"/>
                        <a:ea typeface="Arial"/>
                      </a:endParaRPr>
                    </a:p>
                  </a:txBody>
                  <a:tcPr marL="63500" marR="63500" marT="63500" marB="63500"/>
                </a:tc>
                <a:tc>
                  <a:txBody>
                    <a:bodyPr/>
                    <a:lstStyle/>
                    <a:p>
                      <a:pPr>
                        <a:lnSpc>
                          <a:spcPct val="115000"/>
                        </a:lnSpc>
                        <a:spcAft>
                          <a:spcPts val="0"/>
                        </a:spcAft>
                      </a:pPr>
                      <a:r>
                        <a:rPr lang="en-SG" sz="1100">
                          <a:effectLst/>
                        </a:rPr>
                        <a:t>3</a:t>
                      </a:r>
                      <a:endParaRPr lang="en-SG" sz="1100">
                        <a:effectLst/>
                        <a:latin typeface="Arial"/>
                        <a:ea typeface="Arial"/>
                      </a:endParaRPr>
                    </a:p>
                  </a:txBody>
                  <a:tcPr marL="63500" marR="63500" marT="63500" marB="63500"/>
                </a:tc>
                <a:tc>
                  <a:txBody>
                    <a:bodyPr/>
                    <a:lstStyle/>
                    <a:p>
                      <a:pPr>
                        <a:lnSpc>
                          <a:spcPct val="115000"/>
                        </a:lnSpc>
                        <a:spcAft>
                          <a:spcPts val="0"/>
                        </a:spcAft>
                      </a:pPr>
                      <a:r>
                        <a:rPr lang="en-SG" sz="1100">
                          <a:effectLst/>
                        </a:rPr>
                        <a:t>9</a:t>
                      </a:r>
                      <a:endParaRPr lang="en-SG" sz="1100">
                        <a:effectLst/>
                        <a:latin typeface="Arial"/>
                        <a:ea typeface="Arial"/>
                      </a:endParaRPr>
                    </a:p>
                  </a:txBody>
                  <a:tcPr marL="63500" marR="63500" marT="63500" marB="63500"/>
                </a:tc>
              </a:tr>
              <a:tr h="288032">
                <a:tc>
                  <a:txBody>
                    <a:bodyPr/>
                    <a:lstStyle/>
                    <a:p>
                      <a:pPr>
                        <a:lnSpc>
                          <a:spcPct val="115000"/>
                        </a:lnSpc>
                        <a:spcAft>
                          <a:spcPts val="0"/>
                        </a:spcAft>
                      </a:pPr>
                      <a:r>
                        <a:rPr lang="en-SG" sz="1100">
                          <a:effectLst/>
                        </a:rPr>
                        <a:t> </a:t>
                      </a:r>
                      <a:endParaRPr lang="en-SG" sz="1100">
                        <a:effectLst/>
                        <a:latin typeface="Arial"/>
                        <a:ea typeface="Arial"/>
                      </a:endParaRPr>
                    </a:p>
                  </a:txBody>
                  <a:tcPr marL="63500" marR="63500" marT="63500" marB="63500"/>
                </a:tc>
                <a:tc>
                  <a:txBody>
                    <a:bodyPr/>
                    <a:lstStyle/>
                    <a:p>
                      <a:pPr>
                        <a:lnSpc>
                          <a:spcPct val="115000"/>
                        </a:lnSpc>
                        <a:spcAft>
                          <a:spcPts val="0"/>
                        </a:spcAft>
                      </a:pPr>
                      <a:r>
                        <a:rPr lang="en-SG" sz="1100">
                          <a:effectLst/>
                        </a:rPr>
                        <a:t> </a:t>
                      </a:r>
                      <a:endParaRPr lang="en-SG" sz="1100">
                        <a:effectLst/>
                        <a:latin typeface="Arial"/>
                        <a:ea typeface="Arial"/>
                      </a:endParaRPr>
                    </a:p>
                  </a:txBody>
                  <a:tcPr marL="63500" marR="63500" marT="63500" marB="63500"/>
                </a:tc>
                <a:tc>
                  <a:txBody>
                    <a:bodyPr/>
                    <a:lstStyle/>
                    <a:p>
                      <a:pPr>
                        <a:lnSpc>
                          <a:spcPct val="115000"/>
                        </a:lnSpc>
                        <a:spcAft>
                          <a:spcPts val="0"/>
                        </a:spcAft>
                      </a:pPr>
                      <a:r>
                        <a:rPr lang="en-SG" sz="1100" dirty="0">
                          <a:effectLst/>
                        </a:rPr>
                        <a:t> </a:t>
                      </a:r>
                      <a:endParaRPr lang="en-SG" sz="1100" dirty="0">
                        <a:effectLst/>
                        <a:latin typeface="Arial"/>
                        <a:ea typeface="Arial"/>
                      </a:endParaRPr>
                    </a:p>
                  </a:txBody>
                  <a:tcPr marL="63500" marR="63500" marT="63500" marB="63500"/>
                </a:tc>
                <a:tc>
                  <a:txBody>
                    <a:bodyPr/>
                    <a:lstStyle/>
                    <a:p>
                      <a:pPr>
                        <a:lnSpc>
                          <a:spcPct val="115000"/>
                        </a:lnSpc>
                        <a:spcAft>
                          <a:spcPts val="0"/>
                        </a:spcAft>
                      </a:pPr>
                      <a:r>
                        <a:rPr lang="en-SG" sz="1100">
                          <a:effectLst/>
                        </a:rPr>
                        <a:t> </a:t>
                      </a:r>
                      <a:endParaRPr lang="en-SG" sz="1100">
                        <a:effectLst/>
                        <a:latin typeface="Arial"/>
                        <a:ea typeface="Arial"/>
                      </a:endParaRPr>
                    </a:p>
                  </a:txBody>
                  <a:tcPr marL="63500" marR="63500" marT="63500" marB="63500"/>
                </a:tc>
                <a:tc>
                  <a:txBody>
                    <a:bodyPr/>
                    <a:lstStyle/>
                    <a:p>
                      <a:pPr>
                        <a:lnSpc>
                          <a:spcPct val="115000"/>
                        </a:lnSpc>
                        <a:spcAft>
                          <a:spcPts val="0"/>
                        </a:spcAft>
                      </a:pPr>
                      <a:r>
                        <a:rPr lang="en-SG" sz="1100">
                          <a:effectLst/>
                        </a:rPr>
                        <a:t> </a:t>
                      </a:r>
                      <a:endParaRPr lang="en-SG" sz="1100">
                        <a:effectLst/>
                        <a:latin typeface="Arial"/>
                        <a:ea typeface="Arial"/>
                      </a:endParaRPr>
                    </a:p>
                  </a:txBody>
                  <a:tcPr marL="63500" marR="63500" marT="63500" marB="63500"/>
                </a:tc>
              </a:tr>
              <a:tr h="288032">
                <a:tc>
                  <a:txBody>
                    <a:bodyPr/>
                    <a:lstStyle/>
                    <a:p>
                      <a:pPr>
                        <a:lnSpc>
                          <a:spcPct val="115000"/>
                        </a:lnSpc>
                        <a:spcAft>
                          <a:spcPts val="0"/>
                        </a:spcAft>
                      </a:pPr>
                      <a:r>
                        <a:rPr lang="en-SG" sz="1100">
                          <a:effectLst/>
                        </a:rPr>
                        <a:t> </a:t>
                      </a:r>
                      <a:endParaRPr lang="en-SG" sz="1100">
                        <a:effectLst/>
                        <a:latin typeface="Arial"/>
                        <a:ea typeface="Arial"/>
                      </a:endParaRPr>
                    </a:p>
                  </a:txBody>
                  <a:tcPr marL="63500" marR="63500" marT="63500" marB="63500"/>
                </a:tc>
                <a:tc>
                  <a:txBody>
                    <a:bodyPr/>
                    <a:lstStyle/>
                    <a:p>
                      <a:pPr>
                        <a:lnSpc>
                          <a:spcPct val="115000"/>
                        </a:lnSpc>
                        <a:spcAft>
                          <a:spcPts val="0"/>
                        </a:spcAft>
                      </a:pPr>
                      <a:r>
                        <a:rPr lang="en-SG" sz="1100">
                          <a:effectLst/>
                        </a:rPr>
                        <a:t> </a:t>
                      </a:r>
                      <a:endParaRPr lang="en-SG" sz="1100">
                        <a:effectLst/>
                        <a:latin typeface="Arial"/>
                        <a:ea typeface="Arial"/>
                      </a:endParaRPr>
                    </a:p>
                  </a:txBody>
                  <a:tcPr marL="63500" marR="63500" marT="63500" marB="63500"/>
                </a:tc>
                <a:tc>
                  <a:txBody>
                    <a:bodyPr/>
                    <a:lstStyle/>
                    <a:p>
                      <a:pPr>
                        <a:lnSpc>
                          <a:spcPct val="115000"/>
                        </a:lnSpc>
                        <a:spcAft>
                          <a:spcPts val="0"/>
                        </a:spcAft>
                      </a:pPr>
                      <a:r>
                        <a:rPr lang="en-SG" sz="1100">
                          <a:effectLst/>
                        </a:rPr>
                        <a:t> </a:t>
                      </a:r>
                      <a:endParaRPr lang="en-SG" sz="1100">
                        <a:effectLst/>
                        <a:latin typeface="Arial"/>
                        <a:ea typeface="Arial"/>
                      </a:endParaRPr>
                    </a:p>
                  </a:txBody>
                  <a:tcPr marL="63500" marR="63500" marT="63500" marB="63500"/>
                </a:tc>
                <a:tc>
                  <a:txBody>
                    <a:bodyPr/>
                    <a:lstStyle/>
                    <a:p>
                      <a:pPr>
                        <a:lnSpc>
                          <a:spcPct val="115000"/>
                        </a:lnSpc>
                        <a:spcAft>
                          <a:spcPts val="0"/>
                        </a:spcAft>
                      </a:pPr>
                      <a:r>
                        <a:rPr lang="en-SG" sz="1100">
                          <a:effectLst/>
                        </a:rPr>
                        <a:t> </a:t>
                      </a:r>
                      <a:endParaRPr lang="en-SG" sz="1100">
                        <a:effectLst/>
                        <a:latin typeface="Arial"/>
                        <a:ea typeface="Arial"/>
                      </a:endParaRPr>
                    </a:p>
                  </a:txBody>
                  <a:tcPr marL="63500" marR="63500" marT="63500" marB="63500"/>
                </a:tc>
                <a:tc>
                  <a:txBody>
                    <a:bodyPr/>
                    <a:lstStyle/>
                    <a:p>
                      <a:pPr>
                        <a:lnSpc>
                          <a:spcPct val="115000"/>
                        </a:lnSpc>
                        <a:spcAft>
                          <a:spcPts val="0"/>
                        </a:spcAft>
                      </a:pPr>
                      <a:r>
                        <a:rPr lang="en-SG" sz="1100" dirty="0">
                          <a:effectLst/>
                        </a:rPr>
                        <a:t> </a:t>
                      </a:r>
                      <a:endParaRPr lang="en-SG" sz="1100" dirty="0">
                        <a:effectLst/>
                        <a:latin typeface="Arial"/>
                        <a:ea typeface="Arial"/>
                      </a:endParaRPr>
                    </a:p>
                  </a:txBody>
                  <a:tcPr marL="63500" marR="63500" marT="63500" marB="63500"/>
                </a:tc>
              </a:tr>
            </a:tbl>
          </a:graphicData>
        </a:graphic>
      </p:graphicFrame>
    </p:spTree>
    <p:extLst>
      <p:ext uri="{BB962C8B-B14F-4D97-AF65-F5344CB8AC3E}">
        <p14:creationId xmlns:p14="http://schemas.microsoft.com/office/powerpoint/2010/main" val="41578987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8340" y="188640"/>
            <a:ext cx="8784976" cy="4524315"/>
          </a:xfrm>
          <a:prstGeom prst="rect">
            <a:avLst/>
          </a:prstGeom>
          <a:noFill/>
        </p:spPr>
        <p:txBody>
          <a:bodyPr wrap="square" rtlCol="0">
            <a:spAutoFit/>
          </a:bodyPr>
          <a:lstStyle/>
          <a:p>
            <a:r>
              <a:rPr lang="en-SG" sz="1600" b="1" dirty="0"/>
              <a:t>Approach</a:t>
            </a:r>
          </a:p>
          <a:p>
            <a:r>
              <a:rPr lang="en-SG" sz="1600" dirty="0"/>
              <a:t>This section documents the approach used to conduct the vulnerability assessment report. It is important to be clear and concise when writing your approach. A transparent summary of your approach helps stakeholders understand that the assessment is credible and that the results can be used to make informed decisions.</a:t>
            </a:r>
          </a:p>
          <a:p>
            <a:r>
              <a:rPr lang="en-SG" sz="1600" dirty="0"/>
              <a:t>Consider the following questions to help you write an approach section:</a:t>
            </a:r>
          </a:p>
          <a:p>
            <a:pPr marL="285750" lvl="0" indent="-285750">
              <a:buFont typeface="Arial" panose="020B0604020202020204" pitchFamily="34" charset="0"/>
              <a:buChar char="•"/>
            </a:pPr>
            <a:r>
              <a:rPr lang="en-SG" sz="1600" i="1" dirty="0"/>
              <a:t>What was your rationale for selecting the risks that you evaluated?</a:t>
            </a:r>
            <a:endParaRPr lang="en-SG" sz="1600" dirty="0"/>
          </a:p>
          <a:p>
            <a:pPr marL="285750" lvl="0" indent="-285750">
              <a:buFont typeface="Arial" panose="020B0604020202020204" pitchFamily="34" charset="0"/>
              <a:buChar char="•"/>
            </a:pPr>
            <a:r>
              <a:rPr lang="en-SG" sz="1600" i="1" dirty="0"/>
              <a:t>How were you deriving the likelihood and severity scores of each risk?</a:t>
            </a:r>
            <a:endParaRPr lang="en-SG" sz="1600" dirty="0"/>
          </a:p>
          <a:p>
            <a:pPr marL="285750" lvl="0" indent="-285750">
              <a:buFont typeface="Arial" panose="020B0604020202020204" pitchFamily="34" charset="0"/>
              <a:buChar char="•"/>
            </a:pPr>
            <a:r>
              <a:rPr lang="en-SG" sz="1600" i="1" dirty="0"/>
              <a:t>What were the limitations of the assessment</a:t>
            </a:r>
            <a:r>
              <a:rPr lang="en-SG" sz="1600" i="1" dirty="0" smtClean="0"/>
              <a:t>?</a:t>
            </a:r>
          </a:p>
          <a:p>
            <a:pPr lvl="0"/>
            <a:endParaRPr lang="en-SG" sz="1600" dirty="0"/>
          </a:p>
          <a:p>
            <a:r>
              <a:rPr lang="en-SG" sz="1600" b="1" dirty="0"/>
              <a:t>Remediation Strategy</a:t>
            </a:r>
          </a:p>
          <a:p>
            <a:r>
              <a:rPr lang="en-SG" sz="1600" dirty="0"/>
              <a:t>This section provides specific and actionable recommendations to remediate or mitigate the risks that were assessed. Any recommendations that you make should be realistic and achievable. Overall, the remediation section of a vulnerability assessment report helps to ensure that risks are addressed in a timely and effective manner.</a:t>
            </a:r>
          </a:p>
          <a:p>
            <a:r>
              <a:rPr lang="en-SG" sz="1600" dirty="0"/>
              <a:t>Consider the following questions to help you write a remediation strategy:</a:t>
            </a:r>
          </a:p>
          <a:p>
            <a:pPr marL="285750" lvl="0" indent="-285750">
              <a:buFont typeface="Arial" panose="020B0604020202020204" pitchFamily="34" charset="0"/>
              <a:buChar char="•"/>
            </a:pPr>
            <a:r>
              <a:rPr lang="en-SG" sz="1600" i="1" dirty="0"/>
              <a:t>Which technical, operational, or managerial controls are currently implemented to secure the system?</a:t>
            </a:r>
            <a:endParaRPr lang="en-SG" sz="1600" dirty="0"/>
          </a:p>
          <a:p>
            <a:pPr marL="285750" lvl="0" indent="-285750">
              <a:buFont typeface="Arial" panose="020B0604020202020204" pitchFamily="34" charset="0"/>
              <a:buChar char="•"/>
            </a:pPr>
            <a:r>
              <a:rPr lang="en-SG" sz="1600" i="1" dirty="0"/>
              <a:t>Are there security controls that can reduce the risks you evaluated? What are those controls and how would they remediate the risks?</a:t>
            </a:r>
            <a:endParaRPr lang="en-SG" sz="1600" dirty="0"/>
          </a:p>
          <a:p>
            <a:pPr marL="285750" lvl="0" indent="-285750">
              <a:buFont typeface="Arial" panose="020B0604020202020204" pitchFamily="34" charset="0"/>
              <a:buChar char="•"/>
            </a:pPr>
            <a:r>
              <a:rPr lang="en-SG" sz="1600" i="1" dirty="0"/>
              <a:t>How will the results of the assessment improve the overall security of the system?</a:t>
            </a:r>
            <a:endParaRPr lang="en-SG" sz="1600" dirty="0"/>
          </a:p>
        </p:txBody>
      </p:sp>
    </p:spTree>
    <p:extLst>
      <p:ext uri="{BB962C8B-B14F-4D97-AF65-F5344CB8AC3E}">
        <p14:creationId xmlns:p14="http://schemas.microsoft.com/office/powerpoint/2010/main" val="37104385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356337963"/>
              </p:ext>
            </p:extLst>
          </p:nvPr>
        </p:nvGraphicFramePr>
        <p:xfrm>
          <a:off x="179512" y="332656"/>
          <a:ext cx="8784976" cy="6331344"/>
        </p:xfrm>
        <a:graphic>
          <a:graphicData uri="http://schemas.openxmlformats.org/drawingml/2006/table">
            <a:tbl>
              <a:tblPr>
                <a:tableStyleId>{5C22544A-7EE6-4342-B048-85BDC9FD1C3A}</a:tableStyleId>
              </a:tblPr>
              <a:tblGrid>
                <a:gridCol w="1728192"/>
                <a:gridCol w="7056784"/>
              </a:tblGrid>
              <a:tr h="849450">
                <a:tc>
                  <a:txBody>
                    <a:bodyPr/>
                    <a:lstStyle/>
                    <a:p>
                      <a:pPr>
                        <a:lnSpc>
                          <a:spcPct val="150000"/>
                        </a:lnSpc>
                        <a:spcAft>
                          <a:spcPts val="0"/>
                        </a:spcAft>
                      </a:pPr>
                      <a:r>
                        <a:rPr lang="en-SG" sz="1200" dirty="0" smtClean="0">
                          <a:effectLst/>
                        </a:rPr>
                        <a:t>1. Explain the purpose of the information system</a:t>
                      </a:r>
                      <a:endParaRPr lang="en-SG" sz="1200" dirty="0">
                        <a:effectLst/>
                        <a:latin typeface="Open Sans"/>
                        <a:ea typeface="Open Sans"/>
                        <a:cs typeface="Open Sans"/>
                      </a:endParaRPr>
                    </a:p>
                  </a:txBody>
                  <a:tcPr marL="26751" marR="26751" marT="26751" marB="26751"/>
                </a:tc>
                <a:tc>
                  <a:txBody>
                    <a:bodyPr/>
                    <a:lstStyle/>
                    <a:p>
                      <a:r>
                        <a:rPr kumimoji="0" lang="en-GB" sz="1200" b="0" i="0" kern="1200" dirty="0" smtClean="0">
                          <a:solidFill>
                            <a:schemeClr val="dk1"/>
                          </a:solidFill>
                          <a:effectLst/>
                          <a:latin typeface="+mn-lt"/>
                          <a:ea typeface="+mn-ea"/>
                          <a:cs typeface="+mn-cs"/>
                        </a:rPr>
                        <a:t>Once you have reviewed  the  system description and scope, you will write  a purpose statement. The purpose section helps stakeholders understand the underlying objective and intended outcome of your analysis. A purpose statement also connects the technical objectives of your analysis with the organization's goals.</a:t>
                      </a:r>
                    </a:p>
                    <a:p>
                      <a:endParaRPr kumimoji="0" lang="en-GB" sz="1200" b="0" i="0" kern="1200" dirty="0" smtClean="0">
                        <a:solidFill>
                          <a:schemeClr val="dk1"/>
                        </a:solidFill>
                        <a:effectLst/>
                        <a:latin typeface="+mn-lt"/>
                        <a:ea typeface="+mn-ea"/>
                        <a:cs typeface="+mn-cs"/>
                      </a:endParaRPr>
                    </a:p>
                    <a:p>
                      <a:r>
                        <a:rPr kumimoji="0" lang="en-GB" sz="1200" b="0" i="0" kern="1200" dirty="0" smtClean="0">
                          <a:solidFill>
                            <a:schemeClr val="dk1"/>
                          </a:solidFill>
                          <a:effectLst/>
                          <a:latin typeface="+mn-lt"/>
                          <a:ea typeface="+mn-ea"/>
                          <a:cs typeface="+mn-cs"/>
                        </a:rPr>
                        <a:t>Consider what you know about the server:</a:t>
                      </a:r>
                    </a:p>
                    <a:p>
                      <a:pPr marL="171450" indent="-171450">
                        <a:buFont typeface="Arial" panose="020B0604020202020204" pitchFamily="34" charset="0"/>
                        <a:buChar char="•"/>
                      </a:pPr>
                      <a:r>
                        <a:rPr kumimoji="0" lang="en-GB" sz="1200" b="0" i="1" kern="1200" dirty="0" smtClean="0">
                          <a:solidFill>
                            <a:schemeClr val="dk1"/>
                          </a:solidFill>
                          <a:effectLst/>
                          <a:latin typeface="+mn-lt"/>
                          <a:ea typeface="+mn-ea"/>
                          <a:cs typeface="+mn-cs"/>
                        </a:rPr>
                        <a:t>How is the database server valuable to the business?</a:t>
                      </a:r>
                      <a:endParaRPr kumimoji="0" lang="en-GB" sz="1200" b="0" i="0" kern="1200" dirty="0" smtClean="0">
                        <a:solidFill>
                          <a:schemeClr val="dk1"/>
                        </a:solidFill>
                        <a:effectLst/>
                        <a:latin typeface="+mn-lt"/>
                        <a:ea typeface="+mn-ea"/>
                        <a:cs typeface="+mn-cs"/>
                      </a:endParaRPr>
                    </a:p>
                    <a:p>
                      <a:pPr marL="171450" indent="-171450">
                        <a:buFont typeface="Arial" panose="020B0604020202020204" pitchFamily="34" charset="0"/>
                        <a:buChar char="•"/>
                      </a:pPr>
                      <a:r>
                        <a:rPr kumimoji="0" lang="en-GB" sz="1200" b="0" i="1" kern="1200" dirty="0" smtClean="0">
                          <a:solidFill>
                            <a:schemeClr val="dk1"/>
                          </a:solidFill>
                          <a:effectLst/>
                          <a:latin typeface="+mn-lt"/>
                          <a:ea typeface="+mn-ea"/>
                          <a:cs typeface="+mn-cs"/>
                        </a:rPr>
                        <a:t>Why is it important for the business to secure the data on the server?</a:t>
                      </a:r>
                      <a:endParaRPr kumimoji="0" lang="en-GB" sz="1200" b="0" i="0" kern="1200" dirty="0" smtClean="0">
                        <a:solidFill>
                          <a:schemeClr val="dk1"/>
                        </a:solidFill>
                        <a:effectLst/>
                        <a:latin typeface="+mn-lt"/>
                        <a:ea typeface="+mn-ea"/>
                        <a:cs typeface="+mn-cs"/>
                      </a:endParaRPr>
                    </a:p>
                    <a:p>
                      <a:pPr marL="171450" indent="-171450">
                        <a:buFont typeface="Arial" panose="020B0604020202020204" pitchFamily="34" charset="0"/>
                        <a:buChar char="•"/>
                      </a:pPr>
                      <a:r>
                        <a:rPr kumimoji="0" lang="en-GB" sz="1200" b="0" i="1" kern="1200" dirty="0" smtClean="0">
                          <a:solidFill>
                            <a:schemeClr val="dk1"/>
                          </a:solidFill>
                          <a:effectLst/>
                          <a:latin typeface="+mn-lt"/>
                          <a:ea typeface="+mn-ea"/>
                          <a:cs typeface="+mn-cs"/>
                        </a:rPr>
                        <a:t>How might the server impact the business if it were disabled?</a:t>
                      </a:r>
                    </a:p>
                    <a:p>
                      <a:pPr marL="0" indent="0">
                        <a:buFont typeface="Arial" panose="020B0604020202020204" pitchFamily="34" charset="0"/>
                        <a:buNone/>
                      </a:pPr>
                      <a:endParaRPr kumimoji="0" lang="en-GB" sz="1200" b="0" i="0" kern="1200" dirty="0" smtClean="0">
                        <a:solidFill>
                          <a:schemeClr val="dk1"/>
                        </a:solidFill>
                        <a:effectLst/>
                        <a:latin typeface="+mn-lt"/>
                        <a:ea typeface="+mn-ea"/>
                        <a:cs typeface="+mn-cs"/>
                      </a:endParaRPr>
                    </a:p>
                    <a:p>
                      <a:r>
                        <a:rPr kumimoji="0" lang="en-GB" sz="1200" b="0" i="0" kern="1200" dirty="0" smtClean="0">
                          <a:solidFill>
                            <a:schemeClr val="dk1"/>
                          </a:solidFill>
                          <a:effectLst/>
                          <a:latin typeface="+mn-lt"/>
                          <a:ea typeface="+mn-ea"/>
                          <a:cs typeface="+mn-cs"/>
                        </a:rPr>
                        <a:t>In the </a:t>
                      </a:r>
                      <a:r>
                        <a:rPr kumimoji="0" lang="en-GB" sz="1200" b="1" i="0" kern="1200" dirty="0" smtClean="0">
                          <a:solidFill>
                            <a:schemeClr val="dk1"/>
                          </a:solidFill>
                          <a:effectLst/>
                          <a:latin typeface="+mn-lt"/>
                          <a:ea typeface="+mn-ea"/>
                          <a:cs typeface="+mn-cs"/>
                        </a:rPr>
                        <a:t>Purpose</a:t>
                      </a:r>
                      <a:r>
                        <a:rPr kumimoji="0" lang="en-GB" sz="1200" b="0" i="0" kern="1200" dirty="0" smtClean="0">
                          <a:solidFill>
                            <a:schemeClr val="dk1"/>
                          </a:solidFill>
                          <a:effectLst/>
                          <a:latin typeface="+mn-lt"/>
                          <a:ea typeface="+mn-ea"/>
                          <a:cs typeface="+mn-cs"/>
                        </a:rPr>
                        <a:t> section of the report, use the questions provided and write </a:t>
                      </a:r>
                      <a:r>
                        <a:rPr kumimoji="0" lang="en-GB" sz="1200" b="1" i="0" kern="1200" dirty="0" smtClean="0">
                          <a:solidFill>
                            <a:schemeClr val="dk1"/>
                          </a:solidFill>
                          <a:effectLst/>
                          <a:latin typeface="+mn-lt"/>
                          <a:ea typeface="+mn-ea"/>
                          <a:cs typeface="+mn-cs"/>
                        </a:rPr>
                        <a:t>3-5 sentences</a:t>
                      </a:r>
                      <a:r>
                        <a:rPr kumimoji="0" lang="en-GB" sz="1200" b="0" i="0" kern="1200" dirty="0" smtClean="0">
                          <a:solidFill>
                            <a:schemeClr val="dk1"/>
                          </a:solidFill>
                          <a:effectLst/>
                          <a:latin typeface="+mn-lt"/>
                          <a:ea typeface="+mn-ea"/>
                          <a:cs typeface="+mn-cs"/>
                        </a:rPr>
                        <a:t> (60-100 words) describing the reason(s) for conducting this vulnerability analysis.</a:t>
                      </a:r>
                      <a:endParaRPr kumimoji="0" lang="en-GB" sz="1200" b="0" i="0" kern="1200" dirty="0">
                        <a:solidFill>
                          <a:schemeClr val="dk1"/>
                        </a:solidFill>
                        <a:effectLst/>
                        <a:latin typeface="+mn-lt"/>
                        <a:ea typeface="+mn-ea"/>
                        <a:cs typeface="+mn-cs"/>
                      </a:endParaRPr>
                    </a:p>
                  </a:txBody>
                  <a:tcPr marL="26751" marR="26751" marT="26751" marB="26751"/>
                </a:tc>
              </a:tr>
              <a:tr h="671122">
                <a:tc>
                  <a:txBody>
                    <a:bodyPr/>
                    <a:lstStyle/>
                    <a:p>
                      <a:pPr>
                        <a:lnSpc>
                          <a:spcPct val="150000"/>
                        </a:lnSpc>
                        <a:spcAft>
                          <a:spcPts val="0"/>
                        </a:spcAft>
                      </a:pPr>
                      <a:r>
                        <a:rPr lang="en-SG" sz="1200" dirty="0" smtClean="0">
                          <a:effectLst/>
                        </a:rPr>
                        <a:t>2. Identify potential threat sources</a:t>
                      </a:r>
                      <a:endParaRPr lang="en-SG" sz="1200" dirty="0">
                        <a:effectLst/>
                        <a:latin typeface="Open Sans"/>
                        <a:ea typeface="Open Sans"/>
                        <a:cs typeface="Open Sans"/>
                      </a:endParaRPr>
                    </a:p>
                  </a:txBody>
                  <a:tcPr marL="26751" marR="26751" marT="26751" marB="26751"/>
                </a:tc>
                <a:tc>
                  <a:txBody>
                    <a:bodyPr/>
                    <a:lstStyle/>
                    <a:p>
                      <a:pPr>
                        <a:lnSpc>
                          <a:spcPct val="115000"/>
                        </a:lnSpc>
                        <a:spcAft>
                          <a:spcPts val="0"/>
                        </a:spcAft>
                      </a:pPr>
                      <a:r>
                        <a:rPr kumimoji="0" lang="en-GB" sz="1200" b="0" i="0" kern="1200" dirty="0" smtClean="0">
                          <a:solidFill>
                            <a:schemeClr val="dk1"/>
                          </a:solidFill>
                          <a:effectLst/>
                          <a:latin typeface="+mn-lt"/>
                          <a:ea typeface="+mn-ea"/>
                          <a:cs typeface="+mn-cs"/>
                        </a:rPr>
                        <a:t>In the </a:t>
                      </a:r>
                      <a:r>
                        <a:rPr kumimoji="0" lang="en-GB" sz="1200" b="1" i="0" kern="1200" dirty="0" smtClean="0">
                          <a:solidFill>
                            <a:schemeClr val="dk1"/>
                          </a:solidFill>
                          <a:effectLst/>
                          <a:latin typeface="+mn-lt"/>
                          <a:ea typeface="+mn-ea"/>
                          <a:cs typeface="+mn-cs"/>
                        </a:rPr>
                        <a:t>Threat Source</a:t>
                      </a:r>
                      <a:r>
                        <a:rPr kumimoji="0" lang="en-GB" sz="1200" b="0" i="0" kern="1200" dirty="0" smtClean="0">
                          <a:solidFill>
                            <a:schemeClr val="dk1"/>
                          </a:solidFill>
                          <a:effectLst/>
                          <a:latin typeface="+mn-lt"/>
                          <a:ea typeface="+mn-ea"/>
                          <a:cs typeface="+mn-cs"/>
                        </a:rPr>
                        <a:t> column of the Risk Assessment table of your template, </a:t>
                      </a:r>
                      <a:r>
                        <a:rPr kumimoji="0" lang="en-GB" sz="1200" b="1" i="0" kern="1200" dirty="0" smtClean="0">
                          <a:solidFill>
                            <a:schemeClr val="dk1"/>
                          </a:solidFill>
                          <a:effectLst/>
                          <a:latin typeface="+mn-lt"/>
                          <a:ea typeface="+mn-ea"/>
                          <a:cs typeface="+mn-cs"/>
                        </a:rPr>
                        <a:t>identify three</a:t>
                      </a:r>
                      <a:r>
                        <a:rPr kumimoji="0" lang="en-GB" sz="1200" b="0" i="0" kern="1200" dirty="0" smtClean="0">
                          <a:solidFill>
                            <a:schemeClr val="dk1"/>
                          </a:solidFill>
                          <a:effectLst/>
                          <a:latin typeface="+mn-lt"/>
                          <a:ea typeface="+mn-ea"/>
                          <a:cs typeface="+mn-cs"/>
                        </a:rPr>
                        <a:t> potential</a:t>
                      </a:r>
                      <a:r>
                        <a:rPr kumimoji="0" lang="en-GB" sz="1200" b="0" i="1" kern="1200" dirty="0" smtClean="0">
                          <a:solidFill>
                            <a:schemeClr val="dk1"/>
                          </a:solidFill>
                          <a:effectLst/>
                          <a:latin typeface="+mn-lt"/>
                          <a:ea typeface="+mn-ea"/>
                          <a:cs typeface="+mn-cs"/>
                        </a:rPr>
                        <a:t> </a:t>
                      </a:r>
                      <a:r>
                        <a:rPr kumimoji="0" lang="en-GB" sz="1200" b="0" i="0" kern="1200" dirty="0" smtClean="0">
                          <a:solidFill>
                            <a:schemeClr val="dk1"/>
                          </a:solidFill>
                          <a:effectLst/>
                          <a:latin typeface="+mn-lt"/>
                          <a:ea typeface="+mn-ea"/>
                          <a:cs typeface="+mn-cs"/>
                        </a:rPr>
                        <a:t>threats. Choose the threats based on the information you have gathered from the system description, scope, purpose, and </a:t>
                      </a:r>
                      <a:r>
                        <a:rPr kumimoji="0" lang="en-GB" sz="1200" b="0" i="1" kern="1200" dirty="0" smtClean="0">
                          <a:solidFill>
                            <a:schemeClr val="dk1"/>
                          </a:solidFill>
                          <a:effectLst/>
                          <a:latin typeface="+mn-lt"/>
                          <a:ea typeface="+mn-ea"/>
                          <a:cs typeface="+mn-cs"/>
                        </a:rPr>
                        <a:t>NIST SP 800-30 Rev. 1</a:t>
                      </a:r>
                      <a:r>
                        <a:rPr kumimoji="0" lang="en-GB" sz="1200" b="0" i="0" kern="1200" dirty="0" smtClean="0">
                          <a:solidFill>
                            <a:schemeClr val="dk1"/>
                          </a:solidFill>
                          <a:effectLst/>
                          <a:latin typeface="+mn-lt"/>
                          <a:ea typeface="+mn-ea"/>
                          <a:cs typeface="+mn-cs"/>
                        </a:rPr>
                        <a:t> resource.</a:t>
                      </a:r>
                      <a:endParaRPr lang="en-SG" sz="1200" u="none" strike="noStrike" dirty="0">
                        <a:effectLst/>
                        <a:latin typeface="Open Sans"/>
                        <a:ea typeface="Open Sans"/>
                        <a:cs typeface="Open Sans"/>
                      </a:endParaRPr>
                    </a:p>
                  </a:txBody>
                  <a:tcPr marL="26751" marR="26751" marT="26751" marB="26751"/>
                </a:tc>
              </a:tr>
              <a:tr h="886480">
                <a:tc>
                  <a:txBody>
                    <a:bodyPr/>
                    <a:lstStyle/>
                    <a:p>
                      <a:pPr>
                        <a:lnSpc>
                          <a:spcPct val="150000"/>
                        </a:lnSpc>
                        <a:spcAft>
                          <a:spcPts val="0"/>
                        </a:spcAft>
                      </a:pPr>
                      <a:r>
                        <a:rPr lang="en-SG" sz="1200" dirty="0" smtClean="0">
                          <a:effectLst/>
                        </a:rPr>
                        <a:t>3. Identify potential threat events</a:t>
                      </a:r>
                      <a:endParaRPr lang="en-SG" sz="1200" dirty="0">
                        <a:effectLst/>
                        <a:latin typeface="Open Sans"/>
                        <a:ea typeface="Open Sans"/>
                        <a:cs typeface="Open Sans"/>
                      </a:endParaRPr>
                    </a:p>
                  </a:txBody>
                  <a:tcPr marL="26751" marR="26751" marT="26751" marB="26751"/>
                </a:tc>
                <a:tc>
                  <a:txBody>
                    <a:bodyPr/>
                    <a:lstStyle/>
                    <a:p>
                      <a:r>
                        <a:rPr kumimoji="0" lang="en-GB" sz="1200" b="0" i="1" kern="1200" dirty="0" smtClean="0">
                          <a:solidFill>
                            <a:schemeClr val="dk1"/>
                          </a:solidFill>
                          <a:effectLst/>
                          <a:latin typeface="+mn-lt"/>
                          <a:ea typeface="+mn-ea"/>
                          <a:cs typeface="+mn-cs"/>
                        </a:rPr>
                        <a:t>NIST SP 800-30 Rev. 1</a:t>
                      </a:r>
                      <a:r>
                        <a:rPr kumimoji="0" lang="en-GB" sz="1200" b="0" i="0" kern="1200" dirty="0" smtClean="0">
                          <a:solidFill>
                            <a:schemeClr val="dk1"/>
                          </a:solidFill>
                          <a:effectLst/>
                          <a:latin typeface="+mn-lt"/>
                          <a:ea typeface="+mn-ea"/>
                          <a:cs typeface="+mn-cs"/>
                        </a:rPr>
                        <a:t> provides a comprehensive list of possible security events that could compromise a vulnerable information system — </a:t>
                      </a:r>
                      <a:r>
                        <a:rPr kumimoji="0" lang="en-GB" sz="1200" b="0" i="0" kern="1200" dirty="0" err="1" smtClean="0">
                          <a:solidFill>
                            <a:schemeClr val="dk1"/>
                          </a:solidFill>
                          <a:effectLst/>
                          <a:latin typeface="+mn-lt"/>
                          <a:ea typeface="+mn-ea"/>
                          <a:cs typeface="+mn-cs"/>
                        </a:rPr>
                        <a:t>labeled</a:t>
                      </a:r>
                      <a:r>
                        <a:rPr kumimoji="0" lang="en-GB" sz="1200" b="0" i="0" kern="1200" dirty="0" smtClean="0">
                          <a:solidFill>
                            <a:schemeClr val="dk1"/>
                          </a:solidFill>
                          <a:effectLst/>
                          <a:latin typeface="+mn-lt"/>
                          <a:ea typeface="+mn-ea"/>
                          <a:cs typeface="+mn-cs"/>
                        </a:rPr>
                        <a:t> </a:t>
                      </a:r>
                      <a:r>
                        <a:rPr kumimoji="0" lang="en-GB" sz="1200" b="0" i="1" kern="1200" dirty="0" smtClean="0">
                          <a:solidFill>
                            <a:schemeClr val="dk1"/>
                          </a:solidFill>
                          <a:effectLst/>
                          <a:latin typeface="+mn-lt"/>
                          <a:ea typeface="+mn-ea"/>
                          <a:cs typeface="+mn-cs"/>
                        </a:rPr>
                        <a:t>Threat events</a:t>
                      </a:r>
                      <a:r>
                        <a:rPr kumimoji="0" lang="en-GB" sz="1200" b="0" i="0" kern="1200" dirty="0" smtClean="0">
                          <a:solidFill>
                            <a:schemeClr val="dk1"/>
                          </a:solidFill>
                          <a:effectLst/>
                          <a:latin typeface="+mn-lt"/>
                          <a:ea typeface="+mn-ea"/>
                          <a:cs typeface="+mn-cs"/>
                        </a:rPr>
                        <a:t>. This list covers what attackers from different groups typically try to achieve and how good they are at it. For example, a business competitor might have the technical capabilities needed to conduct a denial of service attack.</a:t>
                      </a:r>
                    </a:p>
                    <a:p>
                      <a:endParaRPr kumimoji="0" lang="en-GB" sz="1200" b="0" i="0" kern="1200" dirty="0" smtClean="0">
                        <a:solidFill>
                          <a:schemeClr val="dk1"/>
                        </a:solidFill>
                        <a:effectLst/>
                        <a:latin typeface="+mn-lt"/>
                        <a:ea typeface="+mn-ea"/>
                        <a:cs typeface="+mn-cs"/>
                      </a:endParaRPr>
                    </a:p>
                    <a:p>
                      <a:r>
                        <a:rPr kumimoji="0" lang="en-GB" sz="1200" b="0" i="0" kern="1200" dirty="0" smtClean="0">
                          <a:solidFill>
                            <a:schemeClr val="dk1"/>
                          </a:solidFill>
                          <a:effectLst/>
                          <a:latin typeface="+mn-lt"/>
                          <a:ea typeface="+mn-ea"/>
                          <a:cs typeface="+mn-cs"/>
                        </a:rPr>
                        <a:t>Explore the </a:t>
                      </a:r>
                      <a:r>
                        <a:rPr kumimoji="0" lang="en-GB" sz="1200" b="0" i="1" kern="1200" dirty="0" smtClean="0">
                          <a:solidFill>
                            <a:schemeClr val="dk1"/>
                          </a:solidFill>
                          <a:effectLst/>
                          <a:latin typeface="+mn-lt"/>
                          <a:ea typeface="+mn-ea"/>
                          <a:cs typeface="+mn-cs"/>
                        </a:rPr>
                        <a:t>Threat events</a:t>
                      </a:r>
                      <a:r>
                        <a:rPr kumimoji="0" lang="en-GB" sz="1200" b="0" i="0" kern="1200" dirty="0" smtClean="0">
                          <a:solidFill>
                            <a:schemeClr val="dk1"/>
                          </a:solidFill>
                          <a:effectLst/>
                          <a:latin typeface="+mn-lt"/>
                          <a:ea typeface="+mn-ea"/>
                          <a:cs typeface="+mn-cs"/>
                        </a:rPr>
                        <a:t> section in the resource. Then, </a:t>
                      </a:r>
                      <a:r>
                        <a:rPr kumimoji="0" lang="en-GB" sz="1200" b="1" i="0" kern="1200" dirty="0" smtClean="0">
                          <a:solidFill>
                            <a:schemeClr val="dk1"/>
                          </a:solidFill>
                          <a:effectLst/>
                          <a:latin typeface="+mn-lt"/>
                          <a:ea typeface="+mn-ea"/>
                          <a:cs typeface="+mn-cs"/>
                        </a:rPr>
                        <a:t>identify three </a:t>
                      </a:r>
                      <a:r>
                        <a:rPr kumimoji="0" lang="en-GB" sz="1200" b="0" i="0" kern="1200" dirty="0" smtClean="0">
                          <a:solidFill>
                            <a:schemeClr val="dk1"/>
                          </a:solidFill>
                          <a:effectLst/>
                          <a:latin typeface="+mn-lt"/>
                          <a:ea typeface="+mn-ea"/>
                          <a:cs typeface="+mn-cs"/>
                        </a:rPr>
                        <a:t>threat events that could be initiated based on the threat sources you identified. Write the three threat events in the </a:t>
                      </a:r>
                      <a:r>
                        <a:rPr kumimoji="0" lang="en-GB" sz="1200" b="1" i="0" kern="1200" dirty="0" smtClean="0">
                          <a:solidFill>
                            <a:schemeClr val="dk1"/>
                          </a:solidFill>
                          <a:effectLst/>
                          <a:latin typeface="+mn-lt"/>
                          <a:ea typeface="+mn-ea"/>
                          <a:cs typeface="+mn-cs"/>
                        </a:rPr>
                        <a:t>Threat Event</a:t>
                      </a:r>
                      <a:r>
                        <a:rPr kumimoji="0" lang="en-GB" sz="1200" b="0" i="0" kern="1200" dirty="0" smtClean="0">
                          <a:solidFill>
                            <a:schemeClr val="dk1"/>
                          </a:solidFill>
                          <a:effectLst/>
                          <a:latin typeface="+mn-lt"/>
                          <a:ea typeface="+mn-ea"/>
                          <a:cs typeface="+mn-cs"/>
                        </a:rPr>
                        <a:t> column of the Risk Assessment table in your template.</a:t>
                      </a:r>
                      <a:endParaRPr kumimoji="0" lang="en-GB" sz="1200" b="0" i="0" kern="1200" dirty="0">
                        <a:solidFill>
                          <a:schemeClr val="dk1"/>
                        </a:solidFill>
                        <a:effectLst/>
                        <a:latin typeface="+mn-lt"/>
                        <a:ea typeface="+mn-ea"/>
                        <a:cs typeface="+mn-cs"/>
                      </a:endParaRPr>
                    </a:p>
                  </a:txBody>
                  <a:tcPr marL="26751" marR="26751" marT="26751" marB="26751"/>
                </a:tc>
              </a:tr>
              <a:tr h="886480">
                <a:tc>
                  <a:txBody>
                    <a:bodyPr/>
                    <a:lstStyle/>
                    <a:p>
                      <a:pPr>
                        <a:lnSpc>
                          <a:spcPct val="150000"/>
                        </a:lnSpc>
                        <a:spcAft>
                          <a:spcPts val="0"/>
                        </a:spcAft>
                      </a:pPr>
                      <a:r>
                        <a:rPr lang="en-SG" sz="1200" dirty="0" smtClean="0">
                          <a:effectLst/>
                        </a:rPr>
                        <a:t>4. Calculate the risk of potential</a:t>
                      </a:r>
                      <a:r>
                        <a:rPr lang="en-SG" sz="1200" baseline="0" dirty="0" smtClean="0">
                          <a:effectLst/>
                        </a:rPr>
                        <a:t> threats</a:t>
                      </a:r>
                      <a:endParaRPr lang="en-SG" sz="1200" dirty="0">
                        <a:effectLst/>
                        <a:latin typeface="Open Sans"/>
                        <a:ea typeface="Open Sans"/>
                        <a:cs typeface="Open Sans"/>
                      </a:endParaRPr>
                    </a:p>
                  </a:txBody>
                  <a:tcPr marL="26751" marR="26751" marT="26751" marB="26751"/>
                </a:tc>
                <a:tc>
                  <a:txBody>
                    <a:bodyPr/>
                    <a:lstStyle/>
                    <a:p>
                      <a:r>
                        <a:rPr kumimoji="0" lang="en-GB" sz="1200" b="0" i="0" kern="1200" dirty="0" smtClean="0">
                          <a:solidFill>
                            <a:schemeClr val="dk1"/>
                          </a:solidFill>
                          <a:effectLst/>
                          <a:latin typeface="+mn-lt"/>
                          <a:ea typeface="+mn-ea"/>
                          <a:cs typeface="+mn-cs"/>
                        </a:rPr>
                        <a:t>Refer to the likelihood and severity sections of the </a:t>
                      </a:r>
                      <a:r>
                        <a:rPr kumimoji="0" lang="en-GB" sz="1200" b="0" i="1" kern="1200" dirty="0" smtClean="0">
                          <a:solidFill>
                            <a:schemeClr val="dk1"/>
                          </a:solidFill>
                          <a:effectLst/>
                          <a:latin typeface="+mn-lt"/>
                          <a:ea typeface="+mn-ea"/>
                          <a:cs typeface="+mn-cs"/>
                        </a:rPr>
                        <a:t>NIST SP 800-30 Rev. 1</a:t>
                      </a:r>
                      <a:r>
                        <a:rPr kumimoji="0" lang="en-GB" sz="1200" b="0" i="0" kern="1200" dirty="0" smtClean="0">
                          <a:solidFill>
                            <a:schemeClr val="dk1"/>
                          </a:solidFill>
                          <a:effectLst/>
                          <a:latin typeface="+mn-lt"/>
                          <a:ea typeface="+mn-ea"/>
                          <a:cs typeface="+mn-cs"/>
                        </a:rPr>
                        <a:t> resource and ask yourself the following questions about each threat that you identified earlier:</a:t>
                      </a:r>
                    </a:p>
                    <a:p>
                      <a:pPr marL="171450" indent="-171450">
                        <a:buFont typeface="Arial" panose="020B0604020202020204" pitchFamily="34" charset="0"/>
                        <a:buChar char="•"/>
                      </a:pPr>
                      <a:r>
                        <a:rPr kumimoji="0" lang="en-GB" sz="1200" b="0" i="1" kern="1200" dirty="0" smtClean="0">
                          <a:solidFill>
                            <a:schemeClr val="dk1"/>
                          </a:solidFill>
                          <a:effectLst/>
                          <a:latin typeface="+mn-lt"/>
                          <a:ea typeface="+mn-ea"/>
                          <a:cs typeface="+mn-cs"/>
                        </a:rPr>
                        <a:t>How frequently could this happen?</a:t>
                      </a:r>
                      <a:endParaRPr kumimoji="0" lang="en-GB" sz="1200" b="0" i="0" kern="1200" dirty="0" smtClean="0">
                        <a:solidFill>
                          <a:schemeClr val="dk1"/>
                        </a:solidFill>
                        <a:effectLst/>
                        <a:latin typeface="+mn-lt"/>
                        <a:ea typeface="+mn-ea"/>
                        <a:cs typeface="+mn-cs"/>
                      </a:endParaRPr>
                    </a:p>
                    <a:p>
                      <a:pPr marL="171450" indent="-171450">
                        <a:buFont typeface="Arial" panose="020B0604020202020204" pitchFamily="34" charset="0"/>
                        <a:buChar char="•"/>
                      </a:pPr>
                      <a:r>
                        <a:rPr kumimoji="0" lang="en-GB" sz="1200" b="0" i="1" kern="1200" dirty="0" smtClean="0">
                          <a:solidFill>
                            <a:schemeClr val="dk1"/>
                          </a:solidFill>
                          <a:effectLst/>
                          <a:latin typeface="+mn-lt"/>
                          <a:ea typeface="+mn-ea"/>
                          <a:cs typeface="+mn-cs"/>
                        </a:rPr>
                        <a:t>Would critical business functions be impacted?</a:t>
                      </a:r>
                      <a:endParaRPr kumimoji="0" lang="en-GB" sz="1200" b="0" i="0" kern="1200" dirty="0" smtClean="0">
                        <a:solidFill>
                          <a:schemeClr val="dk1"/>
                        </a:solidFill>
                        <a:effectLst/>
                        <a:latin typeface="+mn-lt"/>
                        <a:ea typeface="+mn-ea"/>
                        <a:cs typeface="+mn-cs"/>
                      </a:endParaRPr>
                    </a:p>
                    <a:p>
                      <a:pPr marL="171450" indent="-171450">
                        <a:buFont typeface="Arial" panose="020B0604020202020204" pitchFamily="34" charset="0"/>
                        <a:buChar char="•"/>
                      </a:pPr>
                      <a:r>
                        <a:rPr kumimoji="0" lang="en-GB" sz="1200" b="0" i="1" kern="1200" dirty="0" smtClean="0">
                          <a:solidFill>
                            <a:schemeClr val="dk1"/>
                          </a:solidFill>
                          <a:effectLst/>
                          <a:latin typeface="+mn-lt"/>
                          <a:ea typeface="+mn-ea"/>
                          <a:cs typeface="+mn-cs"/>
                        </a:rPr>
                        <a:t>How might this affect the business and its customers?</a:t>
                      </a:r>
                    </a:p>
                    <a:p>
                      <a:endParaRPr kumimoji="0" lang="en-GB" sz="1200" b="0" i="0" kern="1200" dirty="0" smtClean="0">
                        <a:solidFill>
                          <a:schemeClr val="dk1"/>
                        </a:solidFill>
                        <a:effectLst/>
                        <a:latin typeface="+mn-lt"/>
                        <a:ea typeface="+mn-ea"/>
                        <a:cs typeface="+mn-cs"/>
                      </a:endParaRPr>
                    </a:p>
                    <a:p>
                      <a:r>
                        <a:rPr kumimoji="0" lang="en-GB" sz="1200" b="0" i="0" kern="1200" dirty="0" smtClean="0">
                          <a:solidFill>
                            <a:schemeClr val="dk1"/>
                          </a:solidFill>
                          <a:effectLst/>
                          <a:latin typeface="+mn-lt"/>
                          <a:ea typeface="+mn-ea"/>
                          <a:cs typeface="+mn-cs"/>
                        </a:rPr>
                        <a:t>Then, estimate a </a:t>
                      </a:r>
                      <a:r>
                        <a:rPr kumimoji="0" lang="en-GB" sz="1200" b="1" i="0" kern="1200" dirty="0" smtClean="0">
                          <a:solidFill>
                            <a:schemeClr val="dk1"/>
                          </a:solidFill>
                          <a:effectLst/>
                          <a:latin typeface="+mn-lt"/>
                          <a:ea typeface="+mn-ea"/>
                          <a:cs typeface="+mn-cs"/>
                        </a:rPr>
                        <a:t>Likelihood</a:t>
                      </a:r>
                      <a:r>
                        <a:rPr kumimoji="0" lang="en-GB" sz="1200" b="0" i="0" kern="1200" dirty="0" smtClean="0">
                          <a:solidFill>
                            <a:schemeClr val="dk1"/>
                          </a:solidFill>
                          <a:effectLst/>
                          <a:latin typeface="+mn-lt"/>
                          <a:ea typeface="+mn-ea"/>
                          <a:cs typeface="+mn-cs"/>
                        </a:rPr>
                        <a:t> score (1-3) and </a:t>
                      </a:r>
                      <a:r>
                        <a:rPr kumimoji="0" lang="en-GB" sz="1200" b="1" i="0" kern="1200" dirty="0" smtClean="0">
                          <a:solidFill>
                            <a:schemeClr val="dk1"/>
                          </a:solidFill>
                          <a:effectLst/>
                          <a:latin typeface="+mn-lt"/>
                          <a:ea typeface="+mn-ea"/>
                          <a:cs typeface="+mn-cs"/>
                        </a:rPr>
                        <a:t>Severity</a:t>
                      </a:r>
                      <a:r>
                        <a:rPr kumimoji="0" lang="en-GB" sz="1200" b="0" i="0" kern="1200" dirty="0" smtClean="0">
                          <a:solidFill>
                            <a:schemeClr val="dk1"/>
                          </a:solidFill>
                          <a:effectLst/>
                          <a:latin typeface="+mn-lt"/>
                          <a:ea typeface="+mn-ea"/>
                          <a:cs typeface="+mn-cs"/>
                        </a:rPr>
                        <a:t> score (1-3) for each threat and add your scores to the corresponding columns of the Risk Assessment table in your template. After that, calculate an overall </a:t>
                      </a:r>
                      <a:r>
                        <a:rPr kumimoji="0" lang="en-GB" sz="1200" b="1" i="0" kern="1200" dirty="0" smtClean="0">
                          <a:solidFill>
                            <a:schemeClr val="dk1"/>
                          </a:solidFill>
                          <a:effectLst/>
                          <a:latin typeface="+mn-lt"/>
                          <a:ea typeface="+mn-ea"/>
                          <a:cs typeface="+mn-cs"/>
                        </a:rPr>
                        <a:t>Risk</a:t>
                      </a:r>
                      <a:r>
                        <a:rPr kumimoji="0" lang="en-GB" sz="1200" b="0" i="0" kern="1200" dirty="0" smtClean="0">
                          <a:solidFill>
                            <a:schemeClr val="dk1"/>
                          </a:solidFill>
                          <a:effectLst/>
                          <a:latin typeface="+mn-lt"/>
                          <a:ea typeface="+mn-ea"/>
                          <a:cs typeface="+mn-cs"/>
                        </a:rPr>
                        <a:t> score (1-9) for each threat using the formula (</a:t>
                      </a:r>
                      <a:r>
                        <a:rPr kumimoji="0" lang="en-GB" sz="1200" b="1" i="0" kern="1200" dirty="0" smtClean="0">
                          <a:solidFill>
                            <a:schemeClr val="dk1"/>
                          </a:solidFill>
                          <a:effectLst/>
                          <a:latin typeface="+mn-lt"/>
                          <a:ea typeface="+mn-ea"/>
                          <a:cs typeface="+mn-cs"/>
                        </a:rPr>
                        <a:t>likelihood x severity = risk</a:t>
                      </a:r>
                      <a:r>
                        <a:rPr kumimoji="0" lang="en-GB" sz="1200" b="0" i="0" kern="1200" dirty="0" smtClean="0">
                          <a:solidFill>
                            <a:schemeClr val="dk1"/>
                          </a:solidFill>
                          <a:effectLst/>
                          <a:latin typeface="+mn-lt"/>
                          <a:ea typeface="+mn-ea"/>
                          <a:cs typeface="+mn-cs"/>
                        </a:rPr>
                        <a:t>).</a:t>
                      </a:r>
                    </a:p>
                    <a:p>
                      <a:endParaRPr kumimoji="0" lang="en-GB" sz="1200" b="1" i="0" kern="1200" dirty="0" smtClean="0">
                        <a:solidFill>
                          <a:schemeClr val="dk1"/>
                        </a:solidFill>
                        <a:effectLst/>
                        <a:latin typeface="+mn-lt"/>
                        <a:ea typeface="+mn-ea"/>
                        <a:cs typeface="+mn-cs"/>
                      </a:endParaRPr>
                    </a:p>
                    <a:p>
                      <a:r>
                        <a:rPr kumimoji="0" lang="en-GB" sz="1200" b="1" i="0" kern="1200" dirty="0" smtClean="0">
                          <a:solidFill>
                            <a:schemeClr val="dk1"/>
                          </a:solidFill>
                          <a:effectLst/>
                          <a:latin typeface="+mn-lt"/>
                          <a:ea typeface="+mn-ea"/>
                          <a:cs typeface="+mn-cs"/>
                        </a:rPr>
                        <a:t>Note:</a:t>
                      </a:r>
                      <a:r>
                        <a:rPr kumimoji="0" lang="en-GB" sz="1200" b="0" i="0" kern="1200" dirty="0" smtClean="0">
                          <a:solidFill>
                            <a:schemeClr val="dk1"/>
                          </a:solidFill>
                          <a:effectLst/>
                          <a:latin typeface="+mn-lt"/>
                          <a:ea typeface="+mn-ea"/>
                          <a:cs typeface="+mn-cs"/>
                        </a:rPr>
                        <a:t> The number of rows in a risk table can vary depending on the complexity and scope of the assessment. In general, it should provide stakeholders with a comprehensive overview of all significant risks.</a:t>
                      </a:r>
                      <a:endParaRPr kumimoji="0" lang="en-GB" sz="1200" b="0" i="0" kern="1200" dirty="0">
                        <a:solidFill>
                          <a:schemeClr val="dk1"/>
                        </a:solidFill>
                        <a:effectLst/>
                        <a:latin typeface="+mn-lt"/>
                        <a:ea typeface="+mn-ea"/>
                        <a:cs typeface="+mn-cs"/>
                      </a:endParaRPr>
                    </a:p>
                  </a:txBody>
                  <a:tcPr marL="26751" marR="26751" marT="26751" marB="26751"/>
                </a:tc>
              </a:tr>
            </a:tbl>
          </a:graphicData>
        </a:graphic>
      </p:graphicFrame>
      <p:sp>
        <p:nvSpPr>
          <p:cNvPr id="4" name="TextBox 3"/>
          <p:cNvSpPr txBox="1"/>
          <p:nvPr/>
        </p:nvSpPr>
        <p:spPr>
          <a:xfrm>
            <a:off x="251332" y="44624"/>
            <a:ext cx="2894382" cy="646331"/>
          </a:xfrm>
          <a:prstGeom prst="rect">
            <a:avLst/>
          </a:prstGeom>
          <a:noFill/>
        </p:spPr>
        <p:txBody>
          <a:bodyPr wrap="none" rtlCol="0">
            <a:spAutoFit/>
          </a:bodyPr>
          <a:lstStyle/>
          <a:p>
            <a:r>
              <a:rPr lang="en-SG" b="1" dirty="0"/>
              <a:t>Perform the risk assessment</a:t>
            </a:r>
          </a:p>
          <a:p>
            <a:endParaRPr lang="en-SG" dirty="0"/>
          </a:p>
        </p:txBody>
      </p:sp>
    </p:spTree>
    <p:extLst>
      <p:ext uri="{BB962C8B-B14F-4D97-AF65-F5344CB8AC3E}">
        <p14:creationId xmlns:p14="http://schemas.microsoft.com/office/powerpoint/2010/main" val="39314002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551661958"/>
              </p:ext>
            </p:extLst>
          </p:nvPr>
        </p:nvGraphicFramePr>
        <p:xfrm>
          <a:off x="179512" y="332656"/>
          <a:ext cx="8784976" cy="6294444"/>
        </p:xfrm>
        <a:graphic>
          <a:graphicData uri="http://schemas.openxmlformats.org/drawingml/2006/table">
            <a:tbl>
              <a:tblPr>
                <a:tableStyleId>{5C22544A-7EE6-4342-B048-85BDC9FD1C3A}</a:tableStyleId>
              </a:tblPr>
              <a:tblGrid>
                <a:gridCol w="1872208"/>
                <a:gridCol w="6912768"/>
              </a:tblGrid>
              <a:tr h="849450">
                <a:tc>
                  <a:txBody>
                    <a:bodyPr/>
                    <a:lstStyle/>
                    <a:p>
                      <a:pPr>
                        <a:lnSpc>
                          <a:spcPct val="150000"/>
                        </a:lnSpc>
                        <a:spcAft>
                          <a:spcPts val="0"/>
                        </a:spcAft>
                      </a:pPr>
                      <a:r>
                        <a:rPr lang="en-SG" sz="1400" dirty="0" smtClean="0">
                          <a:effectLst/>
                        </a:rPr>
                        <a:t>1. Explain your</a:t>
                      </a:r>
                      <a:r>
                        <a:rPr lang="en-SG" sz="1400" baseline="0" dirty="0" smtClean="0">
                          <a:effectLst/>
                        </a:rPr>
                        <a:t> approach</a:t>
                      </a:r>
                      <a:endParaRPr lang="en-SG" sz="1400" dirty="0">
                        <a:effectLst/>
                        <a:latin typeface="Open Sans"/>
                        <a:ea typeface="Open Sans"/>
                        <a:cs typeface="Open Sans"/>
                      </a:endParaRPr>
                    </a:p>
                  </a:txBody>
                  <a:tcPr marL="26751" marR="26751" marT="26751" marB="26751"/>
                </a:tc>
                <a:tc>
                  <a:txBody>
                    <a:bodyPr/>
                    <a:lstStyle/>
                    <a:p>
                      <a:r>
                        <a:rPr kumimoji="0" lang="en-GB" sz="1400" b="0" i="0" kern="1200" dirty="0" smtClean="0">
                          <a:solidFill>
                            <a:schemeClr val="dk1"/>
                          </a:solidFill>
                          <a:effectLst/>
                          <a:latin typeface="+mn-lt"/>
                          <a:ea typeface="+mn-ea"/>
                          <a:cs typeface="+mn-cs"/>
                        </a:rPr>
                        <a:t>This helps stakeholders understand your thought process of evaluating the risks you've identified — adding valuable context for stakeholders.</a:t>
                      </a:r>
                    </a:p>
                    <a:p>
                      <a:endParaRPr kumimoji="0" lang="en-GB" sz="1400" b="0" i="0" kern="1200" dirty="0" smtClean="0">
                        <a:solidFill>
                          <a:schemeClr val="dk1"/>
                        </a:solidFill>
                        <a:effectLst/>
                        <a:latin typeface="+mn-lt"/>
                        <a:ea typeface="+mn-ea"/>
                        <a:cs typeface="+mn-cs"/>
                      </a:endParaRPr>
                    </a:p>
                    <a:p>
                      <a:r>
                        <a:rPr kumimoji="0" lang="en-GB" sz="1400" b="0" i="0" kern="1200" dirty="0" smtClean="0">
                          <a:solidFill>
                            <a:schemeClr val="dk1"/>
                          </a:solidFill>
                          <a:effectLst/>
                          <a:latin typeface="+mn-lt"/>
                          <a:ea typeface="+mn-ea"/>
                          <a:cs typeface="+mn-cs"/>
                        </a:rPr>
                        <a:t>You are conducting a </a:t>
                      </a:r>
                      <a:r>
                        <a:rPr kumimoji="0" lang="en-GB" sz="1400" b="0" i="1" kern="1200" dirty="0" smtClean="0">
                          <a:solidFill>
                            <a:schemeClr val="dk1"/>
                          </a:solidFill>
                          <a:effectLst/>
                          <a:latin typeface="+mn-lt"/>
                          <a:ea typeface="+mn-ea"/>
                          <a:cs typeface="+mn-cs"/>
                        </a:rPr>
                        <a:t>qualitative</a:t>
                      </a:r>
                      <a:r>
                        <a:rPr kumimoji="0" lang="en-GB" sz="1400" b="0" i="0" kern="1200" dirty="0" smtClean="0">
                          <a:solidFill>
                            <a:schemeClr val="dk1"/>
                          </a:solidFill>
                          <a:effectLst/>
                          <a:latin typeface="+mn-lt"/>
                          <a:ea typeface="+mn-ea"/>
                          <a:cs typeface="+mn-cs"/>
                        </a:rPr>
                        <a:t> vulnerability assessment, which relies on subjective judgment to assess the likelihood and severity of risks. Your task here is to estimate</a:t>
                      </a:r>
                      <a:r>
                        <a:rPr kumimoji="0" lang="en-GB" sz="1400" b="1" i="0" kern="1200" dirty="0" smtClean="0">
                          <a:solidFill>
                            <a:schemeClr val="dk1"/>
                          </a:solidFill>
                          <a:effectLst/>
                          <a:latin typeface="+mn-lt"/>
                          <a:ea typeface="+mn-ea"/>
                          <a:cs typeface="+mn-cs"/>
                        </a:rPr>
                        <a:t> </a:t>
                      </a:r>
                      <a:r>
                        <a:rPr kumimoji="0" lang="en-GB" sz="1400" b="0" i="0" kern="1200" dirty="0" smtClean="0">
                          <a:solidFill>
                            <a:schemeClr val="dk1"/>
                          </a:solidFill>
                          <a:effectLst/>
                          <a:latin typeface="+mn-lt"/>
                          <a:ea typeface="+mn-ea"/>
                          <a:cs typeface="+mn-cs"/>
                        </a:rPr>
                        <a:t>how bad attacks could be by judging their</a:t>
                      </a:r>
                      <a:r>
                        <a:rPr kumimoji="0" lang="en-GB" sz="1400" b="1" i="0" kern="1200" dirty="0" smtClean="0">
                          <a:solidFill>
                            <a:schemeClr val="dk1"/>
                          </a:solidFill>
                          <a:effectLst/>
                          <a:latin typeface="+mn-lt"/>
                          <a:ea typeface="+mn-ea"/>
                          <a:cs typeface="+mn-cs"/>
                        </a:rPr>
                        <a:t> </a:t>
                      </a:r>
                      <a:r>
                        <a:rPr kumimoji="0" lang="en-GB" sz="1400" b="0" i="0" kern="1200" dirty="0" smtClean="0">
                          <a:solidFill>
                            <a:schemeClr val="dk1"/>
                          </a:solidFill>
                          <a:effectLst/>
                          <a:latin typeface="+mn-lt"/>
                          <a:ea typeface="+mn-ea"/>
                          <a:cs typeface="+mn-cs"/>
                        </a:rPr>
                        <a:t>chances</a:t>
                      </a:r>
                      <a:r>
                        <a:rPr kumimoji="0" lang="en-GB" sz="1400" b="1" i="0" kern="1200" dirty="0" smtClean="0">
                          <a:solidFill>
                            <a:schemeClr val="dk1"/>
                          </a:solidFill>
                          <a:effectLst/>
                          <a:latin typeface="+mn-lt"/>
                          <a:ea typeface="+mn-ea"/>
                          <a:cs typeface="+mn-cs"/>
                        </a:rPr>
                        <a:t> </a:t>
                      </a:r>
                      <a:r>
                        <a:rPr kumimoji="0" lang="en-GB" sz="1400" b="0" i="0" kern="1200" dirty="0" smtClean="0">
                          <a:solidFill>
                            <a:schemeClr val="dk1"/>
                          </a:solidFill>
                          <a:effectLst/>
                          <a:latin typeface="+mn-lt"/>
                          <a:ea typeface="+mn-ea"/>
                          <a:cs typeface="+mn-cs"/>
                        </a:rPr>
                        <a:t>based on your security knowledge. Qualitative vulnerability assessments are useful for identifying high-level risks facing an organization. This information helps organizations make informed decisions about resource allocation, project planning, and other aspects of their business operations.</a:t>
                      </a:r>
                    </a:p>
                    <a:p>
                      <a:endParaRPr kumimoji="0" lang="en-GB" sz="1400" b="0" i="0" kern="1200" dirty="0" smtClean="0">
                        <a:solidFill>
                          <a:schemeClr val="dk1"/>
                        </a:solidFill>
                        <a:effectLst/>
                        <a:latin typeface="+mn-lt"/>
                        <a:ea typeface="+mn-ea"/>
                        <a:cs typeface="+mn-cs"/>
                      </a:endParaRPr>
                    </a:p>
                    <a:p>
                      <a:r>
                        <a:rPr kumimoji="0" lang="en-GB" sz="1400" b="0" i="0" kern="1200" dirty="0" smtClean="0">
                          <a:solidFill>
                            <a:schemeClr val="dk1"/>
                          </a:solidFill>
                          <a:effectLst/>
                          <a:latin typeface="+mn-lt"/>
                          <a:ea typeface="+mn-ea"/>
                          <a:cs typeface="+mn-cs"/>
                        </a:rPr>
                        <a:t>In the </a:t>
                      </a:r>
                      <a:r>
                        <a:rPr kumimoji="0" lang="en-GB" sz="1400" b="1" i="0" kern="1200" dirty="0" smtClean="0">
                          <a:solidFill>
                            <a:schemeClr val="dk1"/>
                          </a:solidFill>
                          <a:effectLst/>
                          <a:latin typeface="+mn-lt"/>
                          <a:ea typeface="+mn-ea"/>
                          <a:cs typeface="+mn-cs"/>
                        </a:rPr>
                        <a:t>Approach</a:t>
                      </a:r>
                      <a:r>
                        <a:rPr kumimoji="0" lang="en-GB" sz="1400" b="0" i="0" kern="1200" dirty="0" smtClean="0">
                          <a:solidFill>
                            <a:schemeClr val="dk1"/>
                          </a:solidFill>
                          <a:effectLst/>
                          <a:latin typeface="+mn-lt"/>
                          <a:ea typeface="+mn-ea"/>
                          <a:cs typeface="+mn-cs"/>
                        </a:rPr>
                        <a:t> section of your template, write </a:t>
                      </a:r>
                      <a:r>
                        <a:rPr kumimoji="0" lang="en-GB" sz="1400" b="1" i="0" kern="1200" dirty="0" smtClean="0">
                          <a:solidFill>
                            <a:schemeClr val="dk1"/>
                          </a:solidFill>
                          <a:effectLst/>
                          <a:latin typeface="+mn-lt"/>
                          <a:ea typeface="+mn-ea"/>
                          <a:cs typeface="+mn-cs"/>
                        </a:rPr>
                        <a:t>3-5 sentences</a:t>
                      </a:r>
                      <a:r>
                        <a:rPr kumimoji="0" lang="en-GB" sz="1400" b="0" i="0" kern="1200" dirty="0" smtClean="0">
                          <a:solidFill>
                            <a:schemeClr val="dk1"/>
                          </a:solidFill>
                          <a:effectLst/>
                          <a:latin typeface="+mn-lt"/>
                          <a:ea typeface="+mn-ea"/>
                          <a:cs typeface="+mn-cs"/>
                        </a:rPr>
                        <a:t> (60-100 words) explaining why you selected the 3 specific threat sources/events you chose and why you think they're significant business risks.</a:t>
                      </a:r>
                      <a:endParaRPr kumimoji="0" lang="en-GB" sz="1400" b="0" i="0" kern="1200" dirty="0">
                        <a:solidFill>
                          <a:schemeClr val="dk1"/>
                        </a:solidFill>
                        <a:effectLst/>
                        <a:latin typeface="+mn-lt"/>
                        <a:ea typeface="+mn-ea"/>
                        <a:cs typeface="+mn-cs"/>
                      </a:endParaRPr>
                    </a:p>
                  </a:txBody>
                  <a:tcPr marL="26751" marR="26751" marT="26751" marB="26751"/>
                </a:tc>
              </a:tr>
              <a:tr h="671122">
                <a:tc>
                  <a:txBody>
                    <a:bodyPr/>
                    <a:lstStyle/>
                    <a:p>
                      <a:pPr>
                        <a:lnSpc>
                          <a:spcPct val="150000"/>
                        </a:lnSpc>
                        <a:spcAft>
                          <a:spcPts val="0"/>
                        </a:spcAft>
                      </a:pPr>
                      <a:r>
                        <a:rPr lang="en-SG" sz="1400" dirty="0" smtClean="0">
                          <a:effectLst/>
                        </a:rPr>
                        <a:t>2. Propose</a:t>
                      </a:r>
                      <a:r>
                        <a:rPr lang="en-SG" sz="1400" baseline="0" dirty="0" smtClean="0">
                          <a:effectLst/>
                        </a:rPr>
                        <a:t> a remediation strategy</a:t>
                      </a:r>
                      <a:endParaRPr lang="en-SG" sz="1400" dirty="0">
                        <a:effectLst/>
                        <a:latin typeface="Open Sans"/>
                        <a:ea typeface="Open Sans"/>
                        <a:cs typeface="Open Sans"/>
                      </a:endParaRPr>
                    </a:p>
                  </a:txBody>
                  <a:tcPr marL="26751" marR="26751" marT="26751" marB="26751"/>
                </a:tc>
                <a:tc>
                  <a:txBody>
                    <a:bodyPr/>
                    <a:lstStyle/>
                    <a:p>
                      <a:r>
                        <a:rPr kumimoji="0" lang="en-GB" sz="1400" b="0" i="0" kern="1200" dirty="0" smtClean="0">
                          <a:solidFill>
                            <a:schemeClr val="dk1"/>
                          </a:solidFill>
                          <a:effectLst/>
                          <a:latin typeface="+mn-lt"/>
                          <a:ea typeface="+mn-ea"/>
                          <a:cs typeface="+mn-cs"/>
                        </a:rPr>
                        <a:t>After performing a vulnerability assessment, creating a well-defined remediation strategy is crucial for protecting your systems and data.  The remediation strategy should provide stakeholders with actionable steps that can be taken to remediate, or fix, vulnerabilities to avoid threats.</a:t>
                      </a:r>
                    </a:p>
                    <a:p>
                      <a:endParaRPr kumimoji="0" lang="en-GB" sz="1400" b="0" i="0" kern="1200" dirty="0" smtClean="0">
                        <a:solidFill>
                          <a:schemeClr val="dk1"/>
                        </a:solidFill>
                        <a:effectLst/>
                        <a:latin typeface="+mn-lt"/>
                        <a:ea typeface="+mn-ea"/>
                        <a:cs typeface="+mn-cs"/>
                      </a:endParaRPr>
                    </a:p>
                    <a:p>
                      <a:r>
                        <a:rPr kumimoji="0" lang="en-GB" sz="1400" b="1" i="0" kern="1200" dirty="0" smtClean="0">
                          <a:solidFill>
                            <a:schemeClr val="dk1"/>
                          </a:solidFill>
                          <a:effectLst/>
                          <a:latin typeface="+mn-lt"/>
                          <a:ea typeface="+mn-ea"/>
                          <a:cs typeface="+mn-cs"/>
                        </a:rPr>
                        <a:t>Note:</a:t>
                      </a:r>
                      <a:r>
                        <a:rPr kumimoji="0" lang="en-GB" sz="1400" b="0" i="0" kern="1200" dirty="0" smtClean="0">
                          <a:solidFill>
                            <a:schemeClr val="dk1"/>
                          </a:solidFill>
                          <a:effectLst/>
                          <a:latin typeface="+mn-lt"/>
                          <a:ea typeface="+mn-ea"/>
                          <a:cs typeface="+mn-cs"/>
                        </a:rPr>
                        <a:t> Certain threats cannot be fixed. In those cases, it's equally important to consider a </a:t>
                      </a:r>
                      <a:r>
                        <a:rPr kumimoji="0" lang="en-GB" sz="1400" b="0" i="1" kern="1200" dirty="0" smtClean="0">
                          <a:solidFill>
                            <a:schemeClr val="dk1"/>
                          </a:solidFill>
                          <a:effectLst/>
                          <a:latin typeface="+mn-lt"/>
                          <a:ea typeface="+mn-ea"/>
                          <a:cs typeface="+mn-cs"/>
                        </a:rPr>
                        <a:t>mitigation strategy </a:t>
                      </a:r>
                      <a:r>
                        <a:rPr kumimoji="0" lang="en-GB" sz="1400" b="0" i="0" kern="1200" dirty="0" smtClean="0">
                          <a:solidFill>
                            <a:schemeClr val="dk1"/>
                          </a:solidFill>
                          <a:effectLst/>
                          <a:latin typeface="+mn-lt"/>
                          <a:ea typeface="+mn-ea"/>
                          <a:cs typeface="+mn-cs"/>
                        </a:rPr>
                        <a:t>— a plan to reduce the severity of a threat.</a:t>
                      </a:r>
                    </a:p>
                    <a:p>
                      <a:endParaRPr kumimoji="0" lang="en-GB" sz="1400" b="0" i="0" kern="1200" dirty="0" smtClean="0">
                        <a:solidFill>
                          <a:schemeClr val="dk1"/>
                        </a:solidFill>
                        <a:effectLst/>
                        <a:latin typeface="+mn-lt"/>
                        <a:ea typeface="+mn-ea"/>
                        <a:cs typeface="+mn-cs"/>
                      </a:endParaRPr>
                    </a:p>
                    <a:p>
                      <a:r>
                        <a:rPr kumimoji="0" lang="en-GB" sz="1400" b="0" i="0" kern="1200" dirty="0" smtClean="0">
                          <a:solidFill>
                            <a:schemeClr val="dk1"/>
                          </a:solidFill>
                          <a:effectLst/>
                          <a:latin typeface="+mn-lt"/>
                          <a:ea typeface="+mn-ea"/>
                          <a:cs typeface="+mn-cs"/>
                        </a:rPr>
                        <a:t>Think about the risks that could remediate and/or mitigate using security controls like:</a:t>
                      </a:r>
                    </a:p>
                    <a:p>
                      <a:pPr marL="171450" indent="-171450">
                        <a:buFont typeface="Arial" panose="020B0604020202020204" pitchFamily="34" charset="0"/>
                        <a:buChar char="•"/>
                      </a:pPr>
                      <a:r>
                        <a:rPr kumimoji="0" lang="en-GB" sz="1400" b="0" i="0" kern="1200" dirty="0" smtClean="0">
                          <a:solidFill>
                            <a:schemeClr val="dk1"/>
                          </a:solidFill>
                          <a:effectLst/>
                          <a:latin typeface="+mn-lt"/>
                          <a:ea typeface="+mn-ea"/>
                          <a:cs typeface="+mn-cs"/>
                        </a:rPr>
                        <a:t>Principle of least privilege </a:t>
                      </a:r>
                    </a:p>
                    <a:p>
                      <a:pPr marL="171450" indent="-171450">
                        <a:buFont typeface="Arial" panose="020B0604020202020204" pitchFamily="34" charset="0"/>
                        <a:buChar char="•"/>
                      </a:pPr>
                      <a:r>
                        <a:rPr kumimoji="0" lang="en-GB" sz="1400" b="0" i="0" kern="1200" dirty="0" err="1" smtClean="0">
                          <a:solidFill>
                            <a:schemeClr val="dk1"/>
                          </a:solidFill>
                          <a:effectLst/>
                          <a:latin typeface="+mn-lt"/>
                          <a:ea typeface="+mn-ea"/>
                          <a:cs typeface="+mn-cs"/>
                        </a:rPr>
                        <a:t>Defense</a:t>
                      </a:r>
                      <a:r>
                        <a:rPr kumimoji="0" lang="en-GB" sz="1400" b="0" i="0" kern="1200" dirty="0" smtClean="0">
                          <a:solidFill>
                            <a:schemeClr val="dk1"/>
                          </a:solidFill>
                          <a:effectLst/>
                          <a:latin typeface="+mn-lt"/>
                          <a:ea typeface="+mn-ea"/>
                          <a:cs typeface="+mn-cs"/>
                        </a:rPr>
                        <a:t> in depth</a:t>
                      </a:r>
                    </a:p>
                    <a:p>
                      <a:pPr marL="171450" indent="-171450">
                        <a:buFont typeface="Arial" panose="020B0604020202020204" pitchFamily="34" charset="0"/>
                        <a:buChar char="•"/>
                      </a:pPr>
                      <a:r>
                        <a:rPr kumimoji="0" lang="en-GB" sz="1400" b="0" i="0" kern="1200" dirty="0" smtClean="0">
                          <a:solidFill>
                            <a:schemeClr val="dk1"/>
                          </a:solidFill>
                          <a:effectLst/>
                          <a:latin typeface="+mn-lt"/>
                          <a:ea typeface="+mn-ea"/>
                          <a:cs typeface="+mn-cs"/>
                        </a:rPr>
                        <a:t>Multi-factor authentication (MFA)</a:t>
                      </a:r>
                    </a:p>
                    <a:p>
                      <a:pPr marL="171450" indent="-171450">
                        <a:buFont typeface="Arial" panose="020B0604020202020204" pitchFamily="34" charset="0"/>
                        <a:buChar char="•"/>
                      </a:pPr>
                      <a:r>
                        <a:rPr kumimoji="0" lang="en-GB" sz="1400" b="0" i="0" kern="1200" dirty="0" smtClean="0">
                          <a:solidFill>
                            <a:schemeClr val="dk1"/>
                          </a:solidFill>
                          <a:effectLst/>
                          <a:latin typeface="+mn-lt"/>
                          <a:ea typeface="+mn-ea"/>
                          <a:cs typeface="+mn-cs"/>
                        </a:rPr>
                        <a:t>Authentication, Authorization, Accounting (AAA) framework</a:t>
                      </a:r>
                    </a:p>
                    <a:p>
                      <a:endParaRPr kumimoji="0" lang="en-GB" sz="1400" b="0" i="0" kern="1200" dirty="0" smtClean="0">
                        <a:solidFill>
                          <a:schemeClr val="dk1"/>
                        </a:solidFill>
                        <a:effectLst/>
                        <a:latin typeface="+mn-lt"/>
                        <a:ea typeface="+mn-ea"/>
                        <a:cs typeface="+mn-cs"/>
                      </a:endParaRPr>
                    </a:p>
                    <a:p>
                      <a:r>
                        <a:rPr kumimoji="0" lang="en-GB" sz="1400" b="0" i="0" kern="1200" dirty="0" smtClean="0">
                          <a:solidFill>
                            <a:schemeClr val="dk1"/>
                          </a:solidFill>
                          <a:effectLst/>
                          <a:latin typeface="+mn-lt"/>
                          <a:ea typeface="+mn-ea"/>
                          <a:cs typeface="+mn-cs"/>
                        </a:rPr>
                        <a:t>In the </a:t>
                      </a:r>
                      <a:r>
                        <a:rPr kumimoji="0" lang="en-GB" sz="1400" b="1" i="0" kern="1200" dirty="0" smtClean="0">
                          <a:solidFill>
                            <a:schemeClr val="dk1"/>
                          </a:solidFill>
                          <a:effectLst/>
                          <a:latin typeface="+mn-lt"/>
                          <a:ea typeface="+mn-ea"/>
                          <a:cs typeface="+mn-cs"/>
                        </a:rPr>
                        <a:t>Remediation</a:t>
                      </a:r>
                      <a:r>
                        <a:rPr kumimoji="0" lang="en-GB" sz="1400" b="0" i="0" kern="1200" dirty="0" smtClean="0">
                          <a:solidFill>
                            <a:schemeClr val="dk1"/>
                          </a:solidFill>
                          <a:effectLst/>
                          <a:latin typeface="+mn-lt"/>
                          <a:ea typeface="+mn-ea"/>
                          <a:cs typeface="+mn-cs"/>
                        </a:rPr>
                        <a:t> section of the template, write </a:t>
                      </a:r>
                      <a:r>
                        <a:rPr kumimoji="0" lang="en-GB" sz="1400" b="1" i="0" kern="1200" dirty="0" smtClean="0">
                          <a:solidFill>
                            <a:schemeClr val="dk1"/>
                          </a:solidFill>
                          <a:effectLst/>
                          <a:latin typeface="+mn-lt"/>
                          <a:ea typeface="+mn-ea"/>
                          <a:cs typeface="+mn-cs"/>
                        </a:rPr>
                        <a:t>3-5 sentences</a:t>
                      </a:r>
                      <a:r>
                        <a:rPr kumimoji="0" lang="en-GB" sz="1400" b="0" i="0" kern="1200" dirty="0" smtClean="0">
                          <a:solidFill>
                            <a:schemeClr val="dk1"/>
                          </a:solidFill>
                          <a:effectLst/>
                          <a:latin typeface="+mn-lt"/>
                          <a:ea typeface="+mn-ea"/>
                          <a:cs typeface="+mn-cs"/>
                        </a:rPr>
                        <a:t> (60-100 words) summarizing specific security controls that could be implemented to remediate or mitigate the risks to the information system.</a:t>
                      </a:r>
                    </a:p>
                    <a:p>
                      <a:endParaRPr kumimoji="0" lang="en-GB" sz="1400" b="0" i="0" kern="1200" dirty="0" smtClean="0">
                        <a:solidFill>
                          <a:schemeClr val="dk1"/>
                        </a:solidFill>
                        <a:effectLst/>
                        <a:latin typeface="+mn-lt"/>
                        <a:ea typeface="+mn-ea"/>
                        <a:cs typeface="+mn-cs"/>
                      </a:endParaRPr>
                    </a:p>
                    <a:p>
                      <a:r>
                        <a:rPr kumimoji="0" lang="en-GB" sz="1400" b="0" i="0" kern="1200" dirty="0" smtClean="0">
                          <a:solidFill>
                            <a:schemeClr val="dk1"/>
                          </a:solidFill>
                          <a:effectLst/>
                          <a:latin typeface="+mn-lt"/>
                          <a:ea typeface="+mn-ea"/>
                          <a:cs typeface="+mn-cs"/>
                        </a:rPr>
                        <a:t>Align your suggestions with the risks you've assessed. For example, you might suggest public key infrastructure (PKI) to address exfiltration of sensitive information. </a:t>
                      </a:r>
                      <a:endParaRPr kumimoji="0" lang="en-GB" sz="1400" b="0" i="0" kern="1200" dirty="0">
                        <a:solidFill>
                          <a:schemeClr val="dk1"/>
                        </a:solidFill>
                        <a:effectLst/>
                        <a:latin typeface="+mn-lt"/>
                        <a:ea typeface="+mn-ea"/>
                        <a:cs typeface="+mn-cs"/>
                      </a:endParaRPr>
                    </a:p>
                  </a:txBody>
                  <a:tcPr marL="26751" marR="26751" marT="26751" marB="26751"/>
                </a:tc>
              </a:tr>
            </a:tbl>
          </a:graphicData>
        </a:graphic>
      </p:graphicFrame>
      <p:sp>
        <p:nvSpPr>
          <p:cNvPr id="4" name="TextBox 3"/>
          <p:cNvSpPr txBox="1"/>
          <p:nvPr/>
        </p:nvSpPr>
        <p:spPr>
          <a:xfrm>
            <a:off x="251332" y="44624"/>
            <a:ext cx="3639907" cy="646331"/>
          </a:xfrm>
          <a:prstGeom prst="rect">
            <a:avLst/>
          </a:prstGeom>
          <a:noFill/>
        </p:spPr>
        <p:txBody>
          <a:bodyPr wrap="none" rtlCol="0">
            <a:spAutoFit/>
          </a:bodyPr>
          <a:lstStyle/>
          <a:p>
            <a:r>
              <a:rPr lang="en-SG" b="1" dirty="0"/>
              <a:t>Propose security recommendations</a:t>
            </a:r>
          </a:p>
          <a:p>
            <a:endParaRPr lang="en-SG" dirty="0"/>
          </a:p>
        </p:txBody>
      </p:sp>
    </p:spTree>
    <p:extLst>
      <p:ext uri="{BB962C8B-B14F-4D97-AF65-F5344CB8AC3E}">
        <p14:creationId xmlns:p14="http://schemas.microsoft.com/office/powerpoint/2010/main" val="26431603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978464"/>
            <a:ext cx="8229600" cy="722344"/>
          </a:xfrm>
        </p:spPr>
        <p:txBody>
          <a:bodyPr>
            <a:noAutofit/>
          </a:bodyPr>
          <a:lstStyle/>
          <a:p>
            <a:r>
              <a:rPr lang="en-SG" sz="2800" b="1" dirty="0"/>
              <a:t>Vulnerability Assessment </a:t>
            </a:r>
            <a:r>
              <a:rPr lang="en-SG" sz="2800" b="1" dirty="0" smtClean="0"/>
              <a:t>Report</a:t>
            </a:r>
            <a:br>
              <a:rPr lang="en-SG" sz="2800" b="1" dirty="0" smtClean="0"/>
            </a:br>
            <a:r>
              <a:rPr lang="en-SG" sz="2000" b="1" dirty="0">
                <a:solidFill>
                  <a:schemeClr val="bg1">
                    <a:lumMod val="50000"/>
                  </a:schemeClr>
                </a:solidFill>
              </a:rPr>
              <a:t>1</a:t>
            </a:r>
            <a:r>
              <a:rPr lang="en-SG" sz="2000" b="1" baseline="30000" dirty="0">
                <a:solidFill>
                  <a:schemeClr val="bg1">
                    <a:lumMod val="50000"/>
                  </a:schemeClr>
                </a:solidFill>
              </a:rPr>
              <a:t>st</a:t>
            </a:r>
            <a:r>
              <a:rPr lang="en-SG" sz="2000" b="1" dirty="0">
                <a:solidFill>
                  <a:schemeClr val="bg1">
                    <a:lumMod val="50000"/>
                  </a:schemeClr>
                </a:solidFill>
              </a:rPr>
              <a:t> January 20XX</a:t>
            </a:r>
            <a:r>
              <a:rPr lang="en-SG" sz="2800" dirty="0"/>
              <a:t/>
            </a:r>
            <a:br>
              <a:rPr lang="en-SG" sz="2800" dirty="0"/>
            </a:br>
            <a:endParaRPr lang="en-SG" sz="2800" dirty="0"/>
          </a:p>
        </p:txBody>
      </p:sp>
      <p:cxnSp>
        <p:nvCxnSpPr>
          <p:cNvPr id="5" name="Straight Connector 4"/>
          <p:cNvCxnSpPr/>
          <p:nvPr/>
        </p:nvCxnSpPr>
        <p:spPr>
          <a:xfrm flipV="1">
            <a:off x="120770" y="1325330"/>
            <a:ext cx="8915726" cy="1543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23528" y="1610211"/>
            <a:ext cx="8280920" cy="4555093"/>
          </a:xfrm>
          <a:prstGeom prst="rect">
            <a:avLst/>
          </a:prstGeom>
          <a:noFill/>
        </p:spPr>
        <p:txBody>
          <a:bodyPr wrap="square" rtlCol="0">
            <a:spAutoFit/>
          </a:bodyPr>
          <a:lstStyle/>
          <a:p>
            <a:r>
              <a:rPr lang="en-SG" sz="1600" b="1" dirty="0"/>
              <a:t>System Description</a:t>
            </a:r>
          </a:p>
          <a:p>
            <a:r>
              <a:rPr lang="en-SG" sz="1600" dirty="0"/>
              <a:t>The server hardware consists of a powerful CPU processor and 128GB of memory. It runs on the latest version of Linux operating system and hosts a MySQL database management system. It is configured with a stable network connection using IPv4 addresses and interacts with other servers on the network. Security measures include SSL/TLS encrypted connections</a:t>
            </a:r>
            <a:r>
              <a:rPr lang="en-SG" sz="1600" dirty="0" smtClean="0"/>
              <a:t>.</a:t>
            </a:r>
          </a:p>
          <a:p>
            <a:endParaRPr lang="en-SG" sz="1600" dirty="0"/>
          </a:p>
          <a:p>
            <a:r>
              <a:rPr lang="en-SG" sz="1600" b="1" dirty="0"/>
              <a:t>Scope</a:t>
            </a:r>
          </a:p>
          <a:p>
            <a:r>
              <a:rPr lang="en-SG" sz="1600" dirty="0"/>
              <a:t>The scope of this vulnerability assessment relates to the current access controls of the system. The assessment will cover a period of three months, from June 20XX to August 20XX. </a:t>
            </a:r>
            <a:r>
              <a:rPr lang="en-SG" sz="1600" u="sng" dirty="0"/>
              <a:t>NIST SP 800-30 Rev. 1</a:t>
            </a:r>
            <a:r>
              <a:rPr lang="en-SG" sz="1600" dirty="0"/>
              <a:t> is used to guide the risk analysis of the information system.</a:t>
            </a:r>
          </a:p>
          <a:p>
            <a:endParaRPr lang="en-SG" sz="1600" b="1" dirty="0" smtClean="0"/>
          </a:p>
          <a:p>
            <a:r>
              <a:rPr lang="en-SG" sz="1600" b="1" dirty="0" smtClean="0"/>
              <a:t>Purpose</a:t>
            </a:r>
          </a:p>
          <a:p>
            <a:r>
              <a:rPr lang="en-SG" sz="1600" dirty="0" smtClean="0">
                <a:solidFill>
                  <a:srgbClr val="0070C0"/>
                </a:solidFill>
              </a:rPr>
              <a:t>The </a:t>
            </a:r>
            <a:r>
              <a:rPr lang="en-SG" sz="1600" dirty="0">
                <a:solidFill>
                  <a:srgbClr val="0070C0"/>
                </a:solidFill>
              </a:rPr>
              <a:t>database server is a centralized computer system that stores and manages large amounts of data. The server is used to store customer, campaign, and analytic data that can later be </a:t>
            </a:r>
            <a:r>
              <a:rPr lang="en-SG" sz="1600" dirty="0" err="1">
                <a:solidFill>
                  <a:srgbClr val="0070C0"/>
                </a:solidFill>
              </a:rPr>
              <a:t>analyzed</a:t>
            </a:r>
            <a:r>
              <a:rPr lang="en-SG" sz="1600" dirty="0">
                <a:solidFill>
                  <a:srgbClr val="0070C0"/>
                </a:solidFill>
              </a:rPr>
              <a:t> to track performance and personalize marketing efforts. It is critical to secure the system because of its regular use for marketing operations.</a:t>
            </a:r>
          </a:p>
          <a:p>
            <a:endParaRPr lang="en-SG" dirty="0"/>
          </a:p>
        </p:txBody>
      </p:sp>
    </p:spTree>
    <p:extLst>
      <p:ext uri="{BB962C8B-B14F-4D97-AF65-F5344CB8AC3E}">
        <p14:creationId xmlns:p14="http://schemas.microsoft.com/office/powerpoint/2010/main" val="42172148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65294" y="908720"/>
            <a:ext cx="8280920" cy="615553"/>
          </a:xfrm>
          <a:prstGeom prst="rect">
            <a:avLst/>
          </a:prstGeom>
          <a:noFill/>
        </p:spPr>
        <p:txBody>
          <a:bodyPr wrap="square" rtlCol="0">
            <a:spAutoFit/>
          </a:bodyPr>
          <a:lstStyle/>
          <a:p>
            <a:r>
              <a:rPr lang="en-SG" sz="1600" b="1" dirty="0" smtClean="0"/>
              <a:t>Risk Assessment</a:t>
            </a:r>
            <a:endParaRPr lang="en-SG" sz="1600" b="1" dirty="0"/>
          </a:p>
          <a:p>
            <a:endParaRPr lang="en-SG" dirty="0"/>
          </a:p>
        </p:txBody>
      </p:sp>
      <p:graphicFrame>
        <p:nvGraphicFramePr>
          <p:cNvPr id="7" name="Table 6"/>
          <p:cNvGraphicFramePr>
            <a:graphicFrameLocks noGrp="1"/>
          </p:cNvGraphicFramePr>
          <p:nvPr>
            <p:extLst>
              <p:ext uri="{D42A27DB-BD31-4B8C-83A1-F6EECF244321}">
                <p14:modId xmlns:p14="http://schemas.microsoft.com/office/powerpoint/2010/main" val="3282683931"/>
              </p:ext>
            </p:extLst>
          </p:nvPr>
        </p:nvGraphicFramePr>
        <p:xfrm>
          <a:off x="467544" y="1340768"/>
          <a:ext cx="6912769" cy="1615188"/>
        </p:xfrm>
        <a:graphic>
          <a:graphicData uri="http://schemas.openxmlformats.org/drawingml/2006/table">
            <a:tbl>
              <a:tblPr>
                <a:tableStyleId>{5C22544A-7EE6-4342-B048-85BDC9FD1C3A}</a:tableStyleId>
              </a:tblPr>
              <a:tblGrid>
                <a:gridCol w="1382554"/>
                <a:gridCol w="2687060"/>
                <a:gridCol w="1036916"/>
                <a:gridCol w="981167"/>
                <a:gridCol w="825072"/>
              </a:tblGrid>
              <a:tr h="339372">
                <a:tc>
                  <a:txBody>
                    <a:bodyPr/>
                    <a:lstStyle/>
                    <a:p>
                      <a:pPr>
                        <a:lnSpc>
                          <a:spcPct val="130000"/>
                        </a:lnSpc>
                        <a:spcBef>
                          <a:spcPts val="1000"/>
                        </a:spcBef>
                        <a:spcAft>
                          <a:spcPts val="0"/>
                        </a:spcAft>
                      </a:pPr>
                      <a:r>
                        <a:rPr lang="en-SG" sz="1200" dirty="0">
                          <a:solidFill>
                            <a:srgbClr val="0070C0"/>
                          </a:solidFill>
                          <a:effectLst/>
                        </a:rPr>
                        <a:t>Threat source</a:t>
                      </a:r>
                      <a:endParaRPr lang="en-SG" sz="1200" dirty="0">
                        <a:solidFill>
                          <a:srgbClr val="0070C0"/>
                        </a:solidFill>
                        <a:effectLst/>
                        <a:latin typeface="Google Sans"/>
                        <a:ea typeface="Google Sans"/>
                        <a:cs typeface="Google Sans"/>
                      </a:endParaRPr>
                    </a:p>
                  </a:txBody>
                  <a:tcPr marL="63500" marR="63500" marT="63500" marB="63500"/>
                </a:tc>
                <a:tc>
                  <a:txBody>
                    <a:bodyPr/>
                    <a:lstStyle/>
                    <a:p>
                      <a:pPr>
                        <a:lnSpc>
                          <a:spcPct val="130000"/>
                        </a:lnSpc>
                        <a:spcBef>
                          <a:spcPts val="1000"/>
                        </a:spcBef>
                        <a:spcAft>
                          <a:spcPts val="0"/>
                        </a:spcAft>
                      </a:pPr>
                      <a:r>
                        <a:rPr lang="en-SG" sz="1200" dirty="0">
                          <a:solidFill>
                            <a:srgbClr val="0070C0"/>
                          </a:solidFill>
                          <a:effectLst/>
                        </a:rPr>
                        <a:t>Threat event</a:t>
                      </a:r>
                      <a:endParaRPr lang="en-SG" sz="1200" dirty="0">
                        <a:solidFill>
                          <a:srgbClr val="0070C0"/>
                        </a:solidFill>
                        <a:effectLst/>
                        <a:latin typeface="Google Sans"/>
                        <a:ea typeface="Google Sans"/>
                        <a:cs typeface="Google Sans"/>
                      </a:endParaRPr>
                    </a:p>
                  </a:txBody>
                  <a:tcPr marL="63500" marR="63500" marT="63500" marB="63500"/>
                </a:tc>
                <a:tc>
                  <a:txBody>
                    <a:bodyPr/>
                    <a:lstStyle/>
                    <a:p>
                      <a:pPr>
                        <a:lnSpc>
                          <a:spcPct val="130000"/>
                        </a:lnSpc>
                        <a:spcBef>
                          <a:spcPts val="1000"/>
                        </a:spcBef>
                        <a:spcAft>
                          <a:spcPts val="0"/>
                        </a:spcAft>
                      </a:pPr>
                      <a:r>
                        <a:rPr lang="en-SG" sz="1200">
                          <a:solidFill>
                            <a:srgbClr val="0070C0"/>
                          </a:solidFill>
                          <a:effectLst/>
                        </a:rPr>
                        <a:t>Likelihood</a:t>
                      </a:r>
                      <a:endParaRPr lang="en-SG" sz="1200">
                        <a:solidFill>
                          <a:srgbClr val="0070C0"/>
                        </a:solidFill>
                        <a:effectLst/>
                        <a:latin typeface="Google Sans"/>
                        <a:ea typeface="Google Sans"/>
                        <a:cs typeface="Google Sans"/>
                      </a:endParaRPr>
                    </a:p>
                  </a:txBody>
                  <a:tcPr marL="63500" marR="63500" marT="63500" marB="63500"/>
                </a:tc>
                <a:tc>
                  <a:txBody>
                    <a:bodyPr/>
                    <a:lstStyle/>
                    <a:p>
                      <a:pPr>
                        <a:lnSpc>
                          <a:spcPct val="130000"/>
                        </a:lnSpc>
                        <a:spcBef>
                          <a:spcPts val="1000"/>
                        </a:spcBef>
                        <a:spcAft>
                          <a:spcPts val="0"/>
                        </a:spcAft>
                      </a:pPr>
                      <a:r>
                        <a:rPr lang="en-SG" sz="1200">
                          <a:solidFill>
                            <a:srgbClr val="0070C0"/>
                          </a:solidFill>
                          <a:effectLst/>
                        </a:rPr>
                        <a:t>Severity</a:t>
                      </a:r>
                      <a:endParaRPr lang="en-SG" sz="1200">
                        <a:solidFill>
                          <a:srgbClr val="0070C0"/>
                        </a:solidFill>
                        <a:effectLst/>
                        <a:latin typeface="Google Sans"/>
                        <a:ea typeface="Google Sans"/>
                        <a:cs typeface="Google Sans"/>
                      </a:endParaRPr>
                    </a:p>
                  </a:txBody>
                  <a:tcPr marL="63500" marR="63500" marT="63500" marB="63500"/>
                </a:tc>
                <a:tc>
                  <a:txBody>
                    <a:bodyPr/>
                    <a:lstStyle/>
                    <a:p>
                      <a:pPr>
                        <a:lnSpc>
                          <a:spcPct val="130000"/>
                        </a:lnSpc>
                        <a:spcBef>
                          <a:spcPts val="1000"/>
                        </a:spcBef>
                        <a:spcAft>
                          <a:spcPts val="0"/>
                        </a:spcAft>
                      </a:pPr>
                      <a:r>
                        <a:rPr lang="en-SG" sz="1200">
                          <a:solidFill>
                            <a:srgbClr val="0070C0"/>
                          </a:solidFill>
                          <a:effectLst/>
                        </a:rPr>
                        <a:t>Risk</a:t>
                      </a:r>
                      <a:endParaRPr lang="en-SG" sz="1200">
                        <a:solidFill>
                          <a:srgbClr val="0070C0"/>
                        </a:solidFill>
                        <a:effectLst/>
                        <a:latin typeface="Google Sans"/>
                        <a:ea typeface="Google Sans"/>
                        <a:cs typeface="Google Sans"/>
                      </a:endParaRPr>
                    </a:p>
                  </a:txBody>
                  <a:tcPr marL="63500" marR="63500" marT="63500" marB="63500"/>
                </a:tc>
              </a:tr>
              <a:tr h="566060">
                <a:tc>
                  <a:txBody>
                    <a:bodyPr/>
                    <a:lstStyle/>
                    <a:p>
                      <a:pPr>
                        <a:lnSpc>
                          <a:spcPct val="130000"/>
                        </a:lnSpc>
                        <a:spcBef>
                          <a:spcPts val="1000"/>
                        </a:spcBef>
                        <a:spcAft>
                          <a:spcPts val="0"/>
                        </a:spcAft>
                      </a:pPr>
                      <a:r>
                        <a:rPr lang="en-SG" sz="1200" dirty="0">
                          <a:solidFill>
                            <a:srgbClr val="0070C0"/>
                          </a:solidFill>
                          <a:effectLst/>
                        </a:rPr>
                        <a:t>Hacker</a:t>
                      </a:r>
                      <a:endParaRPr lang="en-SG" sz="1200" dirty="0">
                        <a:solidFill>
                          <a:srgbClr val="0070C0"/>
                        </a:solidFill>
                        <a:effectLst/>
                        <a:latin typeface="Google Sans"/>
                        <a:ea typeface="Google Sans"/>
                        <a:cs typeface="Google Sans"/>
                      </a:endParaRPr>
                    </a:p>
                  </a:txBody>
                  <a:tcPr marL="63500" marR="63500" marT="63500" marB="63500"/>
                </a:tc>
                <a:tc>
                  <a:txBody>
                    <a:bodyPr/>
                    <a:lstStyle/>
                    <a:p>
                      <a:pPr>
                        <a:lnSpc>
                          <a:spcPct val="130000"/>
                        </a:lnSpc>
                        <a:spcBef>
                          <a:spcPts val="1000"/>
                        </a:spcBef>
                        <a:spcAft>
                          <a:spcPts val="0"/>
                        </a:spcAft>
                      </a:pPr>
                      <a:r>
                        <a:rPr lang="en-SG" sz="1200" dirty="0">
                          <a:solidFill>
                            <a:srgbClr val="0070C0"/>
                          </a:solidFill>
                          <a:effectLst/>
                        </a:rPr>
                        <a:t>Obtain sensitive information via exfiltration</a:t>
                      </a:r>
                      <a:endParaRPr lang="en-SG" sz="1200" dirty="0">
                        <a:solidFill>
                          <a:srgbClr val="0070C0"/>
                        </a:solidFill>
                        <a:effectLst/>
                        <a:latin typeface="Google Sans"/>
                        <a:ea typeface="Google Sans"/>
                        <a:cs typeface="Google Sans"/>
                      </a:endParaRPr>
                    </a:p>
                  </a:txBody>
                  <a:tcPr marL="63500" marR="63500" marT="63500" marB="63500"/>
                </a:tc>
                <a:tc>
                  <a:txBody>
                    <a:bodyPr/>
                    <a:lstStyle/>
                    <a:p>
                      <a:pPr>
                        <a:lnSpc>
                          <a:spcPct val="130000"/>
                        </a:lnSpc>
                        <a:spcBef>
                          <a:spcPts val="1000"/>
                        </a:spcBef>
                        <a:spcAft>
                          <a:spcPts val="0"/>
                        </a:spcAft>
                      </a:pPr>
                      <a:r>
                        <a:rPr lang="en-SG" sz="1200" dirty="0">
                          <a:solidFill>
                            <a:srgbClr val="0070C0"/>
                          </a:solidFill>
                          <a:effectLst/>
                        </a:rPr>
                        <a:t>3</a:t>
                      </a:r>
                      <a:endParaRPr lang="en-SG" sz="1200" dirty="0">
                        <a:solidFill>
                          <a:srgbClr val="0070C0"/>
                        </a:solidFill>
                        <a:effectLst/>
                        <a:latin typeface="Google Sans"/>
                        <a:ea typeface="Google Sans"/>
                        <a:cs typeface="Google Sans"/>
                      </a:endParaRPr>
                    </a:p>
                  </a:txBody>
                  <a:tcPr marL="63500" marR="63500" marT="63500" marB="63500"/>
                </a:tc>
                <a:tc>
                  <a:txBody>
                    <a:bodyPr/>
                    <a:lstStyle/>
                    <a:p>
                      <a:pPr>
                        <a:lnSpc>
                          <a:spcPct val="130000"/>
                        </a:lnSpc>
                        <a:spcBef>
                          <a:spcPts val="1000"/>
                        </a:spcBef>
                        <a:spcAft>
                          <a:spcPts val="0"/>
                        </a:spcAft>
                      </a:pPr>
                      <a:r>
                        <a:rPr lang="en-SG" sz="1200">
                          <a:solidFill>
                            <a:srgbClr val="0070C0"/>
                          </a:solidFill>
                          <a:effectLst/>
                        </a:rPr>
                        <a:t>3</a:t>
                      </a:r>
                      <a:endParaRPr lang="en-SG" sz="1200">
                        <a:solidFill>
                          <a:srgbClr val="0070C0"/>
                        </a:solidFill>
                        <a:effectLst/>
                        <a:latin typeface="Google Sans"/>
                        <a:ea typeface="Google Sans"/>
                        <a:cs typeface="Google Sans"/>
                      </a:endParaRPr>
                    </a:p>
                  </a:txBody>
                  <a:tcPr marL="63500" marR="63500" marT="63500" marB="63500"/>
                </a:tc>
                <a:tc>
                  <a:txBody>
                    <a:bodyPr/>
                    <a:lstStyle/>
                    <a:p>
                      <a:pPr>
                        <a:lnSpc>
                          <a:spcPct val="130000"/>
                        </a:lnSpc>
                        <a:spcBef>
                          <a:spcPts val="1000"/>
                        </a:spcBef>
                        <a:spcAft>
                          <a:spcPts val="0"/>
                        </a:spcAft>
                      </a:pPr>
                      <a:r>
                        <a:rPr lang="en-SG" sz="1200">
                          <a:solidFill>
                            <a:srgbClr val="0070C0"/>
                          </a:solidFill>
                          <a:effectLst/>
                        </a:rPr>
                        <a:t>9</a:t>
                      </a:r>
                      <a:endParaRPr lang="en-SG" sz="1200">
                        <a:solidFill>
                          <a:srgbClr val="0070C0"/>
                        </a:solidFill>
                        <a:effectLst/>
                        <a:latin typeface="Google Sans"/>
                        <a:ea typeface="Google Sans"/>
                        <a:cs typeface="Google Sans"/>
                      </a:endParaRPr>
                    </a:p>
                  </a:txBody>
                  <a:tcPr marL="63500" marR="63500" marT="63500" marB="63500"/>
                </a:tc>
              </a:tr>
              <a:tr h="339372">
                <a:tc>
                  <a:txBody>
                    <a:bodyPr/>
                    <a:lstStyle/>
                    <a:p>
                      <a:pPr>
                        <a:lnSpc>
                          <a:spcPct val="130000"/>
                        </a:lnSpc>
                        <a:spcBef>
                          <a:spcPts val="1000"/>
                        </a:spcBef>
                        <a:spcAft>
                          <a:spcPts val="0"/>
                        </a:spcAft>
                      </a:pPr>
                      <a:r>
                        <a:rPr lang="en-SG" sz="1200">
                          <a:solidFill>
                            <a:srgbClr val="0070C0"/>
                          </a:solidFill>
                          <a:effectLst/>
                        </a:rPr>
                        <a:t>Employee</a:t>
                      </a:r>
                      <a:endParaRPr lang="en-SG" sz="1200">
                        <a:solidFill>
                          <a:srgbClr val="0070C0"/>
                        </a:solidFill>
                        <a:effectLst/>
                        <a:latin typeface="Google Sans"/>
                        <a:ea typeface="Google Sans"/>
                        <a:cs typeface="Google Sans"/>
                      </a:endParaRPr>
                    </a:p>
                  </a:txBody>
                  <a:tcPr marL="63500" marR="63500" marT="63500" marB="63500"/>
                </a:tc>
                <a:tc>
                  <a:txBody>
                    <a:bodyPr/>
                    <a:lstStyle/>
                    <a:p>
                      <a:pPr>
                        <a:lnSpc>
                          <a:spcPct val="130000"/>
                        </a:lnSpc>
                        <a:spcBef>
                          <a:spcPts val="1000"/>
                        </a:spcBef>
                        <a:spcAft>
                          <a:spcPts val="0"/>
                        </a:spcAft>
                      </a:pPr>
                      <a:r>
                        <a:rPr lang="en-SG" sz="1200">
                          <a:solidFill>
                            <a:srgbClr val="0070C0"/>
                          </a:solidFill>
                          <a:effectLst/>
                        </a:rPr>
                        <a:t>Disrupt mission-critical operations</a:t>
                      </a:r>
                      <a:endParaRPr lang="en-SG" sz="1200">
                        <a:solidFill>
                          <a:srgbClr val="0070C0"/>
                        </a:solidFill>
                        <a:effectLst/>
                        <a:latin typeface="Google Sans"/>
                        <a:ea typeface="Google Sans"/>
                        <a:cs typeface="Google Sans"/>
                      </a:endParaRPr>
                    </a:p>
                  </a:txBody>
                  <a:tcPr marL="63500" marR="63500" marT="63500" marB="63500"/>
                </a:tc>
                <a:tc>
                  <a:txBody>
                    <a:bodyPr/>
                    <a:lstStyle/>
                    <a:p>
                      <a:pPr>
                        <a:lnSpc>
                          <a:spcPct val="130000"/>
                        </a:lnSpc>
                        <a:spcBef>
                          <a:spcPts val="1000"/>
                        </a:spcBef>
                        <a:spcAft>
                          <a:spcPts val="0"/>
                        </a:spcAft>
                      </a:pPr>
                      <a:r>
                        <a:rPr lang="en-SG" sz="1200" dirty="0">
                          <a:solidFill>
                            <a:srgbClr val="0070C0"/>
                          </a:solidFill>
                          <a:effectLst/>
                        </a:rPr>
                        <a:t>2</a:t>
                      </a:r>
                      <a:endParaRPr lang="en-SG" sz="1200" dirty="0">
                        <a:solidFill>
                          <a:srgbClr val="0070C0"/>
                        </a:solidFill>
                        <a:effectLst/>
                        <a:latin typeface="Google Sans"/>
                        <a:ea typeface="Google Sans"/>
                        <a:cs typeface="Google Sans"/>
                      </a:endParaRPr>
                    </a:p>
                  </a:txBody>
                  <a:tcPr marL="63500" marR="63500" marT="63500" marB="63500"/>
                </a:tc>
                <a:tc>
                  <a:txBody>
                    <a:bodyPr/>
                    <a:lstStyle/>
                    <a:p>
                      <a:pPr>
                        <a:lnSpc>
                          <a:spcPct val="130000"/>
                        </a:lnSpc>
                        <a:spcBef>
                          <a:spcPts val="1000"/>
                        </a:spcBef>
                        <a:spcAft>
                          <a:spcPts val="0"/>
                        </a:spcAft>
                      </a:pPr>
                      <a:r>
                        <a:rPr lang="en-SG" sz="1200" dirty="0">
                          <a:solidFill>
                            <a:srgbClr val="0070C0"/>
                          </a:solidFill>
                          <a:effectLst/>
                        </a:rPr>
                        <a:t>3</a:t>
                      </a:r>
                      <a:endParaRPr lang="en-SG" sz="1200" dirty="0">
                        <a:solidFill>
                          <a:srgbClr val="0070C0"/>
                        </a:solidFill>
                        <a:effectLst/>
                        <a:latin typeface="Google Sans"/>
                        <a:ea typeface="Google Sans"/>
                        <a:cs typeface="Google Sans"/>
                      </a:endParaRPr>
                    </a:p>
                  </a:txBody>
                  <a:tcPr marL="63500" marR="63500" marT="63500" marB="63500"/>
                </a:tc>
                <a:tc>
                  <a:txBody>
                    <a:bodyPr/>
                    <a:lstStyle/>
                    <a:p>
                      <a:pPr>
                        <a:lnSpc>
                          <a:spcPct val="130000"/>
                        </a:lnSpc>
                        <a:spcBef>
                          <a:spcPts val="1000"/>
                        </a:spcBef>
                        <a:spcAft>
                          <a:spcPts val="0"/>
                        </a:spcAft>
                      </a:pPr>
                      <a:r>
                        <a:rPr lang="en-SG" sz="1200">
                          <a:solidFill>
                            <a:srgbClr val="0070C0"/>
                          </a:solidFill>
                          <a:effectLst/>
                        </a:rPr>
                        <a:t>6</a:t>
                      </a:r>
                      <a:endParaRPr lang="en-SG" sz="1200">
                        <a:solidFill>
                          <a:srgbClr val="0070C0"/>
                        </a:solidFill>
                        <a:effectLst/>
                        <a:latin typeface="Google Sans"/>
                        <a:ea typeface="Google Sans"/>
                        <a:cs typeface="Google Sans"/>
                      </a:endParaRPr>
                    </a:p>
                  </a:txBody>
                  <a:tcPr marL="63500" marR="63500" marT="63500" marB="63500"/>
                </a:tc>
              </a:tr>
              <a:tr h="339372">
                <a:tc>
                  <a:txBody>
                    <a:bodyPr/>
                    <a:lstStyle/>
                    <a:p>
                      <a:pPr>
                        <a:lnSpc>
                          <a:spcPct val="130000"/>
                        </a:lnSpc>
                        <a:spcBef>
                          <a:spcPts val="1000"/>
                        </a:spcBef>
                        <a:spcAft>
                          <a:spcPts val="0"/>
                        </a:spcAft>
                      </a:pPr>
                      <a:r>
                        <a:rPr lang="en-SG" sz="1200">
                          <a:solidFill>
                            <a:srgbClr val="0070C0"/>
                          </a:solidFill>
                          <a:effectLst/>
                        </a:rPr>
                        <a:t>Customer</a:t>
                      </a:r>
                      <a:endParaRPr lang="en-SG" sz="1200">
                        <a:solidFill>
                          <a:srgbClr val="0070C0"/>
                        </a:solidFill>
                        <a:effectLst/>
                        <a:latin typeface="Google Sans"/>
                        <a:ea typeface="Google Sans"/>
                        <a:cs typeface="Google Sans"/>
                      </a:endParaRPr>
                    </a:p>
                  </a:txBody>
                  <a:tcPr marL="63500" marR="63500" marT="63500" marB="63500"/>
                </a:tc>
                <a:tc>
                  <a:txBody>
                    <a:bodyPr/>
                    <a:lstStyle/>
                    <a:p>
                      <a:pPr>
                        <a:lnSpc>
                          <a:spcPct val="130000"/>
                        </a:lnSpc>
                        <a:spcBef>
                          <a:spcPts val="1000"/>
                        </a:spcBef>
                        <a:spcAft>
                          <a:spcPts val="0"/>
                        </a:spcAft>
                      </a:pPr>
                      <a:r>
                        <a:rPr lang="en-SG" sz="1200" dirty="0">
                          <a:solidFill>
                            <a:srgbClr val="0070C0"/>
                          </a:solidFill>
                          <a:effectLst/>
                        </a:rPr>
                        <a:t>Alter/Delete critical information</a:t>
                      </a:r>
                      <a:endParaRPr lang="en-SG" sz="1200" dirty="0">
                        <a:solidFill>
                          <a:srgbClr val="0070C0"/>
                        </a:solidFill>
                        <a:effectLst/>
                        <a:latin typeface="Google Sans"/>
                        <a:ea typeface="Google Sans"/>
                        <a:cs typeface="Google Sans"/>
                      </a:endParaRPr>
                    </a:p>
                  </a:txBody>
                  <a:tcPr marL="63500" marR="63500" marT="63500" marB="63500"/>
                </a:tc>
                <a:tc>
                  <a:txBody>
                    <a:bodyPr/>
                    <a:lstStyle/>
                    <a:p>
                      <a:pPr>
                        <a:lnSpc>
                          <a:spcPct val="130000"/>
                        </a:lnSpc>
                        <a:spcBef>
                          <a:spcPts val="1000"/>
                        </a:spcBef>
                        <a:spcAft>
                          <a:spcPts val="0"/>
                        </a:spcAft>
                      </a:pPr>
                      <a:r>
                        <a:rPr lang="en-SG" sz="1200" dirty="0">
                          <a:solidFill>
                            <a:srgbClr val="0070C0"/>
                          </a:solidFill>
                          <a:effectLst/>
                        </a:rPr>
                        <a:t>1</a:t>
                      </a:r>
                      <a:endParaRPr lang="en-SG" sz="1200" dirty="0">
                        <a:solidFill>
                          <a:srgbClr val="0070C0"/>
                        </a:solidFill>
                        <a:effectLst/>
                        <a:latin typeface="Google Sans"/>
                        <a:ea typeface="Google Sans"/>
                        <a:cs typeface="Google Sans"/>
                      </a:endParaRPr>
                    </a:p>
                  </a:txBody>
                  <a:tcPr marL="63500" marR="63500" marT="63500" marB="63500"/>
                </a:tc>
                <a:tc>
                  <a:txBody>
                    <a:bodyPr/>
                    <a:lstStyle/>
                    <a:p>
                      <a:pPr>
                        <a:lnSpc>
                          <a:spcPct val="130000"/>
                        </a:lnSpc>
                        <a:spcBef>
                          <a:spcPts val="1000"/>
                        </a:spcBef>
                        <a:spcAft>
                          <a:spcPts val="0"/>
                        </a:spcAft>
                      </a:pPr>
                      <a:r>
                        <a:rPr lang="en-SG" sz="1200" dirty="0">
                          <a:solidFill>
                            <a:srgbClr val="0070C0"/>
                          </a:solidFill>
                          <a:effectLst/>
                        </a:rPr>
                        <a:t>3</a:t>
                      </a:r>
                      <a:endParaRPr lang="en-SG" sz="1200" dirty="0">
                        <a:solidFill>
                          <a:srgbClr val="0070C0"/>
                        </a:solidFill>
                        <a:effectLst/>
                        <a:latin typeface="Google Sans"/>
                        <a:ea typeface="Google Sans"/>
                        <a:cs typeface="Google Sans"/>
                      </a:endParaRPr>
                    </a:p>
                  </a:txBody>
                  <a:tcPr marL="63500" marR="63500" marT="63500" marB="63500"/>
                </a:tc>
                <a:tc>
                  <a:txBody>
                    <a:bodyPr/>
                    <a:lstStyle/>
                    <a:p>
                      <a:pPr>
                        <a:lnSpc>
                          <a:spcPct val="130000"/>
                        </a:lnSpc>
                        <a:spcBef>
                          <a:spcPts val="1000"/>
                        </a:spcBef>
                        <a:spcAft>
                          <a:spcPts val="0"/>
                        </a:spcAft>
                      </a:pPr>
                      <a:r>
                        <a:rPr lang="en-SG" sz="1200" dirty="0">
                          <a:solidFill>
                            <a:srgbClr val="0070C0"/>
                          </a:solidFill>
                          <a:effectLst/>
                        </a:rPr>
                        <a:t>3</a:t>
                      </a:r>
                      <a:endParaRPr lang="en-SG" sz="1200" dirty="0">
                        <a:solidFill>
                          <a:srgbClr val="0070C0"/>
                        </a:solidFill>
                        <a:effectLst/>
                        <a:latin typeface="Google Sans"/>
                        <a:ea typeface="Google Sans"/>
                        <a:cs typeface="Google Sans"/>
                      </a:endParaRPr>
                    </a:p>
                  </a:txBody>
                  <a:tcPr marL="63500" marR="63500" marT="63500" marB="63500"/>
                </a:tc>
              </a:tr>
            </a:tbl>
          </a:graphicData>
        </a:graphic>
      </p:graphicFrame>
      <p:sp>
        <p:nvSpPr>
          <p:cNvPr id="8" name="TextBox 7"/>
          <p:cNvSpPr txBox="1"/>
          <p:nvPr/>
        </p:nvSpPr>
        <p:spPr>
          <a:xfrm>
            <a:off x="395537" y="3243748"/>
            <a:ext cx="8064895" cy="3785652"/>
          </a:xfrm>
          <a:prstGeom prst="rect">
            <a:avLst/>
          </a:prstGeom>
          <a:noFill/>
        </p:spPr>
        <p:txBody>
          <a:bodyPr wrap="square" rtlCol="0">
            <a:spAutoFit/>
          </a:bodyPr>
          <a:lstStyle/>
          <a:p>
            <a:r>
              <a:rPr lang="en-SG" sz="1600" b="1" dirty="0"/>
              <a:t>Approach</a:t>
            </a:r>
          </a:p>
          <a:p>
            <a:r>
              <a:rPr lang="en-SG" sz="1600" dirty="0">
                <a:solidFill>
                  <a:srgbClr val="0070C0"/>
                </a:solidFill>
              </a:rPr>
              <a:t>Risks that were measured considered the data storage and management procedures of the business. Potential threat sources and events were determined using the likelihood of a security incident given the open access permissions of the information system. The severity of potential incidents were weighed against the impact on day-to-day operational needs.</a:t>
            </a:r>
          </a:p>
          <a:p>
            <a:endParaRPr lang="en-SG" sz="1600" b="1" dirty="0" smtClean="0"/>
          </a:p>
          <a:p>
            <a:r>
              <a:rPr lang="en-SG" sz="1600" b="1" dirty="0" smtClean="0"/>
              <a:t>Remediation </a:t>
            </a:r>
            <a:r>
              <a:rPr lang="en-SG" sz="1600" b="1" dirty="0"/>
              <a:t>Strategy</a:t>
            </a:r>
          </a:p>
          <a:p>
            <a:r>
              <a:rPr lang="en-SG" sz="1600" dirty="0">
                <a:solidFill>
                  <a:srgbClr val="0070C0"/>
                </a:solidFill>
              </a:rPr>
              <a:t>Implementation of authentication, authorization, and auditing mechanisms to ensure that only authorized users access the database server. This includes using strong passwords, role-based access controls, and multi-factor authentication to limit user privileges. Encryption of data in motion using TLS instead of SSL. IP allow-listing to corporate offices to prevent random users from the internet from connecting to the database.</a:t>
            </a:r>
          </a:p>
          <a:p>
            <a:endParaRPr lang="en-SG" sz="1600" dirty="0"/>
          </a:p>
        </p:txBody>
      </p:sp>
    </p:spTree>
    <p:extLst>
      <p:ext uri="{BB962C8B-B14F-4D97-AF65-F5344CB8AC3E}">
        <p14:creationId xmlns:p14="http://schemas.microsoft.com/office/powerpoint/2010/main" val="86364057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_rels/theme3.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783</TotalTime>
  <Words>1508</Words>
  <Application>Microsoft Office PowerPoint</Application>
  <PresentationFormat>On-screen Show (4:3)</PresentationFormat>
  <Paragraphs>141</Paragraphs>
  <Slides>8</Slides>
  <Notes>0</Notes>
  <HiddenSlides>0</HiddenSlides>
  <MMClips>0</MMClips>
  <ScaleCrop>false</ScaleCrop>
  <HeadingPairs>
    <vt:vector size="4" baseType="variant">
      <vt:variant>
        <vt:lpstr>Theme</vt:lpstr>
      </vt:variant>
      <vt:variant>
        <vt:i4>3</vt:i4>
      </vt:variant>
      <vt:variant>
        <vt:lpstr>Slide Titles</vt:lpstr>
      </vt:variant>
      <vt:variant>
        <vt:i4>8</vt:i4>
      </vt:variant>
    </vt:vector>
  </HeadingPairs>
  <TitlesOfParts>
    <vt:vector size="11" baseType="lpstr">
      <vt:lpstr>Executive</vt:lpstr>
      <vt:lpstr>Equity</vt:lpstr>
      <vt:lpstr>Flow</vt:lpstr>
      <vt:lpstr>Scenario</vt:lpstr>
      <vt:lpstr>PowerPoint Presentation</vt:lpstr>
      <vt:lpstr>PowerPoint Presentation</vt:lpstr>
      <vt:lpstr>PowerPoint Presentation</vt:lpstr>
      <vt:lpstr>PowerPoint Presentation</vt:lpstr>
      <vt:lpstr>PowerPoint Presentation</vt:lpstr>
      <vt:lpstr>Vulnerability Assessment Report 1st January 20XX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dc:title>
  <dc:creator>ZhiQian Chua</dc:creator>
  <cp:lastModifiedBy>ZhiQian Chua</cp:lastModifiedBy>
  <cp:revision>35</cp:revision>
  <dcterms:created xsi:type="dcterms:W3CDTF">2026-04-11T03:58:54Z</dcterms:created>
  <dcterms:modified xsi:type="dcterms:W3CDTF">2026-05-16T16:12:57Z</dcterms:modified>
</cp:coreProperties>
</file>